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7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8/13/2026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8/13/2026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2733" y="2585403"/>
            <a:ext cx="8791575" cy="1699214"/>
          </a:xfrm>
        </p:spPr>
        <p:txBody>
          <a:bodyPr>
            <a:normAutofit/>
          </a:bodyPr>
          <a:lstStyle/>
          <a:p>
            <a:r>
              <a:rPr lang="en-US" sz="7000" dirty="0" smtClean="0">
                <a:solidFill>
                  <a:srgbClr val="FFFF00"/>
                </a:solidFill>
              </a:rPr>
              <a:t>       </a:t>
            </a:r>
            <a:r>
              <a:rPr lang="en-US" sz="8000" dirty="0" smtClean="0">
                <a:solidFill>
                  <a:schemeClr val="accent4">
                    <a:lumMod val="75000"/>
                  </a:schemeClr>
                </a:solidFill>
              </a:rPr>
              <a:t>HTML </a:t>
            </a:r>
            <a:r>
              <a:rPr lang="en-US" sz="8000" cap="none" dirty="0" smtClean="0">
                <a:solidFill>
                  <a:schemeClr val="accent4">
                    <a:lumMod val="75000"/>
                  </a:schemeClr>
                </a:solidFill>
              </a:rPr>
              <a:t>with</a:t>
            </a:r>
            <a:r>
              <a:rPr lang="en-US" sz="8000" dirty="0" smtClean="0">
                <a:solidFill>
                  <a:schemeClr val="accent4">
                    <a:lumMod val="75000"/>
                  </a:schemeClr>
                </a:solidFill>
              </a:rPr>
              <a:t> CSS</a:t>
            </a:r>
            <a:endParaRPr lang="en-IN" sz="8000" dirty="0">
              <a:solidFill>
                <a:schemeClr val="accent4">
                  <a:lumMod val="75000"/>
                </a:schemeClr>
              </a:solidFill>
            </a:endParaRPr>
          </a:p>
        </p:txBody>
      </p:sp>
      <p:sp>
        <p:nvSpPr>
          <p:cNvPr id="3" name="Subtitle 2"/>
          <p:cNvSpPr>
            <a:spLocks noGrp="1"/>
          </p:cNvSpPr>
          <p:nvPr>
            <p:ph type="subTitle" idx="1"/>
          </p:nvPr>
        </p:nvSpPr>
        <p:spPr>
          <a:xfrm>
            <a:off x="2621008" y="310197"/>
            <a:ext cx="2760889" cy="1257345"/>
          </a:xfrm>
        </p:spPr>
        <p:txBody>
          <a:bodyPr>
            <a:noAutofit/>
          </a:bodyPr>
          <a:lstStyle/>
          <a:p>
            <a:r>
              <a:rPr lang="en-US" sz="5000" dirty="0" smtClean="0">
                <a:solidFill>
                  <a:schemeClr val="accent4">
                    <a:lumMod val="75000"/>
                  </a:schemeClr>
                </a:solidFill>
              </a:rPr>
              <a:t>Unit 4</a:t>
            </a:r>
            <a:endParaRPr lang="en-IN" sz="5000" dirty="0">
              <a:solidFill>
                <a:schemeClr val="accent4">
                  <a:lumMod val="75000"/>
                </a:schemeClr>
              </a:solidFill>
            </a:endParaRPr>
          </a:p>
        </p:txBody>
      </p:sp>
    </p:spTree>
    <p:extLst>
      <p:ext uri="{BB962C8B-B14F-4D97-AF65-F5344CB8AC3E}">
        <p14:creationId xmlns:p14="http://schemas.microsoft.com/office/powerpoint/2010/main" val="75729275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xit" presetSubtype="0" fill="hold" grpId="0" nodeType="clickEffect">
                                  <p:stCondLst>
                                    <p:cond delay="0"/>
                                  </p:stCondLst>
                                  <p:childTnLst>
                                    <p:animEffect transition="out" filter="wipe(down)">
                                      <p:cBhvr>
                                        <p:cTn id="6" dur="180" accel="50000">
                                          <p:stCondLst>
                                            <p:cond delay="1820"/>
                                          </p:stCondLst>
                                        </p:cTn>
                                        <p:tgtEl>
                                          <p:spTgt spid="3">
                                            <p:txEl>
                                              <p:pRg st="0" end="0"/>
                                            </p:txEl>
                                          </p:spTgt>
                                        </p:tgtEl>
                                      </p:cBhvr>
                                    </p:animEffect>
                                    <p:anim calcmode="lin" valueType="num">
                                      <p:cBhvr>
                                        <p:cTn id="7" dur="1822" tmFilter="0,0; 0.14,0.31; 0.43,0.73; 0.71,0.91; 1.0,1.0">
                                          <p:stCondLst>
                                            <p:cond delay="0"/>
                                          </p:stCondLst>
                                        </p:cTn>
                                        <p:tgtEl>
                                          <p:spTgt spid="3">
                                            <p:txEl>
                                              <p:pRg st="0" end="0"/>
                                            </p:txEl>
                                          </p:spTgt>
                                        </p:tgtEl>
                                        <p:attrNameLst>
                                          <p:attrName>ppt_x</p:attrName>
                                        </p:attrNameLst>
                                      </p:cBhvr>
                                      <p:tavLst>
                                        <p:tav tm="0">
                                          <p:val>
                                            <p:strVal val="ppt_x"/>
                                          </p:val>
                                        </p:tav>
                                        <p:tav tm="100000">
                                          <p:val>
                                            <p:strVal val="#ppt_x+0.25"/>
                                          </p:val>
                                        </p:tav>
                                      </p:tavLst>
                                    </p:anim>
                                    <p:anim calcmode="lin" valueType="num">
                                      <p:cBhvr>
                                        <p:cTn id="8" dur="178">
                                          <p:stCondLst>
                                            <p:cond delay="1822"/>
                                          </p:stCondLst>
                                        </p:cTn>
                                        <p:tgtEl>
                                          <p:spTgt spid="3">
                                            <p:txEl>
                                              <p:pRg st="0" end="0"/>
                                            </p:txEl>
                                          </p:spTgt>
                                        </p:tgtEl>
                                        <p:attrNameLst>
                                          <p:attrName>ppt_x</p:attrName>
                                        </p:attrNameLst>
                                      </p:cBhvr>
                                      <p:tavLst>
                                        <p:tav tm="0">
                                          <p:val>
                                            <p:strVal val="ppt_x"/>
                                          </p:val>
                                        </p:tav>
                                        <p:tav tm="100000">
                                          <p:val>
                                            <p:strVal val="ppt_x"/>
                                          </p:val>
                                        </p:tav>
                                      </p:tavLst>
                                    </p:anim>
                                    <p:anim calcmode="lin" valueType="num">
                                      <p:cBhvr>
                                        <p:cTn id="9" dur="664" tmFilter="0.0,0.0;0.25,0.07;0.50,0.2;0.75,0.467;1.0,1.0">
                                          <p:stCondLst>
                                            <p:cond delay="0"/>
                                          </p:stCondLst>
                                        </p:cTn>
                                        <p:tgtEl>
                                          <p:spTgt spid="3">
                                            <p:txEl>
                                              <p:pRg st="0" end="0"/>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 dur="180" accel="50000">
                                          <p:stCondLst>
                                            <p:cond delay="1820"/>
                                          </p:stCondLst>
                                        </p:cTn>
                                        <p:tgtEl>
                                          <p:spTgt spid="3">
                                            <p:txEl>
                                              <p:pRg st="0" end="0"/>
                                            </p:txEl>
                                          </p:spTgt>
                                        </p:tgtEl>
                                        <p:attrNameLst>
                                          <p:attrName>ppt_y</p:attrName>
                                        </p:attrNameLst>
                                      </p:cBhvr>
                                      <p:tavLst>
                                        <p:tav tm="0">
                                          <p:val>
                                            <p:strVal val="ppt_y"/>
                                          </p:val>
                                        </p:tav>
                                        <p:tav tm="100000">
                                          <p:val>
                                            <p:strVal val="ppt_y+ppt_h"/>
                                          </p:val>
                                        </p:tav>
                                      </p:tavLst>
                                    </p:anim>
                                    <p:animScale>
                                      <p:cBhvr>
                                        <p:cTn id="14" dur="26">
                                          <p:stCondLst>
                                            <p:cond delay="620"/>
                                          </p:stCondLst>
                                        </p:cTn>
                                        <p:tgtEl>
                                          <p:spTgt spid="3">
                                            <p:txEl>
                                              <p:pRg st="0" end="0"/>
                                            </p:txEl>
                                          </p:spTgt>
                                        </p:tgtEl>
                                      </p:cBhvr>
                                      <p:to x="100000" y="60000"/>
                                    </p:animScale>
                                    <p:animScale>
                                      <p:cBhvr>
                                        <p:cTn id="15" dur="166" decel="50000">
                                          <p:stCondLst>
                                            <p:cond delay="646"/>
                                          </p:stCondLst>
                                        </p:cTn>
                                        <p:tgtEl>
                                          <p:spTgt spid="3">
                                            <p:txEl>
                                              <p:pRg st="0" end="0"/>
                                            </p:txEl>
                                          </p:spTgt>
                                        </p:tgtEl>
                                      </p:cBhvr>
                                      <p:to x="100000" y="100000"/>
                                    </p:animScale>
                                    <p:animScale>
                                      <p:cBhvr>
                                        <p:cTn id="16" dur="26">
                                          <p:stCondLst>
                                            <p:cond delay="1312"/>
                                          </p:stCondLst>
                                        </p:cTn>
                                        <p:tgtEl>
                                          <p:spTgt spid="3">
                                            <p:txEl>
                                              <p:pRg st="0" end="0"/>
                                            </p:txEl>
                                          </p:spTgt>
                                        </p:tgtEl>
                                      </p:cBhvr>
                                      <p:to x="100000" y="80000"/>
                                    </p:animScale>
                                    <p:animScale>
                                      <p:cBhvr>
                                        <p:cTn id="17" dur="166" decel="50000">
                                          <p:stCondLst>
                                            <p:cond delay="1338"/>
                                          </p:stCondLst>
                                        </p:cTn>
                                        <p:tgtEl>
                                          <p:spTgt spid="3">
                                            <p:txEl>
                                              <p:pRg st="0" end="0"/>
                                            </p:txEl>
                                          </p:spTgt>
                                        </p:tgtEl>
                                      </p:cBhvr>
                                      <p:to x="100000" y="100000"/>
                                    </p:animScale>
                                    <p:animScale>
                                      <p:cBhvr>
                                        <p:cTn id="18" dur="26">
                                          <p:stCondLst>
                                            <p:cond delay="1642"/>
                                          </p:stCondLst>
                                        </p:cTn>
                                        <p:tgtEl>
                                          <p:spTgt spid="3">
                                            <p:txEl>
                                              <p:pRg st="0" end="0"/>
                                            </p:txEl>
                                          </p:spTgt>
                                        </p:tgtEl>
                                      </p:cBhvr>
                                      <p:to x="100000" y="90000"/>
                                    </p:animScale>
                                    <p:animScale>
                                      <p:cBhvr>
                                        <p:cTn id="19" dur="166" decel="50000">
                                          <p:stCondLst>
                                            <p:cond delay="1668"/>
                                          </p:stCondLst>
                                        </p:cTn>
                                        <p:tgtEl>
                                          <p:spTgt spid="3">
                                            <p:txEl>
                                              <p:pRg st="0" end="0"/>
                                            </p:txEl>
                                          </p:spTgt>
                                        </p:tgtEl>
                                      </p:cBhvr>
                                      <p:to x="100000" y="100000"/>
                                    </p:animScale>
                                    <p:animScale>
                                      <p:cBhvr>
                                        <p:cTn id="20" dur="26">
                                          <p:stCondLst>
                                            <p:cond delay="1808"/>
                                          </p:stCondLst>
                                        </p:cTn>
                                        <p:tgtEl>
                                          <p:spTgt spid="3">
                                            <p:txEl>
                                              <p:pRg st="0" end="0"/>
                                            </p:txEl>
                                          </p:spTgt>
                                        </p:tgtEl>
                                      </p:cBhvr>
                                      <p:to x="100000" y="95000"/>
                                    </p:animScale>
                                    <p:animScale>
                                      <p:cBhvr>
                                        <p:cTn id="21" dur="166" decel="50000">
                                          <p:stCondLst>
                                            <p:cond delay="1834"/>
                                          </p:stCondLst>
                                        </p:cTn>
                                        <p:tgtEl>
                                          <p:spTgt spid="3">
                                            <p:txEl>
                                              <p:pRg st="0" end="0"/>
                                            </p:txEl>
                                          </p:spTgt>
                                        </p:tgtEl>
                                      </p:cBhvr>
                                      <p:to x="100000" y="100000"/>
                                    </p:animScale>
                                    <p:set>
                                      <p:cBhvr>
                                        <p:cTn id="22" dur="1" fill="hold">
                                          <p:stCondLst>
                                            <p:cond delay="1999"/>
                                          </p:stCondLst>
                                        </p:cTn>
                                        <p:tgtEl>
                                          <p:spTgt spid="3">
                                            <p:txEl>
                                              <p:pRg st="0" end="0"/>
                                            </p:txEl>
                                          </p:spTgt>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6" presetClass="exit" presetSubtype="0" fill="hold" grpId="0" nodeType="clickEffect">
                                  <p:stCondLst>
                                    <p:cond delay="0"/>
                                  </p:stCondLst>
                                  <p:childTnLst>
                                    <p:animEffect transition="out" filter="wipe(down)">
                                      <p:cBhvr>
                                        <p:cTn id="26" dur="180" accel="50000">
                                          <p:stCondLst>
                                            <p:cond delay="1820"/>
                                          </p:stCondLst>
                                        </p:cTn>
                                        <p:tgtEl>
                                          <p:spTgt spid="2"/>
                                        </p:tgtEl>
                                      </p:cBhvr>
                                    </p:animEffect>
                                    <p:anim calcmode="lin" valueType="num">
                                      <p:cBhvr>
                                        <p:cTn id="27" dur="1822" tmFilter="0,0; 0.14,0.31; 0.43,0.73; 0.71,0.91; 1.0,1.0">
                                          <p:stCondLst>
                                            <p:cond delay="0"/>
                                          </p:stCondLst>
                                        </p:cTn>
                                        <p:tgtEl>
                                          <p:spTgt spid="2"/>
                                        </p:tgtEl>
                                        <p:attrNameLst>
                                          <p:attrName>ppt_x</p:attrName>
                                        </p:attrNameLst>
                                      </p:cBhvr>
                                      <p:tavLst>
                                        <p:tav tm="0">
                                          <p:val>
                                            <p:strVal val="ppt_x"/>
                                          </p:val>
                                        </p:tav>
                                        <p:tav tm="100000">
                                          <p:val>
                                            <p:strVal val="#ppt_x+0.25"/>
                                          </p:val>
                                        </p:tav>
                                      </p:tavLst>
                                    </p:anim>
                                    <p:anim calcmode="lin" valueType="num">
                                      <p:cBhvr>
                                        <p:cTn id="28" dur="178">
                                          <p:stCondLst>
                                            <p:cond delay="1822"/>
                                          </p:stCondLst>
                                        </p:cTn>
                                        <p:tgtEl>
                                          <p:spTgt spid="2"/>
                                        </p:tgtEl>
                                        <p:attrNameLst>
                                          <p:attrName>ppt_x</p:attrName>
                                        </p:attrNameLst>
                                      </p:cBhvr>
                                      <p:tavLst>
                                        <p:tav tm="0">
                                          <p:val>
                                            <p:strVal val="ppt_x"/>
                                          </p:val>
                                        </p:tav>
                                        <p:tav tm="100000">
                                          <p:val>
                                            <p:strVal val="ppt_x"/>
                                          </p:val>
                                        </p:tav>
                                      </p:tavLst>
                                    </p:anim>
                                    <p:anim calcmode="lin" valueType="num">
                                      <p:cBhvr>
                                        <p:cTn id="29" dur="664" tmFilter="0.0,0.0;0.25,0.07;0.50,0.2;0.75,0.467;1.0,1.0">
                                          <p:stCondLst>
                                            <p:cond delay="0"/>
                                          </p:stCondLst>
                                        </p:cTn>
                                        <p:tgtEl>
                                          <p:spTgt spid="2"/>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30" dur="664" tmFilter="0, 0; 0.125,0.2665; 0.25,0.4; 0.375,0.465; 0.5,0.5;  0.625,0.535; 0.75,0.6; 0.875,0.7335; 1,1">
                                          <p:stCondLst>
                                            <p:cond delay="664"/>
                                          </p:stCondLst>
                                        </p:cTn>
                                        <p:tgtEl>
                                          <p:spTgt spid="2"/>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1" dur="332" tmFilter="0, 0; 0.125,0.2665; 0.25,0.4; 0.375,0.465; 0.5,0.5;  0.625,0.535; 0.75,0.6; 0.875,0.7335; 1,1">
                                          <p:stCondLst>
                                            <p:cond delay="1324"/>
                                          </p:stCondLst>
                                        </p:cTn>
                                        <p:tgtEl>
                                          <p:spTgt spid="2"/>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2" dur="164" tmFilter="0, 0; 0.125,0.2665; 0.25,0.4; 0.375,0.465; 0.5,0.5;  0.625,0.535; 0.75,0.6; 0.875,0.7335; 1,1">
                                          <p:stCondLst>
                                            <p:cond delay="1656"/>
                                          </p:stCondLst>
                                        </p:cTn>
                                        <p:tgtEl>
                                          <p:spTgt spid="2"/>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3" dur="180" accel="50000">
                                          <p:stCondLst>
                                            <p:cond delay="1820"/>
                                          </p:stCondLst>
                                        </p:cTn>
                                        <p:tgtEl>
                                          <p:spTgt spid="2"/>
                                        </p:tgtEl>
                                        <p:attrNameLst>
                                          <p:attrName>ppt_y</p:attrName>
                                        </p:attrNameLst>
                                      </p:cBhvr>
                                      <p:tavLst>
                                        <p:tav tm="0">
                                          <p:val>
                                            <p:strVal val="ppt_y"/>
                                          </p:val>
                                        </p:tav>
                                        <p:tav tm="100000">
                                          <p:val>
                                            <p:strVal val="ppt_y+ppt_h"/>
                                          </p:val>
                                        </p:tav>
                                      </p:tavLst>
                                    </p:anim>
                                    <p:animScale>
                                      <p:cBhvr>
                                        <p:cTn id="34" dur="26">
                                          <p:stCondLst>
                                            <p:cond delay="620"/>
                                          </p:stCondLst>
                                        </p:cTn>
                                        <p:tgtEl>
                                          <p:spTgt spid="2"/>
                                        </p:tgtEl>
                                      </p:cBhvr>
                                      <p:to x="100000" y="60000"/>
                                    </p:animScale>
                                    <p:animScale>
                                      <p:cBhvr>
                                        <p:cTn id="35" dur="166" decel="50000">
                                          <p:stCondLst>
                                            <p:cond delay="646"/>
                                          </p:stCondLst>
                                        </p:cTn>
                                        <p:tgtEl>
                                          <p:spTgt spid="2"/>
                                        </p:tgtEl>
                                      </p:cBhvr>
                                      <p:to x="100000" y="100000"/>
                                    </p:animScale>
                                    <p:animScale>
                                      <p:cBhvr>
                                        <p:cTn id="36" dur="26">
                                          <p:stCondLst>
                                            <p:cond delay="1312"/>
                                          </p:stCondLst>
                                        </p:cTn>
                                        <p:tgtEl>
                                          <p:spTgt spid="2"/>
                                        </p:tgtEl>
                                      </p:cBhvr>
                                      <p:to x="100000" y="80000"/>
                                    </p:animScale>
                                    <p:animScale>
                                      <p:cBhvr>
                                        <p:cTn id="37" dur="166" decel="50000">
                                          <p:stCondLst>
                                            <p:cond delay="1338"/>
                                          </p:stCondLst>
                                        </p:cTn>
                                        <p:tgtEl>
                                          <p:spTgt spid="2"/>
                                        </p:tgtEl>
                                      </p:cBhvr>
                                      <p:to x="100000" y="100000"/>
                                    </p:animScale>
                                    <p:animScale>
                                      <p:cBhvr>
                                        <p:cTn id="38" dur="26">
                                          <p:stCondLst>
                                            <p:cond delay="1642"/>
                                          </p:stCondLst>
                                        </p:cTn>
                                        <p:tgtEl>
                                          <p:spTgt spid="2"/>
                                        </p:tgtEl>
                                      </p:cBhvr>
                                      <p:to x="100000" y="90000"/>
                                    </p:animScale>
                                    <p:animScale>
                                      <p:cBhvr>
                                        <p:cTn id="39" dur="166" decel="50000">
                                          <p:stCondLst>
                                            <p:cond delay="1668"/>
                                          </p:stCondLst>
                                        </p:cTn>
                                        <p:tgtEl>
                                          <p:spTgt spid="2"/>
                                        </p:tgtEl>
                                      </p:cBhvr>
                                      <p:to x="100000" y="100000"/>
                                    </p:animScale>
                                    <p:animScale>
                                      <p:cBhvr>
                                        <p:cTn id="40" dur="26">
                                          <p:stCondLst>
                                            <p:cond delay="1808"/>
                                          </p:stCondLst>
                                        </p:cTn>
                                        <p:tgtEl>
                                          <p:spTgt spid="2"/>
                                        </p:tgtEl>
                                      </p:cBhvr>
                                      <p:to x="100000" y="95000"/>
                                    </p:animScale>
                                    <p:animScale>
                                      <p:cBhvr>
                                        <p:cTn id="41" dur="166" decel="50000">
                                          <p:stCondLst>
                                            <p:cond delay="1834"/>
                                          </p:stCondLst>
                                        </p:cTn>
                                        <p:tgtEl>
                                          <p:spTgt spid="2"/>
                                        </p:tgtEl>
                                      </p:cBhvr>
                                      <p:to x="100000" y="100000"/>
                                    </p:animScale>
                                    <p:set>
                                      <p:cBhvr>
                                        <p:cTn id="42"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16950" y="444135"/>
            <a:ext cx="8791575" cy="1380719"/>
          </a:xfrm>
        </p:spPr>
        <p:txBody>
          <a:bodyPr>
            <a:normAutofit/>
          </a:bodyPr>
          <a:lstStyle/>
          <a:p>
            <a:r>
              <a:rPr lang="en-IN" sz="6000" b="1" dirty="0" smtClean="0">
                <a:solidFill>
                  <a:srgbClr val="FFFF00"/>
                </a:solidFill>
              </a:rPr>
              <a:t>            OBJECTIVES</a:t>
            </a:r>
            <a:endParaRPr lang="en-IN" sz="6000" dirty="0">
              <a:latin typeface="Calibri" panose="020F0502020204030204" pitchFamily="34" charset="0"/>
              <a:cs typeface="Calibri" panose="020F0502020204030204" pitchFamily="34" charset="0"/>
            </a:endParaRPr>
          </a:p>
        </p:txBody>
      </p:sp>
      <p:sp>
        <p:nvSpPr>
          <p:cNvPr id="4" name="TextBox 3"/>
          <p:cNvSpPr txBox="1"/>
          <p:nvPr/>
        </p:nvSpPr>
        <p:spPr>
          <a:xfrm>
            <a:off x="3526972" y="1920239"/>
            <a:ext cx="7563394" cy="3358548"/>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IN" sz="2400" b="1" dirty="0">
                <a:latin typeface="Calibri" panose="020F0502020204030204" pitchFamily="34" charset="0"/>
                <a:cs typeface="Calibri" panose="020F0502020204030204" pitchFamily="34" charset="0"/>
              </a:rPr>
              <a:t>Recap on </a:t>
            </a:r>
            <a:r>
              <a:rPr lang="en-IN" sz="2400" b="1" dirty="0" smtClean="0">
                <a:latin typeface="Calibri" panose="020F0502020204030204" pitchFamily="34" charset="0"/>
                <a:cs typeface="Calibri" panose="020F0502020204030204" pitchFamily="34" charset="0"/>
              </a:rPr>
              <a:t>HTML</a:t>
            </a:r>
          </a:p>
          <a:p>
            <a:pPr marL="457200" indent="-457200">
              <a:lnSpc>
                <a:spcPct val="150000"/>
              </a:lnSpc>
              <a:buFont typeface="Wingdings" panose="05000000000000000000" pitchFamily="2" charset="2"/>
              <a:buChar char="Ø"/>
            </a:pPr>
            <a:r>
              <a:rPr lang="en-IN" sz="2400" b="1" dirty="0" smtClean="0">
                <a:latin typeface="Calibri" panose="020F0502020204030204" pitchFamily="34" charset="0"/>
                <a:cs typeface="Calibri" panose="020F0502020204030204" pitchFamily="34" charset="0"/>
              </a:rPr>
              <a:t>Introduction </a:t>
            </a:r>
            <a:r>
              <a:rPr lang="en-IN" sz="2400" b="1" dirty="0">
                <a:latin typeface="Calibri" panose="020F0502020204030204" pitchFamily="34" charset="0"/>
                <a:cs typeface="Calibri" panose="020F0502020204030204" pitchFamily="34" charset="0"/>
              </a:rPr>
              <a:t>to </a:t>
            </a:r>
            <a:r>
              <a:rPr lang="en-IN" sz="2400" b="1" dirty="0" smtClean="0">
                <a:latin typeface="Calibri" panose="020F0502020204030204" pitchFamily="34" charset="0"/>
                <a:cs typeface="Calibri" panose="020F0502020204030204" pitchFamily="34" charset="0"/>
              </a:rPr>
              <a:t>CSS</a:t>
            </a:r>
          </a:p>
          <a:p>
            <a:pPr marL="457200" indent="-457200">
              <a:lnSpc>
                <a:spcPct val="150000"/>
              </a:lnSpc>
              <a:buFont typeface="Wingdings" panose="05000000000000000000" pitchFamily="2" charset="2"/>
              <a:buChar char="Ø"/>
            </a:pPr>
            <a:r>
              <a:rPr lang="en-IN" sz="2400" b="1" dirty="0" smtClean="0">
                <a:latin typeface="Calibri" panose="020F0502020204030204" pitchFamily="34" charset="0"/>
                <a:cs typeface="Calibri" panose="020F0502020204030204" pitchFamily="34" charset="0"/>
              </a:rPr>
              <a:t>Advantages </a:t>
            </a:r>
            <a:r>
              <a:rPr lang="en-IN" sz="2400" b="1" dirty="0">
                <a:latin typeface="Calibri" panose="020F0502020204030204" pitchFamily="34" charset="0"/>
                <a:cs typeface="Calibri" panose="020F0502020204030204" pitchFamily="34" charset="0"/>
              </a:rPr>
              <a:t>of </a:t>
            </a:r>
            <a:r>
              <a:rPr lang="en-IN" sz="2400" b="1" dirty="0" smtClean="0">
                <a:latin typeface="Calibri" panose="020F0502020204030204" pitchFamily="34" charset="0"/>
                <a:cs typeface="Calibri" panose="020F0502020204030204" pitchFamily="34" charset="0"/>
              </a:rPr>
              <a:t>CSS</a:t>
            </a:r>
          </a:p>
          <a:p>
            <a:pPr marL="457200" indent="-457200">
              <a:lnSpc>
                <a:spcPct val="150000"/>
              </a:lnSpc>
              <a:buFont typeface="Wingdings" panose="05000000000000000000" pitchFamily="2" charset="2"/>
              <a:buChar char="Ø"/>
            </a:pPr>
            <a:r>
              <a:rPr lang="de-DE" sz="2400" b="1" dirty="0" smtClean="0">
                <a:latin typeface="Calibri" panose="020F0502020204030204" pitchFamily="34" charset="0"/>
                <a:cs typeface="Calibri" panose="020F0502020204030204" pitchFamily="34" charset="0"/>
              </a:rPr>
              <a:t>Insert </a:t>
            </a:r>
            <a:r>
              <a:rPr lang="de-DE" sz="2400" b="1" dirty="0">
                <a:latin typeface="Calibri" panose="020F0502020204030204" pitchFamily="34" charset="0"/>
                <a:cs typeface="Calibri" panose="020F0502020204030204" pitchFamily="34" charset="0"/>
              </a:rPr>
              <a:t>Styles in Web </a:t>
            </a:r>
            <a:r>
              <a:rPr lang="de-DE" sz="2400" b="1" dirty="0" smtClean="0">
                <a:latin typeface="Calibri" panose="020F0502020204030204" pitchFamily="34" charset="0"/>
                <a:cs typeface="Calibri" panose="020F0502020204030204" pitchFamily="34" charset="0"/>
              </a:rPr>
              <a:t>page</a:t>
            </a:r>
          </a:p>
          <a:p>
            <a:pPr marL="457200" indent="-457200">
              <a:lnSpc>
                <a:spcPct val="150000"/>
              </a:lnSpc>
              <a:buFont typeface="Wingdings" panose="05000000000000000000" pitchFamily="2" charset="2"/>
              <a:buChar char="Ø"/>
            </a:pPr>
            <a:r>
              <a:rPr lang="en-IN" sz="2400" b="1" dirty="0" smtClean="0">
                <a:latin typeface="Calibri" panose="020F0502020204030204" pitchFamily="34" charset="0"/>
                <a:cs typeface="Calibri" panose="020F0502020204030204" pitchFamily="34" charset="0"/>
              </a:rPr>
              <a:t>Syntax </a:t>
            </a:r>
            <a:r>
              <a:rPr lang="en-IN" sz="2400" b="1" dirty="0">
                <a:latin typeface="Calibri" panose="020F0502020204030204" pitchFamily="34" charset="0"/>
                <a:cs typeface="Calibri" panose="020F0502020204030204" pitchFamily="34" charset="0"/>
              </a:rPr>
              <a:t>of CSS </a:t>
            </a:r>
            <a:r>
              <a:rPr lang="en-IN" sz="2400" b="1" dirty="0" smtClean="0">
                <a:latin typeface="Calibri" panose="020F0502020204030204" pitchFamily="34" charset="0"/>
                <a:cs typeface="Calibri" panose="020F0502020204030204" pitchFamily="34" charset="0"/>
              </a:rPr>
              <a:t>Styles</a:t>
            </a:r>
          </a:p>
          <a:p>
            <a:pPr marL="457200" indent="-457200">
              <a:lnSpc>
                <a:spcPct val="150000"/>
              </a:lnSpc>
              <a:buFont typeface="Wingdings" panose="05000000000000000000" pitchFamily="2" charset="2"/>
              <a:buChar char="Ø"/>
            </a:pPr>
            <a:r>
              <a:rPr lang="en-IN" sz="2400" b="1" dirty="0" smtClean="0">
                <a:latin typeface="Calibri" panose="020F0502020204030204" pitchFamily="34" charset="0"/>
                <a:cs typeface="Calibri" panose="020F0502020204030204" pitchFamily="34" charset="0"/>
              </a:rPr>
              <a:t>Commonly </a:t>
            </a:r>
            <a:r>
              <a:rPr lang="en-IN" sz="2400" b="1" dirty="0">
                <a:latin typeface="Calibri" panose="020F0502020204030204" pitchFamily="34" charset="0"/>
                <a:cs typeface="Calibri" panose="020F0502020204030204" pitchFamily="34" charset="0"/>
              </a:rPr>
              <a:t>used CSS Styles</a:t>
            </a:r>
            <a:endParaRPr lang="en-IN" sz="2400" dirty="0"/>
          </a:p>
        </p:txBody>
      </p:sp>
    </p:spTree>
    <p:extLst>
      <p:ext uri="{BB962C8B-B14F-4D97-AF65-F5344CB8AC3E}">
        <p14:creationId xmlns:p14="http://schemas.microsoft.com/office/powerpoint/2010/main" val="1338817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4645433" cy="1066591"/>
          </a:xfrm>
        </p:spPr>
        <p:txBody>
          <a:bodyPr>
            <a:normAutofit/>
          </a:bodyPr>
          <a:lstStyle/>
          <a:p>
            <a:r>
              <a:rPr lang="en-IN" sz="4000" b="1" dirty="0" smtClean="0">
                <a:solidFill>
                  <a:srgbClr val="FFFF00"/>
                </a:solidFill>
              </a:rPr>
              <a:t>R</a:t>
            </a:r>
            <a:r>
              <a:rPr lang="en-IN" sz="4000" b="1" cap="none" dirty="0">
                <a:solidFill>
                  <a:srgbClr val="FFFF00"/>
                </a:solidFill>
              </a:rPr>
              <a:t>e</a:t>
            </a:r>
            <a:r>
              <a:rPr lang="en-IN" sz="4000" b="1" cap="none" dirty="0" smtClean="0">
                <a:solidFill>
                  <a:srgbClr val="FFFF00"/>
                </a:solidFill>
              </a:rPr>
              <a:t>cap</a:t>
            </a:r>
            <a:r>
              <a:rPr lang="en-IN" sz="4000" b="1" dirty="0" smtClean="0">
                <a:solidFill>
                  <a:srgbClr val="FFFF00"/>
                </a:solidFill>
              </a:rPr>
              <a:t> </a:t>
            </a:r>
            <a:r>
              <a:rPr lang="en-IN" sz="4000" b="1" cap="none" dirty="0">
                <a:solidFill>
                  <a:srgbClr val="FFFF00"/>
                </a:solidFill>
              </a:rPr>
              <a:t>o</a:t>
            </a:r>
            <a:r>
              <a:rPr lang="en-IN" sz="4000" b="1" cap="none" dirty="0" smtClean="0">
                <a:solidFill>
                  <a:srgbClr val="FFFF00"/>
                </a:solidFill>
              </a:rPr>
              <a:t>n</a:t>
            </a:r>
            <a:r>
              <a:rPr lang="en-IN" sz="4000" b="1" dirty="0" smtClean="0">
                <a:solidFill>
                  <a:srgbClr val="FFFF00"/>
                </a:solidFill>
              </a:rPr>
              <a:t> </a:t>
            </a:r>
            <a:r>
              <a:rPr lang="en-IN" sz="4000" b="1" dirty="0">
                <a:solidFill>
                  <a:srgbClr val="FFFF00"/>
                </a:solidFill>
              </a:rPr>
              <a:t>HTML</a:t>
            </a:r>
            <a:endParaRPr lang="en-IN" sz="4000" dirty="0">
              <a:solidFill>
                <a:srgbClr val="FFFF00"/>
              </a:solidFill>
            </a:endParaRPr>
          </a:p>
        </p:txBody>
      </p:sp>
      <p:sp>
        <p:nvSpPr>
          <p:cNvPr id="3" name="Content Placeholder 2"/>
          <p:cNvSpPr>
            <a:spLocks noGrp="1"/>
          </p:cNvSpPr>
          <p:nvPr>
            <p:ph idx="1"/>
          </p:nvPr>
        </p:nvSpPr>
        <p:spPr>
          <a:xfrm>
            <a:off x="1141413" y="1685109"/>
            <a:ext cx="9905998" cy="4106092"/>
          </a:xfrm>
        </p:spPr>
        <p:txBody>
          <a:bodyPr>
            <a:normAutofit/>
          </a:bodyPr>
          <a:lstStyle/>
          <a:p>
            <a:r>
              <a:rPr lang="en-US" dirty="0"/>
              <a:t>HTML stands for </a:t>
            </a:r>
            <a:r>
              <a:rPr lang="en-US" b="1" dirty="0"/>
              <a:t>“Hyper text markup language</a:t>
            </a:r>
            <a:r>
              <a:rPr lang="en-US" b="1" dirty="0" smtClean="0"/>
              <a:t>”.</a:t>
            </a:r>
          </a:p>
          <a:p>
            <a:r>
              <a:rPr lang="en-US" dirty="0" smtClean="0"/>
              <a:t>HTML </a:t>
            </a:r>
            <a:r>
              <a:rPr lang="en-US" dirty="0"/>
              <a:t>is made up of a set of elements, or tags, </a:t>
            </a:r>
            <a:r>
              <a:rPr lang="en-US" dirty="0" smtClean="0"/>
              <a:t>that are </a:t>
            </a:r>
            <a:r>
              <a:rPr lang="en-US" dirty="0"/>
              <a:t>used as instructions to </a:t>
            </a:r>
            <a:r>
              <a:rPr lang="en-US" dirty="0" smtClean="0"/>
              <a:t>   tell </a:t>
            </a:r>
            <a:r>
              <a:rPr lang="en-US" dirty="0"/>
              <a:t>the browser what should appear on a web page and how. </a:t>
            </a:r>
            <a:endParaRPr lang="en-US" dirty="0" smtClean="0"/>
          </a:p>
          <a:p>
            <a:r>
              <a:rPr lang="en-US" dirty="0" smtClean="0"/>
              <a:t>HTML was </a:t>
            </a:r>
            <a:r>
              <a:rPr lang="en-IN" dirty="0" smtClean="0"/>
              <a:t>developed </a:t>
            </a:r>
            <a:r>
              <a:rPr lang="en-IN" dirty="0"/>
              <a:t>by </a:t>
            </a:r>
            <a:r>
              <a:rPr lang="en-IN" b="1" dirty="0"/>
              <a:t>Tim Berners-Lee.</a:t>
            </a:r>
          </a:p>
          <a:p>
            <a:r>
              <a:rPr lang="en-US" dirty="0"/>
              <a:t>HTML documents are text f</a:t>
            </a:r>
            <a:r>
              <a:rPr lang="en-US" dirty="0" smtClean="0"/>
              <a:t>iles </a:t>
            </a:r>
            <a:r>
              <a:rPr lang="en-US" dirty="0"/>
              <a:t>with HTML tags. </a:t>
            </a:r>
            <a:endParaRPr lang="en-US" dirty="0" smtClean="0"/>
          </a:p>
          <a:p>
            <a:r>
              <a:rPr lang="en-US" dirty="0" smtClean="0"/>
              <a:t>Tags </a:t>
            </a:r>
            <a:r>
              <a:rPr lang="en-US" dirty="0"/>
              <a:t>means instructions that tell the browser </a:t>
            </a:r>
            <a:r>
              <a:rPr lang="en-US" dirty="0" smtClean="0"/>
              <a:t>what to </a:t>
            </a:r>
            <a:r>
              <a:rPr lang="en-US" dirty="0"/>
              <a:t>show on the webpage.</a:t>
            </a:r>
            <a:endParaRPr lang="en-IN" dirty="0"/>
          </a:p>
        </p:txBody>
      </p:sp>
    </p:spTree>
    <p:extLst>
      <p:ext uri="{BB962C8B-B14F-4D97-AF65-F5344CB8AC3E}">
        <p14:creationId xmlns:p14="http://schemas.microsoft.com/office/powerpoint/2010/main" val="1286223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4" presetClass="emph" presetSubtype="0" fill="hold" nodeType="clickEffect">
                                  <p:stCondLst>
                                    <p:cond delay="0"/>
                                  </p:stCondLst>
                                  <p:iterate type="lt">
                                    <p:tmPct val="10000"/>
                                  </p:iterate>
                                  <p:childTnLst>
                                    <p:animMotion origin="layout" path="M 0.0 0.0 L 0.0 -0.07213" pathEditMode="relative" ptsTypes="">
                                      <p:cBhvr>
                                        <p:cTn id="14" dur="250" accel="50000" decel="50000" autoRev="1" fill="hold">
                                          <p:stCondLst>
                                            <p:cond delay="0"/>
                                          </p:stCondLst>
                                        </p:cTn>
                                        <p:tgtEl>
                                          <p:spTgt spid="3">
                                            <p:txEl>
                                              <p:pRg st="0" end="0"/>
                                            </p:txEl>
                                          </p:spTgt>
                                        </p:tgtEl>
                                        <p:attrNameLst>
                                          <p:attrName>ppt_x</p:attrName>
                                          <p:attrName>ppt_y</p:attrName>
                                        </p:attrNameLst>
                                      </p:cBhvr>
                                    </p:animMotion>
                                    <p:animRot by="1500000">
                                      <p:cBhvr>
                                        <p:cTn id="15" dur="125" fill="hold">
                                          <p:stCondLst>
                                            <p:cond delay="0"/>
                                          </p:stCondLst>
                                        </p:cTn>
                                        <p:tgtEl>
                                          <p:spTgt spid="3">
                                            <p:txEl>
                                              <p:pRg st="0" end="0"/>
                                            </p:txEl>
                                          </p:spTgt>
                                        </p:tgtEl>
                                        <p:attrNameLst>
                                          <p:attrName>r</p:attrName>
                                        </p:attrNameLst>
                                      </p:cBhvr>
                                    </p:animRot>
                                    <p:animRot by="-1500000">
                                      <p:cBhvr>
                                        <p:cTn id="16" dur="125" fill="hold">
                                          <p:stCondLst>
                                            <p:cond delay="125"/>
                                          </p:stCondLst>
                                        </p:cTn>
                                        <p:tgtEl>
                                          <p:spTgt spid="3">
                                            <p:txEl>
                                              <p:pRg st="0" end="0"/>
                                            </p:txEl>
                                          </p:spTgt>
                                        </p:tgtEl>
                                        <p:attrNameLst>
                                          <p:attrName>r</p:attrName>
                                        </p:attrNameLst>
                                      </p:cBhvr>
                                    </p:animRot>
                                    <p:animRot by="-1500000">
                                      <p:cBhvr>
                                        <p:cTn id="17" dur="125" fill="hold">
                                          <p:stCondLst>
                                            <p:cond delay="250"/>
                                          </p:stCondLst>
                                        </p:cTn>
                                        <p:tgtEl>
                                          <p:spTgt spid="3">
                                            <p:txEl>
                                              <p:pRg st="0" end="0"/>
                                            </p:txEl>
                                          </p:spTgt>
                                        </p:tgtEl>
                                        <p:attrNameLst>
                                          <p:attrName>r</p:attrName>
                                        </p:attrNameLst>
                                      </p:cBhvr>
                                    </p:animRot>
                                    <p:animRot by="1500000">
                                      <p:cBhvr>
                                        <p:cTn id="18" dur="125" fill="hold">
                                          <p:stCondLst>
                                            <p:cond delay="375"/>
                                          </p:stCondLst>
                                        </p:cTn>
                                        <p:tgtEl>
                                          <p:spTgt spid="3">
                                            <p:txEl>
                                              <p:pRg st="0" end="0"/>
                                            </p:txEl>
                                          </p:spTgt>
                                        </p:tgtEl>
                                        <p:attrNameLst>
                                          <p:attrName>r</p:attrName>
                                        </p:attrNameLst>
                                      </p:cBhvr>
                                    </p:animRot>
                                  </p:childTnLst>
                                </p:cTn>
                              </p:par>
                              <p:par>
                                <p:cTn id="19" presetID="34" presetClass="emph" presetSubtype="0" fill="hold" nodeType="withEffect">
                                  <p:stCondLst>
                                    <p:cond delay="0"/>
                                  </p:stCondLst>
                                  <p:iterate type="lt">
                                    <p:tmPct val="10000"/>
                                  </p:iterate>
                                  <p:childTnLst>
                                    <p:animMotion origin="layout" path="M 0.0 0.0 L 0.0 -0.07213" pathEditMode="relative" ptsTypes="">
                                      <p:cBhvr>
                                        <p:cTn id="20" dur="250" accel="50000" decel="50000" autoRev="1" fill="hold">
                                          <p:stCondLst>
                                            <p:cond delay="0"/>
                                          </p:stCondLst>
                                        </p:cTn>
                                        <p:tgtEl>
                                          <p:spTgt spid="3">
                                            <p:txEl>
                                              <p:pRg st="1" end="1"/>
                                            </p:txEl>
                                          </p:spTgt>
                                        </p:tgtEl>
                                        <p:attrNameLst>
                                          <p:attrName>ppt_x</p:attrName>
                                          <p:attrName>ppt_y</p:attrName>
                                        </p:attrNameLst>
                                      </p:cBhvr>
                                    </p:animMotion>
                                    <p:animRot by="1500000">
                                      <p:cBhvr>
                                        <p:cTn id="21" dur="125" fill="hold">
                                          <p:stCondLst>
                                            <p:cond delay="0"/>
                                          </p:stCondLst>
                                        </p:cTn>
                                        <p:tgtEl>
                                          <p:spTgt spid="3">
                                            <p:txEl>
                                              <p:pRg st="1" end="1"/>
                                            </p:txEl>
                                          </p:spTgt>
                                        </p:tgtEl>
                                        <p:attrNameLst>
                                          <p:attrName>r</p:attrName>
                                        </p:attrNameLst>
                                      </p:cBhvr>
                                    </p:animRot>
                                    <p:animRot by="-1500000">
                                      <p:cBhvr>
                                        <p:cTn id="22" dur="125" fill="hold">
                                          <p:stCondLst>
                                            <p:cond delay="125"/>
                                          </p:stCondLst>
                                        </p:cTn>
                                        <p:tgtEl>
                                          <p:spTgt spid="3">
                                            <p:txEl>
                                              <p:pRg st="1" end="1"/>
                                            </p:txEl>
                                          </p:spTgt>
                                        </p:tgtEl>
                                        <p:attrNameLst>
                                          <p:attrName>r</p:attrName>
                                        </p:attrNameLst>
                                      </p:cBhvr>
                                    </p:animRot>
                                    <p:animRot by="-1500000">
                                      <p:cBhvr>
                                        <p:cTn id="23" dur="125" fill="hold">
                                          <p:stCondLst>
                                            <p:cond delay="250"/>
                                          </p:stCondLst>
                                        </p:cTn>
                                        <p:tgtEl>
                                          <p:spTgt spid="3">
                                            <p:txEl>
                                              <p:pRg st="1" end="1"/>
                                            </p:txEl>
                                          </p:spTgt>
                                        </p:tgtEl>
                                        <p:attrNameLst>
                                          <p:attrName>r</p:attrName>
                                        </p:attrNameLst>
                                      </p:cBhvr>
                                    </p:animRot>
                                    <p:animRot by="1500000">
                                      <p:cBhvr>
                                        <p:cTn id="24" dur="125" fill="hold">
                                          <p:stCondLst>
                                            <p:cond delay="375"/>
                                          </p:stCondLst>
                                        </p:cTn>
                                        <p:tgtEl>
                                          <p:spTgt spid="3">
                                            <p:txEl>
                                              <p:pRg st="1" end="1"/>
                                            </p:txEl>
                                          </p:spTgt>
                                        </p:tgtEl>
                                        <p:attrNameLst>
                                          <p:attrName>r</p:attrName>
                                        </p:attrNameLst>
                                      </p:cBhvr>
                                    </p:animRot>
                                  </p:childTnLst>
                                </p:cTn>
                              </p:par>
                              <p:par>
                                <p:cTn id="25" presetID="34" presetClass="emph" presetSubtype="0" fill="hold" nodeType="withEffect">
                                  <p:stCondLst>
                                    <p:cond delay="0"/>
                                  </p:stCondLst>
                                  <p:iterate type="lt">
                                    <p:tmPct val="10000"/>
                                  </p:iterate>
                                  <p:childTnLst>
                                    <p:animMotion origin="layout" path="M 0.0 0.0 L 0.0 -0.07213" pathEditMode="relative" ptsTypes="">
                                      <p:cBhvr>
                                        <p:cTn id="26" dur="250" accel="50000" decel="50000" autoRev="1" fill="hold">
                                          <p:stCondLst>
                                            <p:cond delay="0"/>
                                          </p:stCondLst>
                                        </p:cTn>
                                        <p:tgtEl>
                                          <p:spTgt spid="3">
                                            <p:txEl>
                                              <p:pRg st="2" end="2"/>
                                            </p:txEl>
                                          </p:spTgt>
                                        </p:tgtEl>
                                        <p:attrNameLst>
                                          <p:attrName>ppt_x</p:attrName>
                                          <p:attrName>ppt_y</p:attrName>
                                        </p:attrNameLst>
                                      </p:cBhvr>
                                    </p:animMotion>
                                    <p:animRot by="1500000">
                                      <p:cBhvr>
                                        <p:cTn id="27" dur="125" fill="hold">
                                          <p:stCondLst>
                                            <p:cond delay="0"/>
                                          </p:stCondLst>
                                        </p:cTn>
                                        <p:tgtEl>
                                          <p:spTgt spid="3">
                                            <p:txEl>
                                              <p:pRg st="2" end="2"/>
                                            </p:txEl>
                                          </p:spTgt>
                                        </p:tgtEl>
                                        <p:attrNameLst>
                                          <p:attrName>r</p:attrName>
                                        </p:attrNameLst>
                                      </p:cBhvr>
                                    </p:animRot>
                                    <p:animRot by="-1500000">
                                      <p:cBhvr>
                                        <p:cTn id="28" dur="125" fill="hold">
                                          <p:stCondLst>
                                            <p:cond delay="125"/>
                                          </p:stCondLst>
                                        </p:cTn>
                                        <p:tgtEl>
                                          <p:spTgt spid="3">
                                            <p:txEl>
                                              <p:pRg st="2" end="2"/>
                                            </p:txEl>
                                          </p:spTgt>
                                        </p:tgtEl>
                                        <p:attrNameLst>
                                          <p:attrName>r</p:attrName>
                                        </p:attrNameLst>
                                      </p:cBhvr>
                                    </p:animRot>
                                    <p:animRot by="-1500000">
                                      <p:cBhvr>
                                        <p:cTn id="29" dur="125" fill="hold">
                                          <p:stCondLst>
                                            <p:cond delay="250"/>
                                          </p:stCondLst>
                                        </p:cTn>
                                        <p:tgtEl>
                                          <p:spTgt spid="3">
                                            <p:txEl>
                                              <p:pRg st="2" end="2"/>
                                            </p:txEl>
                                          </p:spTgt>
                                        </p:tgtEl>
                                        <p:attrNameLst>
                                          <p:attrName>r</p:attrName>
                                        </p:attrNameLst>
                                      </p:cBhvr>
                                    </p:animRot>
                                    <p:animRot by="1500000">
                                      <p:cBhvr>
                                        <p:cTn id="30" dur="125" fill="hold">
                                          <p:stCondLst>
                                            <p:cond delay="375"/>
                                          </p:stCondLst>
                                        </p:cTn>
                                        <p:tgtEl>
                                          <p:spTgt spid="3">
                                            <p:txEl>
                                              <p:pRg st="2" end="2"/>
                                            </p:txEl>
                                          </p:spTgt>
                                        </p:tgtEl>
                                        <p:attrNameLst>
                                          <p:attrName>r</p:attrName>
                                        </p:attrNameLst>
                                      </p:cBhvr>
                                    </p:animRot>
                                  </p:childTnLst>
                                </p:cTn>
                              </p:par>
                              <p:par>
                                <p:cTn id="31" presetID="34" presetClass="emph" presetSubtype="0" fill="hold" nodeType="withEffect">
                                  <p:stCondLst>
                                    <p:cond delay="0"/>
                                  </p:stCondLst>
                                  <p:iterate type="lt">
                                    <p:tmPct val="10000"/>
                                  </p:iterate>
                                  <p:childTnLst>
                                    <p:animMotion origin="layout" path="M 0.0 0.0 L 0.0 -0.07213" pathEditMode="relative" ptsTypes="">
                                      <p:cBhvr>
                                        <p:cTn id="32" dur="250" accel="50000" decel="50000" autoRev="1" fill="hold">
                                          <p:stCondLst>
                                            <p:cond delay="0"/>
                                          </p:stCondLst>
                                        </p:cTn>
                                        <p:tgtEl>
                                          <p:spTgt spid="3">
                                            <p:txEl>
                                              <p:pRg st="3" end="3"/>
                                            </p:txEl>
                                          </p:spTgt>
                                        </p:tgtEl>
                                        <p:attrNameLst>
                                          <p:attrName>ppt_x</p:attrName>
                                          <p:attrName>ppt_y</p:attrName>
                                        </p:attrNameLst>
                                      </p:cBhvr>
                                    </p:animMotion>
                                    <p:animRot by="1500000">
                                      <p:cBhvr>
                                        <p:cTn id="33" dur="125" fill="hold">
                                          <p:stCondLst>
                                            <p:cond delay="0"/>
                                          </p:stCondLst>
                                        </p:cTn>
                                        <p:tgtEl>
                                          <p:spTgt spid="3">
                                            <p:txEl>
                                              <p:pRg st="3" end="3"/>
                                            </p:txEl>
                                          </p:spTgt>
                                        </p:tgtEl>
                                        <p:attrNameLst>
                                          <p:attrName>r</p:attrName>
                                        </p:attrNameLst>
                                      </p:cBhvr>
                                    </p:animRot>
                                    <p:animRot by="-1500000">
                                      <p:cBhvr>
                                        <p:cTn id="34" dur="125" fill="hold">
                                          <p:stCondLst>
                                            <p:cond delay="125"/>
                                          </p:stCondLst>
                                        </p:cTn>
                                        <p:tgtEl>
                                          <p:spTgt spid="3">
                                            <p:txEl>
                                              <p:pRg st="3" end="3"/>
                                            </p:txEl>
                                          </p:spTgt>
                                        </p:tgtEl>
                                        <p:attrNameLst>
                                          <p:attrName>r</p:attrName>
                                        </p:attrNameLst>
                                      </p:cBhvr>
                                    </p:animRot>
                                    <p:animRot by="-1500000">
                                      <p:cBhvr>
                                        <p:cTn id="35" dur="125" fill="hold">
                                          <p:stCondLst>
                                            <p:cond delay="250"/>
                                          </p:stCondLst>
                                        </p:cTn>
                                        <p:tgtEl>
                                          <p:spTgt spid="3">
                                            <p:txEl>
                                              <p:pRg st="3" end="3"/>
                                            </p:txEl>
                                          </p:spTgt>
                                        </p:tgtEl>
                                        <p:attrNameLst>
                                          <p:attrName>r</p:attrName>
                                        </p:attrNameLst>
                                      </p:cBhvr>
                                    </p:animRot>
                                    <p:animRot by="1500000">
                                      <p:cBhvr>
                                        <p:cTn id="36" dur="125" fill="hold">
                                          <p:stCondLst>
                                            <p:cond delay="375"/>
                                          </p:stCondLst>
                                        </p:cTn>
                                        <p:tgtEl>
                                          <p:spTgt spid="3">
                                            <p:txEl>
                                              <p:pRg st="3" end="3"/>
                                            </p:txEl>
                                          </p:spTgt>
                                        </p:tgtEl>
                                        <p:attrNameLst>
                                          <p:attrName>r</p:attrName>
                                        </p:attrNameLst>
                                      </p:cBhvr>
                                    </p:animRot>
                                  </p:childTnLst>
                                </p:cTn>
                              </p:par>
                              <p:par>
                                <p:cTn id="37" presetID="34" presetClass="emph" presetSubtype="0" fill="hold" nodeType="withEffect">
                                  <p:stCondLst>
                                    <p:cond delay="0"/>
                                  </p:stCondLst>
                                  <p:iterate type="lt">
                                    <p:tmPct val="10000"/>
                                  </p:iterate>
                                  <p:childTnLst>
                                    <p:animMotion origin="layout" path="M 0.0 0.0 L 0.0 -0.07213" pathEditMode="relative" ptsTypes="">
                                      <p:cBhvr>
                                        <p:cTn id="38" dur="250" accel="50000" decel="50000" autoRev="1" fill="hold">
                                          <p:stCondLst>
                                            <p:cond delay="0"/>
                                          </p:stCondLst>
                                        </p:cTn>
                                        <p:tgtEl>
                                          <p:spTgt spid="3">
                                            <p:txEl>
                                              <p:pRg st="4" end="4"/>
                                            </p:txEl>
                                          </p:spTgt>
                                        </p:tgtEl>
                                        <p:attrNameLst>
                                          <p:attrName>ppt_x</p:attrName>
                                          <p:attrName>ppt_y</p:attrName>
                                        </p:attrNameLst>
                                      </p:cBhvr>
                                    </p:animMotion>
                                    <p:animRot by="1500000">
                                      <p:cBhvr>
                                        <p:cTn id="39" dur="125" fill="hold">
                                          <p:stCondLst>
                                            <p:cond delay="0"/>
                                          </p:stCondLst>
                                        </p:cTn>
                                        <p:tgtEl>
                                          <p:spTgt spid="3">
                                            <p:txEl>
                                              <p:pRg st="4" end="4"/>
                                            </p:txEl>
                                          </p:spTgt>
                                        </p:tgtEl>
                                        <p:attrNameLst>
                                          <p:attrName>r</p:attrName>
                                        </p:attrNameLst>
                                      </p:cBhvr>
                                    </p:animRot>
                                    <p:animRot by="-1500000">
                                      <p:cBhvr>
                                        <p:cTn id="40" dur="125" fill="hold">
                                          <p:stCondLst>
                                            <p:cond delay="125"/>
                                          </p:stCondLst>
                                        </p:cTn>
                                        <p:tgtEl>
                                          <p:spTgt spid="3">
                                            <p:txEl>
                                              <p:pRg st="4" end="4"/>
                                            </p:txEl>
                                          </p:spTgt>
                                        </p:tgtEl>
                                        <p:attrNameLst>
                                          <p:attrName>r</p:attrName>
                                        </p:attrNameLst>
                                      </p:cBhvr>
                                    </p:animRot>
                                    <p:animRot by="-1500000">
                                      <p:cBhvr>
                                        <p:cTn id="41" dur="125" fill="hold">
                                          <p:stCondLst>
                                            <p:cond delay="250"/>
                                          </p:stCondLst>
                                        </p:cTn>
                                        <p:tgtEl>
                                          <p:spTgt spid="3">
                                            <p:txEl>
                                              <p:pRg st="4" end="4"/>
                                            </p:txEl>
                                          </p:spTgt>
                                        </p:tgtEl>
                                        <p:attrNameLst>
                                          <p:attrName>r</p:attrName>
                                        </p:attrNameLst>
                                      </p:cBhvr>
                                    </p:animRot>
                                    <p:animRot by="1500000">
                                      <p:cBhvr>
                                        <p:cTn id="42" dur="125" fill="hold">
                                          <p:stCondLst>
                                            <p:cond delay="375"/>
                                          </p:stCondLst>
                                        </p:cTn>
                                        <p:tgtEl>
                                          <p:spTgt spid="3">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40971" y="927462"/>
            <a:ext cx="10006149" cy="5164184"/>
          </a:xfrm>
        </p:spPr>
        <p:txBody>
          <a:bodyPr>
            <a:normAutofit fontScale="85000" lnSpcReduction="10000"/>
          </a:bodyPr>
          <a:lstStyle/>
          <a:p>
            <a:pPr marL="0" indent="0">
              <a:buNone/>
            </a:pPr>
            <a:r>
              <a:rPr lang="en-US" b="1" dirty="0">
                <a:solidFill>
                  <a:srgbClr val="FFFF00"/>
                </a:solidFill>
              </a:rPr>
              <a:t>HTML editor </a:t>
            </a:r>
            <a:r>
              <a:rPr lang="en-US" dirty="0"/>
              <a:t>- It is a software application used to create and save the document.</a:t>
            </a:r>
          </a:p>
          <a:p>
            <a:pPr marL="0" indent="0">
              <a:buNone/>
            </a:pPr>
            <a:r>
              <a:rPr lang="en-US" b="1" dirty="0">
                <a:solidFill>
                  <a:srgbClr val="FFFF00"/>
                </a:solidFill>
              </a:rPr>
              <a:t>A web browser </a:t>
            </a:r>
            <a:r>
              <a:rPr lang="en-US" dirty="0"/>
              <a:t>- It is used to view the HTML document.</a:t>
            </a:r>
          </a:p>
          <a:p>
            <a:pPr marL="0" indent="0">
              <a:buNone/>
            </a:pPr>
            <a:r>
              <a:rPr lang="en-US" b="1" dirty="0">
                <a:solidFill>
                  <a:srgbClr val="FFFF00"/>
                </a:solidFill>
              </a:rPr>
              <a:t>Structure of HTML </a:t>
            </a:r>
            <a:r>
              <a:rPr lang="en-US" b="1" dirty="0"/>
              <a:t>- </a:t>
            </a:r>
            <a:r>
              <a:rPr lang="en-US" dirty="0"/>
              <a:t>The HTML tag for the document head is &lt;HEAD&gt; the tag for the document</a:t>
            </a:r>
          </a:p>
          <a:p>
            <a:pPr marL="0" indent="0">
              <a:buNone/>
            </a:pPr>
            <a:r>
              <a:rPr lang="en-US" dirty="0" smtClean="0"/>
              <a:t>                             body </a:t>
            </a:r>
            <a:r>
              <a:rPr lang="en-US" dirty="0"/>
              <a:t>is &lt;BODY&gt;. Every HTML document contains the head and body codes.</a:t>
            </a:r>
          </a:p>
          <a:p>
            <a:pPr marL="0" indent="0">
              <a:buNone/>
            </a:pPr>
            <a:r>
              <a:rPr lang="en-US" b="1" dirty="0">
                <a:solidFill>
                  <a:srgbClr val="FFFF00"/>
                </a:solidFill>
              </a:rPr>
              <a:t>Container Element </a:t>
            </a:r>
            <a:r>
              <a:rPr lang="en-US" b="1" dirty="0"/>
              <a:t>- </a:t>
            </a:r>
            <a:r>
              <a:rPr lang="en-US" dirty="0"/>
              <a:t>The elements which have both start and end tags are called container</a:t>
            </a:r>
          </a:p>
          <a:p>
            <a:pPr marL="0" indent="0">
              <a:buNone/>
            </a:pPr>
            <a:r>
              <a:rPr lang="en-IN" dirty="0"/>
              <a:t>elements.</a:t>
            </a:r>
          </a:p>
          <a:p>
            <a:pPr marL="0" indent="0">
              <a:buNone/>
            </a:pPr>
            <a:r>
              <a:rPr lang="en-US" b="1" dirty="0">
                <a:solidFill>
                  <a:srgbClr val="FFFF00"/>
                </a:solidFill>
              </a:rPr>
              <a:t>Empty Element </a:t>
            </a:r>
            <a:r>
              <a:rPr lang="en-US" b="1" dirty="0"/>
              <a:t>- </a:t>
            </a:r>
            <a:r>
              <a:rPr lang="en-US" dirty="0"/>
              <a:t>The elements which have only start tag and do not need end tag are called as </a:t>
            </a:r>
            <a:r>
              <a:rPr lang="en-US" dirty="0" smtClean="0"/>
              <a:t>Empty </a:t>
            </a:r>
            <a:r>
              <a:rPr lang="en-IN" dirty="0" smtClean="0"/>
              <a:t>elements</a:t>
            </a:r>
            <a:r>
              <a:rPr lang="en-IN" dirty="0"/>
              <a:t>.</a:t>
            </a:r>
          </a:p>
          <a:p>
            <a:pPr marL="0" indent="0">
              <a:buNone/>
            </a:pPr>
            <a:r>
              <a:rPr lang="en-US" b="1" dirty="0">
                <a:solidFill>
                  <a:srgbClr val="FFFF00"/>
                </a:solidFill>
              </a:rPr>
              <a:t>Head Element </a:t>
            </a:r>
            <a:r>
              <a:rPr lang="en-US" b="1" dirty="0"/>
              <a:t>- </a:t>
            </a:r>
            <a:r>
              <a:rPr lang="en-US" dirty="0"/>
              <a:t>HEAD element is used for specifying the title of an HTML Document</a:t>
            </a:r>
          </a:p>
          <a:p>
            <a:pPr marL="0" indent="0">
              <a:buNone/>
            </a:pPr>
            <a:r>
              <a:rPr lang="en-US" b="1" dirty="0">
                <a:solidFill>
                  <a:srgbClr val="FFFF00"/>
                </a:solidFill>
              </a:rPr>
              <a:t>Body Element </a:t>
            </a:r>
            <a:r>
              <a:rPr lang="en-US" b="1" dirty="0"/>
              <a:t>- </a:t>
            </a:r>
            <a:r>
              <a:rPr lang="en-US" dirty="0"/>
              <a:t>Body element form the body of an HTML document.</a:t>
            </a:r>
          </a:p>
          <a:p>
            <a:pPr marL="0" indent="0">
              <a:buNone/>
            </a:pPr>
            <a:r>
              <a:rPr lang="en-US" dirty="0"/>
              <a:t>Attributes </a:t>
            </a:r>
            <a:r>
              <a:rPr lang="en-US" dirty="0" smtClean="0"/>
              <a:t>defines </a:t>
            </a:r>
            <a:r>
              <a:rPr lang="en-US" dirty="0"/>
              <a:t>characteristic of element. Attributes have two parts Name and Value.</a:t>
            </a:r>
            <a:endParaRPr lang="en-IN" dirty="0"/>
          </a:p>
        </p:txBody>
      </p:sp>
    </p:spTree>
    <p:extLst>
      <p:ext uri="{BB962C8B-B14F-4D97-AF65-F5344CB8AC3E}">
        <p14:creationId xmlns:p14="http://schemas.microsoft.com/office/powerpoint/2010/main" val="3382110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1" fill="hold" grpId="0" nodeType="clickEffect">
                                  <p:stCondLst>
                                    <p:cond delay="0"/>
                                  </p:stCondLst>
                                  <p:childTnLst>
                                    <p:animEffect transition="out" filter="wheel(1)">
                                      <p:cBhvr>
                                        <p:cTn id="6" dur="2000"/>
                                        <p:tgtEl>
                                          <p:spTgt spid="3">
                                            <p:txEl>
                                              <p:pRg st="0" end="0"/>
                                            </p:txEl>
                                          </p:spTgt>
                                        </p:tgtEl>
                                      </p:cBhvr>
                                    </p:animEffect>
                                    <p:set>
                                      <p:cBhvr>
                                        <p:cTn id="7" dur="1" fill="hold">
                                          <p:stCondLst>
                                            <p:cond delay="1999"/>
                                          </p:stCondLst>
                                        </p:cTn>
                                        <p:tgtEl>
                                          <p:spTgt spid="3">
                                            <p:txEl>
                                              <p:pRg st="0" end="0"/>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1" presetClass="exit" presetSubtype="1" fill="hold" grpId="0" nodeType="clickEffect">
                                  <p:stCondLst>
                                    <p:cond delay="0"/>
                                  </p:stCondLst>
                                  <p:childTnLst>
                                    <p:animEffect transition="out" filter="wheel(1)">
                                      <p:cBhvr>
                                        <p:cTn id="11" dur="2000"/>
                                        <p:tgtEl>
                                          <p:spTgt spid="3">
                                            <p:txEl>
                                              <p:pRg st="1" end="1"/>
                                            </p:txEl>
                                          </p:spTgt>
                                        </p:tgtEl>
                                      </p:cBhvr>
                                    </p:animEffect>
                                    <p:set>
                                      <p:cBhvr>
                                        <p:cTn id="12" dur="1" fill="hold">
                                          <p:stCondLst>
                                            <p:cond delay="1999"/>
                                          </p:stCondLst>
                                        </p:cTn>
                                        <p:tgtEl>
                                          <p:spTgt spid="3">
                                            <p:txEl>
                                              <p:pRg st="1" end="1"/>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1" presetClass="exit" presetSubtype="1" fill="hold" grpId="0" nodeType="clickEffect">
                                  <p:stCondLst>
                                    <p:cond delay="0"/>
                                  </p:stCondLst>
                                  <p:childTnLst>
                                    <p:animEffect transition="out" filter="wheel(1)">
                                      <p:cBhvr>
                                        <p:cTn id="16" dur="2000"/>
                                        <p:tgtEl>
                                          <p:spTgt spid="3">
                                            <p:txEl>
                                              <p:pRg st="2" end="2"/>
                                            </p:txEl>
                                          </p:spTgt>
                                        </p:tgtEl>
                                      </p:cBhvr>
                                    </p:animEffect>
                                    <p:set>
                                      <p:cBhvr>
                                        <p:cTn id="17" dur="1" fill="hold">
                                          <p:stCondLst>
                                            <p:cond delay="1999"/>
                                          </p:stCondLst>
                                        </p:cTn>
                                        <p:tgtEl>
                                          <p:spTgt spid="3">
                                            <p:txEl>
                                              <p:pRg st="2" end="2"/>
                                            </p:txEl>
                                          </p:spTgt>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1" presetClass="exit" presetSubtype="1" fill="hold" grpId="0" nodeType="clickEffect">
                                  <p:stCondLst>
                                    <p:cond delay="0"/>
                                  </p:stCondLst>
                                  <p:childTnLst>
                                    <p:animEffect transition="out" filter="wheel(1)">
                                      <p:cBhvr>
                                        <p:cTn id="21" dur="2000"/>
                                        <p:tgtEl>
                                          <p:spTgt spid="3">
                                            <p:txEl>
                                              <p:pRg st="3" end="3"/>
                                            </p:txEl>
                                          </p:spTgt>
                                        </p:tgtEl>
                                      </p:cBhvr>
                                    </p:animEffect>
                                    <p:set>
                                      <p:cBhvr>
                                        <p:cTn id="22" dur="1" fill="hold">
                                          <p:stCondLst>
                                            <p:cond delay="1999"/>
                                          </p:stCondLst>
                                        </p:cTn>
                                        <p:tgtEl>
                                          <p:spTgt spid="3">
                                            <p:txEl>
                                              <p:pRg st="3" end="3"/>
                                            </p:txEl>
                                          </p:spTgt>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1" presetClass="exit" presetSubtype="1" fill="hold" grpId="0" nodeType="clickEffect">
                                  <p:stCondLst>
                                    <p:cond delay="0"/>
                                  </p:stCondLst>
                                  <p:childTnLst>
                                    <p:animEffect transition="out" filter="wheel(1)">
                                      <p:cBhvr>
                                        <p:cTn id="26" dur="2000"/>
                                        <p:tgtEl>
                                          <p:spTgt spid="3">
                                            <p:txEl>
                                              <p:pRg st="4" end="4"/>
                                            </p:txEl>
                                          </p:spTgt>
                                        </p:tgtEl>
                                      </p:cBhvr>
                                    </p:animEffect>
                                    <p:set>
                                      <p:cBhvr>
                                        <p:cTn id="27" dur="1" fill="hold">
                                          <p:stCondLst>
                                            <p:cond delay="1999"/>
                                          </p:stCondLst>
                                        </p:cTn>
                                        <p:tgtEl>
                                          <p:spTgt spid="3">
                                            <p:txEl>
                                              <p:pRg st="4" end="4"/>
                                            </p:txEl>
                                          </p:spTgt>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1" presetClass="exit" presetSubtype="1" fill="hold" grpId="0" nodeType="clickEffect">
                                  <p:stCondLst>
                                    <p:cond delay="0"/>
                                  </p:stCondLst>
                                  <p:childTnLst>
                                    <p:animEffect transition="out" filter="wheel(1)">
                                      <p:cBhvr>
                                        <p:cTn id="31" dur="2000"/>
                                        <p:tgtEl>
                                          <p:spTgt spid="3">
                                            <p:txEl>
                                              <p:pRg st="5" end="5"/>
                                            </p:txEl>
                                          </p:spTgt>
                                        </p:tgtEl>
                                      </p:cBhvr>
                                    </p:animEffect>
                                    <p:set>
                                      <p:cBhvr>
                                        <p:cTn id="32" dur="1" fill="hold">
                                          <p:stCondLst>
                                            <p:cond delay="1999"/>
                                          </p:stCondLst>
                                        </p:cTn>
                                        <p:tgtEl>
                                          <p:spTgt spid="3">
                                            <p:txEl>
                                              <p:pRg st="5" end="5"/>
                                            </p:txEl>
                                          </p:spTgt>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1" presetClass="exit" presetSubtype="1" fill="hold" grpId="0" nodeType="clickEffect">
                                  <p:stCondLst>
                                    <p:cond delay="0"/>
                                  </p:stCondLst>
                                  <p:childTnLst>
                                    <p:animEffect transition="out" filter="wheel(1)">
                                      <p:cBhvr>
                                        <p:cTn id="36" dur="2000"/>
                                        <p:tgtEl>
                                          <p:spTgt spid="3">
                                            <p:txEl>
                                              <p:pRg st="6" end="6"/>
                                            </p:txEl>
                                          </p:spTgt>
                                        </p:tgtEl>
                                      </p:cBhvr>
                                    </p:animEffect>
                                    <p:set>
                                      <p:cBhvr>
                                        <p:cTn id="37" dur="1" fill="hold">
                                          <p:stCondLst>
                                            <p:cond delay="1999"/>
                                          </p:stCondLst>
                                        </p:cTn>
                                        <p:tgtEl>
                                          <p:spTgt spid="3">
                                            <p:txEl>
                                              <p:pRg st="6" end="6"/>
                                            </p:txEl>
                                          </p:spTgt>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1" presetClass="exit" presetSubtype="1" fill="hold" grpId="0" nodeType="clickEffect">
                                  <p:stCondLst>
                                    <p:cond delay="0"/>
                                  </p:stCondLst>
                                  <p:childTnLst>
                                    <p:animEffect transition="out" filter="wheel(1)">
                                      <p:cBhvr>
                                        <p:cTn id="41" dur="2000"/>
                                        <p:tgtEl>
                                          <p:spTgt spid="3">
                                            <p:txEl>
                                              <p:pRg st="7" end="7"/>
                                            </p:txEl>
                                          </p:spTgt>
                                        </p:tgtEl>
                                      </p:cBhvr>
                                    </p:animEffect>
                                    <p:set>
                                      <p:cBhvr>
                                        <p:cTn id="42" dur="1" fill="hold">
                                          <p:stCondLst>
                                            <p:cond delay="1999"/>
                                          </p:stCondLst>
                                        </p:cTn>
                                        <p:tgtEl>
                                          <p:spTgt spid="3">
                                            <p:txEl>
                                              <p:pRg st="7" end="7"/>
                                            </p:txEl>
                                          </p:spTgt>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1" presetClass="exit" presetSubtype="1" fill="hold" grpId="0" nodeType="clickEffect">
                                  <p:stCondLst>
                                    <p:cond delay="0"/>
                                  </p:stCondLst>
                                  <p:childTnLst>
                                    <p:animEffect transition="out" filter="wheel(1)">
                                      <p:cBhvr>
                                        <p:cTn id="46" dur="2000"/>
                                        <p:tgtEl>
                                          <p:spTgt spid="3">
                                            <p:txEl>
                                              <p:pRg st="8" end="8"/>
                                            </p:txEl>
                                          </p:spTgt>
                                        </p:tgtEl>
                                      </p:cBhvr>
                                    </p:animEffect>
                                    <p:set>
                                      <p:cBhvr>
                                        <p:cTn id="47" dur="1" fill="hold">
                                          <p:stCondLst>
                                            <p:cond delay="1999"/>
                                          </p:stCondLst>
                                        </p:cTn>
                                        <p:tgtEl>
                                          <p:spTgt spid="3">
                                            <p:txEl>
                                              <p:pRg st="8" end="8"/>
                                            </p:txEl>
                                          </p:spTgt>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1" presetClass="exit" presetSubtype="1" fill="hold" grpId="0" nodeType="clickEffect">
                                  <p:stCondLst>
                                    <p:cond delay="0"/>
                                  </p:stCondLst>
                                  <p:childTnLst>
                                    <p:animEffect transition="out" filter="wheel(1)">
                                      <p:cBhvr>
                                        <p:cTn id="51" dur="2000"/>
                                        <p:tgtEl>
                                          <p:spTgt spid="3">
                                            <p:txEl>
                                              <p:pRg st="9" end="9"/>
                                            </p:txEl>
                                          </p:spTgt>
                                        </p:tgtEl>
                                      </p:cBhvr>
                                    </p:animEffect>
                                    <p:set>
                                      <p:cBhvr>
                                        <p:cTn id="52" dur="1" fill="hold">
                                          <p:stCondLst>
                                            <p:cond delay="1999"/>
                                          </p:stCondLst>
                                        </p:cTn>
                                        <p:tgtEl>
                                          <p:spTgt spid="3">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67096" y="718456"/>
            <a:ext cx="10071463" cy="5072745"/>
          </a:xfrm>
        </p:spPr>
        <p:txBody>
          <a:bodyPr>
            <a:normAutofit fontScale="92500" lnSpcReduction="10000"/>
          </a:bodyPr>
          <a:lstStyle/>
          <a:p>
            <a:r>
              <a:rPr lang="en-US" b="1" dirty="0">
                <a:solidFill>
                  <a:srgbClr val="FFFF00"/>
                </a:solidFill>
              </a:rPr>
              <a:t>HTML Tags </a:t>
            </a:r>
            <a:r>
              <a:rPr lang="en-US" b="1" dirty="0"/>
              <a:t>- </a:t>
            </a:r>
            <a:r>
              <a:rPr lang="en-US" dirty="0"/>
              <a:t>Tags are instructions. Tags are the labels used to mark up the start and end of </a:t>
            </a:r>
            <a:r>
              <a:rPr lang="en-US" dirty="0" smtClean="0"/>
              <a:t>an </a:t>
            </a:r>
            <a:r>
              <a:rPr lang="en-IN" dirty="0" smtClean="0"/>
              <a:t>HTML</a:t>
            </a:r>
            <a:r>
              <a:rPr lang="en-IN" dirty="0"/>
              <a:t>.</a:t>
            </a:r>
          </a:p>
          <a:p>
            <a:r>
              <a:rPr lang="en-US" b="1" dirty="0">
                <a:solidFill>
                  <a:srgbClr val="FFFF00"/>
                </a:solidFill>
              </a:rPr>
              <a:t>Heading Tags </a:t>
            </a:r>
            <a:r>
              <a:rPr lang="en-US" b="1" dirty="0"/>
              <a:t>- </a:t>
            </a:r>
            <a:r>
              <a:rPr lang="en-US" dirty="0"/>
              <a:t>HTML has six levels of headings </a:t>
            </a:r>
            <a:r>
              <a:rPr lang="en-US" dirty="0" smtClean="0"/>
              <a:t>those are</a:t>
            </a:r>
          </a:p>
          <a:p>
            <a:pPr marL="0" indent="0">
              <a:buNone/>
            </a:pPr>
            <a:r>
              <a:rPr lang="en-US" dirty="0"/>
              <a:t> </a:t>
            </a:r>
            <a:r>
              <a:rPr lang="en-US" dirty="0" smtClean="0"/>
              <a:t>            &lt;h1&gt;,&lt;</a:t>
            </a:r>
            <a:r>
              <a:rPr lang="en-US" dirty="0"/>
              <a:t>h2&gt;,&lt;h3&gt;,&lt;h4&gt;,&lt;h5&gt;,&lt;h6&gt;.</a:t>
            </a:r>
          </a:p>
          <a:p>
            <a:pPr marL="0" indent="0">
              <a:buNone/>
            </a:pPr>
            <a:r>
              <a:rPr lang="en-US" dirty="0" smtClean="0"/>
              <a:t>             &lt;</a:t>
            </a:r>
            <a:r>
              <a:rPr lang="en-US" dirty="0"/>
              <a:t>h1&gt; is the biggest and &lt;h6&gt; is the smallest.</a:t>
            </a:r>
          </a:p>
          <a:p>
            <a:r>
              <a:rPr lang="en-US" b="1" dirty="0">
                <a:solidFill>
                  <a:srgbClr val="FFFF00"/>
                </a:solidFill>
              </a:rPr>
              <a:t>Paragraph Tag </a:t>
            </a:r>
            <a:r>
              <a:rPr lang="en-US" b="1" dirty="0"/>
              <a:t>- </a:t>
            </a:r>
            <a:r>
              <a:rPr lang="en-US" dirty="0"/>
              <a:t>Paragraph tag helps to structure your </a:t>
            </a:r>
            <a:r>
              <a:rPr lang="en-US" dirty="0" smtClean="0"/>
              <a:t>text.</a:t>
            </a:r>
          </a:p>
          <a:p>
            <a:r>
              <a:rPr lang="en-US" dirty="0" smtClean="0"/>
              <a:t>The text of a paragraph should be between opening and closing paragraph tag.</a:t>
            </a:r>
          </a:p>
          <a:p>
            <a:r>
              <a:rPr lang="en-US" b="1" dirty="0" smtClean="0">
                <a:solidFill>
                  <a:srgbClr val="FFFF00"/>
                </a:solidFill>
              </a:rPr>
              <a:t>Line break Tag </a:t>
            </a:r>
            <a:r>
              <a:rPr lang="en-US" b="1" dirty="0" smtClean="0"/>
              <a:t>- </a:t>
            </a:r>
            <a:r>
              <a:rPr lang="en-US" dirty="0" smtClean="0"/>
              <a:t>Break tag is used to start from next line. It is an empty element.</a:t>
            </a:r>
          </a:p>
          <a:p>
            <a:r>
              <a:rPr lang="en-US" b="1" dirty="0" smtClean="0">
                <a:solidFill>
                  <a:srgbClr val="FFFF00"/>
                </a:solidFill>
              </a:rPr>
              <a:t>Superscript </a:t>
            </a:r>
            <a:r>
              <a:rPr lang="en-US" b="1" dirty="0">
                <a:solidFill>
                  <a:srgbClr val="FFFF00"/>
                </a:solidFill>
              </a:rPr>
              <a:t>element </a:t>
            </a:r>
            <a:r>
              <a:rPr lang="en-US" dirty="0"/>
              <a:t>- It is used to display the text half above the normal line of text.</a:t>
            </a:r>
          </a:p>
          <a:p>
            <a:r>
              <a:rPr lang="en-US" b="1" dirty="0">
                <a:solidFill>
                  <a:srgbClr val="FFFF00"/>
                </a:solidFill>
              </a:rPr>
              <a:t>Subscript</a:t>
            </a:r>
            <a:r>
              <a:rPr lang="en-US" b="1" dirty="0"/>
              <a:t> </a:t>
            </a:r>
            <a:r>
              <a:rPr lang="en-US" dirty="0"/>
              <a:t>- It displays the </a:t>
            </a:r>
            <a:r>
              <a:rPr lang="en-US" dirty="0" smtClean="0"/>
              <a:t>specified </a:t>
            </a:r>
            <a:r>
              <a:rPr lang="en-US" dirty="0"/>
              <a:t>text below the base line.</a:t>
            </a:r>
            <a:endParaRPr lang="en-IN" dirty="0"/>
          </a:p>
        </p:txBody>
      </p:sp>
    </p:spTree>
    <p:extLst>
      <p:ext uri="{BB962C8B-B14F-4D97-AF65-F5344CB8AC3E}">
        <p14:creationId xmlns:p14="http://schemas.microsoft.com/office/powerpoint/2010/main" val="667694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grpId="0" nodeType="clickEffect">
                                  <p:stCondLst>
                                    <p:cond delay="0"/>
                                  </p:stCondLst>
                                  <p:childTnLst>
                                    <p:animEffect transition="out" filter="fade">
                                      <p:cBhvr>
                                        <p:cTn id="6" dur="2000"/>
                                        <p:tgtEl>
                                          <p:spTgt spid="3">
                                            <p:txEl>
                                              <p:pRg st="0" end="0"/>
                                            </p:txEl>
                                          </p:spTgt>
                                        </p:tgtEl>
                                      </p:cBhvr>
                                    </p:animEffect>
                                    <p:anim calcmode="lin" valueType="num">
                                      <p:cBhvr>
                                        <p:cTn id="7" dur="2000"/>
                                        <p:tgtEl>
                                          <p:spTgt spid="3">
                                            <p:txEl>
                                              <p:pRg st="0" end="0"/>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3">
                                            <p:txEl>
                                              <p:pRg st="0" end="0"/>
                                            </p:txEl>
                                          </p:spTgt>
                                        </p:tgtEl>
                                        <p:attrNameLst>
                                          <p:attrName>ppt_h</p:attrName>
                                        </p:attrNameLst>
                                      </p:cBhvr>
                                      <p:tavLst>
                                        <p:tav tm="0">
                                          <p:val>
                                            <p:strVal val="ppt_h"/>
                                          </p:val>
                                        </p:tav>
                                        <p:tav tm="100000">
                                          <p:val>
                                            <p:strVal val="ppt_h"/>
                                          </p:val>
                                        </p:tav>
                                      </p:tavLst>
                                    </p:anim>
                                    <p:set>
                                      <p:cBhvr>
                                        <p:cTn id="9" dur="1" fill="hold">
                                          <p:stCondLst>
                                            <p:cond delay="1999"/>
                                          </p:stCondLst>
                                        </p:cTn>
                                        <p:tgtEl>
                                          <p:spTgt spid="3">
                                            <p:txEl>
                                              <p:pRg st="0" end="0"/>
                                            </p:txEl>
                                          </p:spTgt>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5" presetClass="exit" presetSubtype="0" fill="hold" grpId="0" nodeType="clickEffect">
                                  <p:stCondLst>
                                    <p:cond delay="0"/>
                                  </p:stCondLst>
                                  <p:childTnLst>
                                    <p:animEffect transition="out" filter="fade">
                                      <p:cBhvr>
                                        <p:cTn id="13" dur="2000"/>
                                        <p:tgtEl>
                                          <p:spTgt spid="3">
                                            <p:txEl>
                                              <p:pRg st="1" end="1"/>
                                            </p:txEl>
                                          </p:spTgt>
                                        </p:tgtEl>
                                      </p:cBhvr>
                                    </p:animEffect>
                                    <p:anim calcmode="lin" valueType="num">
                                      <p:cBhvr>
                                        <p:cTn id="14" dur="2000"/>
                                        <p:tgtEl>
                                          <p:spTgt spid="3">
                                            <p:txEl>
                                              <p:pRg st="1" end="1"/>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5" dur="2000"/>
                                        <p:tgtEl>
                                          <p:spTgt spid="3">
                                            <p:txEl>
                                              <p:pRg st="1" end="1"/>
                                            </p:txEl>
                                          </p:spTgt>
                                        </p:tgtEl>
                                        <p:attrNameLst>
                                          <p:attrName>ppt_h</p:attrName>
                                        </p:attrNameLst>
                                      </p:cBhvr>
                                      <p:tavLst>
                                        <p:tav tm="0">
                                          <p:val>
                                            <p:strVal val="ppt_h"/>
                                          </p:val>
                                        </p:tav>
                                        <p:tav tm="100000">
                                          <p:val>
                                            <p:strVal val="ppt_h"/>
                                          </p:val>
                                        </p:tav>
                                      </p:tavLst>
                                    </p:anim>
                                    <p:set>
                                      <p:cBhvr>
                                        <p:cTn id="16" dur="1" fill="hold">
                                          <p:stCondLst>
                                            <p:cond delay="1999"/>
                                          </p:stCondLst>
                                        </p:cTn>
                                        <p:tgtEl>
                                          <p:spTgt spid="3">
                                            <p:txEl>
                                              <p:pRg st="1" end="1"/>
                                            </p:txEl>
                                          </p:spTgt>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5" presetClass="exit" presetSubtype="0" fill="hold" grpId="0" nodeType="clickEffect">
                                  <p:stCondLst>
                                    <p:cond delay="0"/>
                                  </p:stCondLst>
                                  <p:childTnLst>
                                    <p:animEffect transition="out" filter="fade">
                                      <p:cBhvr>
                                        <p:cTn id="20" dur="2000"/>
                                        <p:tgtEl>
                                          <p:spTgt spid="3">
                                            <p:txEl>
                                              <p:pRg st="2" end="2"/>
                                            </p:txEl>
                                          </p:spTgt>
                                        </p:tgtEl>
                                      </p:cBhvr>
                                    </p:animEffect>
                                    <p:anim calcmode="lin" valueType="num">
                                      <p:cBhvr>
                                        <p:cTn id="21" dur="2000"/>
                                        <p:tgtEl>
                                          <p:spTgt spid="3">
                                            <p:txEl>
                                              <p:pRg st="2" end="2"/>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2" dur="2000"/>
                                        <p:tgtEl>
                                          <p:spTgt spid="3">
                                            <p:txEl>
                                              <p:pRg st="2" end="2"/>
                                            </p:txEl>
                                          </p:spTgt>
                                        </p:tgtEl>
                                        <p:attrNameLst>
                                          <p:attrName>ppt_h</p:attrName>
                                        </p:attrNameLst>
                                      </p:cBhvr>
                                      <p:tavLst>
                                        <p:tav tm="0">
                                          <p:val>
                                            <p:strVal val="ppt_h"/>
                                          </p:val>
                                        </p:tav>
                                        <p:tav tm="100000">
                                          <p:val>
                                            <p:strVal val="ppt_h"/>
                                          </p:val>
                                        </p:tav>
                                      </p:tavLst>
                                    </p:anim>
                                    <p:set>
                                      <p:cBhvr>
                                        <p:cTn id="23" dur="1" fill="hold">
                                          <p:stCondLst>
                                            <p:cond delay="1999"/>
                                          </p:stCondLst>
                                        </p:cTn>
                                        <p:tgtEl>
                                          <p:spTgt spid="3">
                                            <p:txEl>
                                              <p:pRg st="2" end="2"/>
                                            </p:txEl>
                                          </p:spTgt>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5" presetClass="exit" presetSubtype="0" fill="hold" grpId="0" nodeType="clickEffect">
                                  <p:stCondLst>
                                    <p:cond delay="0"/>
                                  </p:stCondLst>
                                  <p:childTnLst>
                                    <p:animEffect transition="out" filter="fade">
                                      <p:cBhvr>
                                        <p:cTn id="27" dur="2000"/>
                                        <p:tgtEl>
                                          <p:spTgt spid="3">
                                            <p:txEl>
                                              <p:pRg st="3" end="3"/>
                                            </p:txEl>
                                          </p:spTgt>
                                        </p:tgtEl>
                                      </p:cBhvr>
                                    </p:animEffect>
                                    <p:anim calcmode="lin" valueType="num">
                                      <p:cBhvr>
                                        <p:cTn id="28" dur="2000"/>
                                        <p:tgtEl>
                                          <p:spTgt spid="3">
                                            <p:txEl>
                                              <p:pRg st="3" end="3"/>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9" dur="2000"/>
                                        <p:tgtEl>
                                          <p:spTgt spid="3">
                                            <p:txEl>
                                              <p:pRg st="3" end="3"/>
                                            </p:txEl>
                                          </p:spTgt>
                                        </p:tgtEl>
                                        <p:attrNameLst>
                                          <p:attrName>ppt_h</p:attrName>
                                        </p:attrNameLst>
                                      </p:cBhvr>
                                      <p:tavLst>
                                        <p:tav tm="0">
                                          <p:val>
                                            <p:strVal val="ppt_h"/>
                                          </p:val>
                                        </p:tav>
                                        <p:tav tm="100000">
                                          <p:val>
                                            <p:strVal val="ppt_h"/>
                                          </p:val>
                                        </p:tav>
                                      </p:tavLst>
                                    </p:anim>
                                    <p:set>
                                      <p:cBhvr>
                                        <p:cTn id="30" dur="1" fill="hold">
                                          <p:stCondLst>
                                            <p:cond delay="1999"/>
                                          </p:stCondLst>
                                        </p:cTn>
                                        <p:tgtEl>
                                          <p:spTgt spid="3">
                                            <p:txEl>
                                              <p:pRg st="3" end="3"/>
                                            </p:txEl>
                                          </p:spTgt>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45" presetClass="exit" presetSubtype="0" fill="hold" grpId="0" nodeType="clickEffect">
                                  <p:stCondLst>
                                    <p:cond delay="0"/>
                                  </p:stCondLst>
                                  <p:childTnLst>
                                    <p:animEffect transition="out" filter="fade">
                                      <p:cBhvr>
                                        <p:cTn id="34" dur="2000"/>
                                        <p:tgtEl>
                                          <p:spTgt spid="3">
                                            <p:txEl>
                                              <p:pRg st="4" end="4"/>
                                            </p:txEl>
                                          </p:spTgt>
                                        </p:tgtEl>
                                      </p:cBhvr>
                                    </p:animEffect>
                                    <p:anim calcmode="lin" valueType="num">
                                      <p:cBhvr>
                                        <p:cTn id="35" dur="2000"/>
                                        <p:tgtEl>
                                          <p:spTgt spid="3">
                                            <p:txEl>
                                              <p:pRg st="4" end="4"/>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36" dur="2000"/>
                                        <p:tgtEl>
                                          <p:spTgt spid="3">
                                            <p:txEl>
                                              <p:pRg st="4" end="4"/>
                                            </p:txEl>
                                          </p:spTgt>
                                        </p:tgtEl>
                                        <p:attrNameLst>
                                          <p:attrName>ppt_h</p:attrName>
                                        </p:attrNameLst>
                                      </p:cBhvr>
                                      <p:tavLst>
                                        <p:tav tm="0">
                                          <p:val>
                                            <p:strVal val="ppt_h"/>
                                          </p:val>
                                        </p:tav>
                                        <p:tav tm="100000">
                                          <p:val>
                                            <p:strVal val="ppt_h"/>
                                          </p:val>
                                        </p:tav>
                                      </p:tavLst>
                                    </p:anim>
                                    <p:set>
                                      <p:cBhvr>
                                        <p:cTn id="37" dur="1" fill="hold">
                                          <p:stCondLst>
                                            <p:cond delay="1999"/>
                                          </p:stCondLst>
                                        </p:cTn>
                                        <p:tgtEl>
                                          <p:spTgt spid="3">
                                            <p:txEl>
                                              <p:pRg st="4" end="4"/>
                                            </p:txEl>
                                          </p:spTgt>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45" presetClass="exit" presetSubtype="0" fill="hold" grpId="0" nodeType="clickEffect">
                                  <p:stCondLst>
                                    <p:cond delay="0"/>
                                  </p:stCondLst>
                                  <p:childTnLst>
                                    <p:animEffect transition="out" filter="fade">
                                      <p:cBhvr>
                                        <p:cTn id="41" dur="2000"/>
                                        <p:tgtEl>
                                          <p:spTgt spid="3">
                                            <p:txEl>
                                              <p:pRg st="5" end="5"/>
                                            </p:txEl>
                                          </p:spTgt>
                                        </p:tgtEl>
                                      </p:cBhvr>
                                    </p:animEffect>
                                    <p:anim calcmode="lin" valueType="num">
                                      <p:cBhvr>
                                        <p:cTn id="42" dur="2000"/>
                                        <p:tgtEl>
                                          <p:spTgt spid="3">
                                            <p:txEl>
                                              <p:pRg st="5" end="5"/>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43" dur="2000"/>
                                        <p:tgtEl>
                                          <p:spTgt spid="3">
                                            <p:txEl>
                                              <p:pRg st="5" end="5"/>
                                            </p:txEl>
                                          </p:spTgt>
                                        </p:tgtEl>
                                        <p:attrNameLst>
                                          <p:attrName>ppt_h</p:attrName>
                                        </p:attrNameLst>
                                      </p:cBhvr>
                                      <p:tavLst>
                                        <p:tav tm="0">
                                          <p:val>
                                            <p:strVal val="ppt_h"/>
                                          </p:val>
                                        </p:tav>
                                        <p:tav tm="100000">
                                          <p:val>
                                            <p:strVal val="ppt_h"/>
                                          </p:val>
                                        </p:tav>
                                      </p:tavLst>
                                    </p:anim>
                                    <p:set>
                                      <p:cBhvr>
                                        <p:cTn id="44" dur="1" fill="hold">
                                          <p:stCondLst>
                                            <p:cond delay="1999"/>
                                          </p:stCondLst>
                                        </p:cTn>
                                        <p:tgtEl>
                                          <p:spTgt spid="3">
                                            <p:txEl>
                                              <p:pRg st="5" end="5"/>
                                            </p:txEl>
                                          </p:spTgt>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5" presetClass="exit" presetSubtype="0" fill="hold" grpId="0" nodeType="clickEffect">
                                  <p:stCondLst>
                                    <p:cond delay="0"/>
                                  </p:stCondLst>
                                  <p:childTnLst>
                                    <p:animEffect transition="out" filter="fade">
                                      <p:cBhvr>
                                        <p:cTn id="48" dur="2000"/>
                                        <p:tgtEl>
                                          <p:spTgt spid="3">
                                            <p:txEl>
                                              <p:pRg st="6" end="6"/>
                                            </p:txEl>
                                          </p:spTgt>
                                        </p:tgtEl>
                                      </p:cBhvr>
                                    </p:animEffect>
                                    <p:anim calcmode="lin" valueType="num">
                                      <p:cBhvr>
                                        <p:cTn id="49" dur="2000"/>
                                        <p:tgtEl>
                                          <p:spTgt spid="3">
                                            <p:txEl>
                                              <p:pRg st="6" end="6"/>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50" dur="2000"/>
                                        <p:tgtEl>
                                          <p:spTgt spid="3">
                                            <p:txEl>
                                              <p:pRg st="6" end="6"/>
                                            </p:txEl>
                                          </p:spTgt>
                                        </p:tgtEl>
                                        <p:attrNameLst>
                                          <p:attrName>ppt_h</p:attrName>
                                        </p:attrNameLst>
                                      </p:cBhvr>
                                      <p:tavLst>
                                        <p:tav tm="0">
                                          <p:val>
                                            <p:strVal val="ppt_h"/>
                                          </p:val>
                                        </p:tav>
                                        <p:tav tm="100000">
                                          <p:val>
                                            <p:strVal val="ppt_h"/>
                                          </p:val>
                                        </p:tav>
                                      </p:tavLst>
                                    </p:anim>
                                    <p:set>
                                      <p:cBhvr>
                                        <p:cTn id="51" dur="1" fill="hold">
                                          <p:stCondLst>
                                            <p:cond delay="1999"/>
                                          </p:stCondLst>
                                        </p:cTn>
                                        <p:tgtEl>
                                          <p:spTgt spid="3">
                                            <p:txEl>
                                              <p:pRg st="6" end="6"/>
                                            </p:txEl>
                                          </p:spTgt>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45" presetClass="exit" presetSubtype="0" fill="hold" grpId="0" nodeType="clickEffect">
                                  <p:stCondLst>
                                    <p:cond delay="0"/>
                                  </p:stCondLst>
                                  <p:childTnLst>
                                    <p:animEffect transition="out" filter="fade">
                                      <p:cBhvr>
                                        <p:cTn id="55" dur="2000"/>
                                        <p:tgtEl>
                                          <p:spTgt spid="3">
                                            <p:txEl>
                                              <p:pRg st="7" end="7"/>
                                            </p:txEl>
                                          </p:spTgt>
                                        </p:tgtEl>
                                      </p:cBhvr>
                                    </p:animEffect>
                                    <p:anim calcmode="lin" valueType="num">
                                      <p:cBhvr>
                                        <p:cTn id="56" dur="2000"/>
                                        <p:tgtEl>
                                          <p:spTgt spid="3">
                                            <p:txEl>
                                              <p:pRg st="7" end="7"/>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57" dur="2000"/>
                                        <p:tgtEl>
                                          <p:spTgt spid="3">
                                            <p:txEl>
                                              <p:pRg st="7" end="7"/>
                                            </p:txEl>
                                          </p:spTgt>
                                        </p:tgtEl>
                                        <p:attrNameLst>
                                          <p:attrName>ppt_h</p:attrName>
                                        </p:attrNameLst>
                                      </p:cBhvr>
                                      <p:tavLst>
                                        <p:tav tm="0">
                                          <p:val>
                                            <p:strVal val="ppt_h"/>
                                          </p:val>
                                        </p:tav>
                                        <p:tav tm="100000">
                                          <p:val>
                                            <p:strVal val="ppt_h"/>
                                          </p:val>
                                        </p:tav>
                                      </p:tavLst>
                                    </p:anim>
                                    <p:set>
                                      <p:cBhvr>
                                        <p:cTn id="58" dur="1" fill="hold">
                                          <p:stCondLst>
                                            <p:cond delay="1999"/>
                                          </p:stCondLst>
                                        </p:cTn>
                                        <p:tgtEl>
                                          <p:spTgt spid="3">
                                            <p:txEl>
                                              <p:pRg st="7" end="7"/>
                                            </p:txEl>
                                          </p:spTgt>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45" presetClass="exit" presetSubtype="0" fill="hold" grpId="0" nodeType="clickEffect">
                                  <p:stCondLst>
                                    <p:cond delay="0"/>
                                  </p:stCondLst>
                                  <p:childTnLst>
                                    <p:animEffect transition="out" filter="fade">
                                      <p:cBhvr>
                                        <p:cTn id="62" dur="2000"/>
                                        <p:tgtEl>
                                          <p:spTgt spid="3">
                                            <p:txEl>
                                              <p:pRg st="8" end="8"/>
                                            </p:txEl>
                                          </p:spTgt>
                                        </p:tgtEl>
                                      </p:cBhvr>
                                    </p:animEffect>
                                    <p:anim calcmode="lin" valueType="num">
                                      <p:cBhvr>
                                        <p:cTn id="63" dur="2000"/>
                                        <p:tgtEl>
                                          <p:spTgt spid="3">
                                            <p:txEl>
                                              <p:pRg st="8" end="8"/>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64" dur="2000"/>
                                        <p:tgtEl>
                                          <p:spTgt spid="3">
                                            <p:txEl>
                                              <p:pRg st="8" end="8"/>
                                            </p:txEl>
                                          </p:spTgt>
                                        </p:tgtEl>
                                        <p:attrNameLst>
                                          <p:attrName>ppt_h</p:attrName>
                                        </p:attrNameLst>
                                      </p:cBhvr>
                                      <p:tavLst>
                                        <p:tav tm="0">
                                          <p:val>
                                            <p:strVal val="ppt_h"/>
                                          </p:val>
                                        </p:tav>
                                        <p:tav tm="100000">
                                          <p:val>
                                            <p:strVal val="ppt_h"/>
                                          </p:val>
                                        </p:tav>
                                      </p:tavLst>
                                    </p:anim>
                                    <p:set>
                                      <p:cBhvr>
                                        <p:cTn id="65" dur="1" fill="hold">
                                          <p:stCondLst>
                                            <p:cond delay="1999"/>
                                          </p:stCondLst>
                                        </p:cTn>
                                        <p:tgtEl>
                                          <p:spTgt spid="3">
                                            <p:txEl>
                                              <p:pRg st="8" end="8"/>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9532" y="731519"/>
            <a:ext cx="10437223" cy="4124206"/>
          </a:xfrm>
          <a:prstGeom prst="rect">
            <a:avLst/>
          </a:prstGeom>
        </p:spPr>
        <p:txBody>
          <a:bodyPr wrap="square">
            <a:spAutoFit/>
          </a:bodyPr>
          <a:lstStyle/>
          <a:p>
            <a:pPr algn="just"/>
            <a:r>
              <a:rPr lang="en-US" sz="2000" b="1" dirty="0">
                <a:solidFill>
                  <a:srgbClr val="FFFF00"/>
                </a:solidFill>
                <a:latin typeface="Calibri" panose="020F0502020204030204" pitchFamily="34" charset="0"/>
                <a:cs typeface="Calibri" panose="020F0502020204030204" pitchFamily="34" charset="0"/>
              </a:rPr>
              <a:t>Marquee Tag </a:t>
            </a:r>
            <a:r>
              <a:rPr lang="en-US" sz="2000" b="1" dirty="0">
                <a:latin typeface="Calibri" panose="020F0502020204030204" pitchFamily="34" charset="0"/>
                <a:cs typeface="Calibri" panose="020F0502020204030204" pitchFamily="34" charset="0"/>
              </a:rPr>
              <a:t>-</a:t>
            </a:r>
            <a:r>
              <a:rPr lang="en-US" sz="2000" b="1" dirty="0">
                <a:solidFill>
                  <a:srgbClr val="00FF00"/>
                </a:solidFill>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In HTML a Marquee tag is used to scroll piece of text displayed either </a:t>
            </a:r>
            <a:r>
              <a:rPr lang="en-US" sz="2000" dirty="0" smtClean="0">
                <a:latin typeface="Calibri" panose="020F0502020204030204" pitchFamily="34" charset="0"/>
                <a:cs typeface="Calibri" panose="020F0502020204030204" pitchFamily="34" charset="0"/>
              </a:rPr>
              <a:t>horizontally or     vertically </a:t>
            </a:r>
            <a:r>
              <a:rPr lang="en-US" sz="2000" dirty="0">
                <a:latin typeface="Calibri" panose="020F0502020204030204" pitchFamily="34" charset="0"/>
                <a:cs typeface="Calibri" panose="020F0502020204030204" pitchFamily="34" charset="0"/>
              </a:rPr>
              <a:t>on the webpage depending on the </a:t>
            </a:r>
            <a:r>
              <a:rPr lang="en-US" sz="2000" dirty="0" smtClean="0">
                <a:latin typeface="Calibri" panose="020F0502020204030204" pitchFamily="34" charset="0"/>
                <a:cs typeface="Calibri" panose="020F0502020204030204" pitchFamily="34" charset="0"/>
              </a:rPr>
              <a:t>settings.</a:t>
            </a:r>
          </a:p>
          <a:p>
            <a:pPr algn="just"/>
            <a:r>
              <a:rPr lang="en-US" sz="2000" b="1" dirty="0" smtClean="0">
                <a:solidFill>
                  <a:srgbClr val="FFFF00"/>
                </a:solidFill>
                <a:latin typeface="Calibri" panose="020F0502020204030204" pitchFamily="34" charset="0"/>
                <a:cs typeface="Calibri" panose="020F0502020204030204" pitchFamily="34" charset="0"/>
              </a:rPr>
              <a:t>HTML </a:t>
            </a:r>
            <a:r>
              <a:rPr lang="en-US" sz="2000" b="1" dirty="0">
                <a:solidFill>
                  <a:srgbClr val="FFFF00"/>
                </a:solidFill>
                <a:latin typeface="Calibri" panose="020F0502020204030204" pitchFamily="34" charset="0"/>
                <a:cs typeface="Calibri" panose="020F0502020204030204" pitchFamily="34" charset="0"/>
              </a:rPr>
              <a:t>Comments </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HTML comments will be ignored by the browser, although they can be </a:t>
            </a:r>
            <a:r>
              <a:rPr lang="en-US" sz="2000" dirty="0" smtClean="0">
                <a:latin typeface="Calibri" panose="020F0502020204030204" pitchFamily="34" charset="0"/>
                <a:cs typeface="Calibri" panose="020F0502020204030204" pitchFamily="34" charset="0"/>
              </a:rPr>
              <a:t>viewed</a:t>
            </a:r>
          </a:p>
          <a:p>
            <a:pPr algn="just"/>
            <a:r>
              <a:rPr lang="en-US" sz="2000" dirty="0" smtClean="0">
                <a:latin typeface="Calibri" panose="020F0502020204030204" pitchFamily="34" charset="0"/>
                <a:cs typeface="Calibri" panose="020F0502020204030204" pitchFamily="34" charset="0"/>
              </a:rPr>
              <a:t>in </a:t>
            </a:r>
            <a:r>
              <a:rPr lang="en-IN" sz="2000" dirty="0" smtClean="0">
                <a:latin typeface="Calibri" panose="020F0502020204030204" pitchFamily="34" charset="0"/>
                <a:cs typeface="Calibri" panose="020F0502020204030204" pitchFamily="34" charset="0"/>
              </a:rPr>
              <a:t>the </a:t>
            </a:r>
            <a:r>
              <a:rPr lang="en-IN" sz="2000" dirty="0">
                <a:latin typeface="Calibri" panose="020F0502020204030204" pitchFamily="34" charset="0"/>
                <a:cs typeface="Calibri" panose="020F0502020204030204" pitchFamily="34" charset="0"/>
              </a:rPr>
              <a:t>source </a:t>
            </a:r>
            <a:r>
              <a:rPr lang="en-IN" sz="2000" dirty="0" smtClean="0">
                <a:latin typeface="Calibri" panose="020F0502020204030204" pitchFamily="34" charset="0"/>
                <a:cs typeface="Calibri" panose="020F0502020204030204" pitchFamily="34" charset="0"/>
              </a:rPr>
              <a:t>code.</a:t>
            </a:r>
          </a:p>
          <a:p>
            <a:pPr algn="just"/>
            <a:r>
              <a:rPr lang="en-US" sz="2000" b="1" dirty="0" smtClean="0">
                <a:solidFill>
                  <a:srgbClr val="FFFF00"/>
                </a:solidFill>
                <a:latin typeface="Calibri" panose="020F0502020204030204" pitchFamily="34" charset="0"/>
                <a:cs typeface="Calibri" panose="020F0502020204030204" pitchFamily="34" charset="0"/>
              </a:rPr>
              <a:t>List </a:t>
            </a:r>
            <a:r>
              <a:rPr lang="en-US" sz="2000" b="1" dirty="0">
                <a:solidFill>
                  <a:srgbClr val="FFFF00"/>
                </a:solidFill>
                <a:latin typeface="Calibri" panose="020F0502020204030204" pitchFamily="34" charset="0"/>
                <a:cs typeface="Calibri" panose="020F0502020204030204" pitchFamily="34" charset="0"/>
              </a:rPr>
              <a:t>Elements </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HTML provides a number of list elements that would help in creating different </a:t>
            </a:r>
            <a:r>
              <a:rPr lang="en-US" sz="2000" dirty="0" smtClean="0">
                <a:latin typeface="Calibri" panose="020F0502020204030204" pitchFamily="34" charset="0"/>
                <a:cs typeface="Calibri" panose="020F0502020204030204" pitchFamily="34" charset="0"/>
              </a:rPr>
              <a:t> types  </a:t>
            </a:r>
            <a:r>
              <a:rPr lang="en-IN" sz="2000" dirty="0" smtClean="0">
                <a:latin typeface="Calibri" panose="020F0502020204030204" pitchFamily="34" charset="0"/>
                <a:cs typeface="Calibri" panose="020F0502020204030204" pitchFamily="34" charset="0"/>
              </a:rPr>
              <a:t>of </a:t>
            </a:r>
            <a:r>
              <a:rPr lang="en-IN" sz="2000" dirty="0">
                <a:latin typeface="Calibri" panose="020F0502020204030204" pitchFamily="34" charset="0"/>
                <a:cs typeface="Calibri" panose="020F0502020204030204" pitchFamily="34" charset="0"/>
              </a:rPr>
              <a:t>lists.</a:t>
            </a:r>
          </a:p>
          <a:p>
            <a:pPr algn="just"/>
            <a:r>
              <a:rPr lang="en-US" sz="2000" b="1" dirty="0">
                <a:solidFill>
                  <a:srgbClr val="FFFF00"/>
                </a:solidFill>
                <a:latin typeface="Calibri" panose="020F0502020204030204" pitchFamily="34" charset="0"/>
                <a:cs typeface="Calibri" panose="020F0502020204030204" pitchFamily="34" charset="0"/>
              </a:rPr>
              <a:t>Unordered list </a:t>
            </a:r>
            <a:r>
              <a:rPr lang="en-US" sz="2000" b="1" dirty="0">
                <a:latin typeface="Calibri" panose="020F0502020204030204" pitchFamily="34" charset="0"/>
                <a:cs typeface="Calibri" panose="020F0502020204030204" pitchFamily="34" charset="0"/>
              </a:rPr>
              <a:t>-</a:t>
            </a:r>
            <a:r>
              <a:rPr lang="en-US" sz="2000" dirty="0">
                <a:latin typeface="Calibri" panose="020F0502020204030204" pitchFamily="34" charset="0"/>
                <a:cs typeface="Calibri" panose="020F0502020204030204" pitchFamily="34" charset="0"/>
              </a:rPr>
              <a:t> An Unordered list element is used to insert a bulleted list.</a:t>
            </a:r>
          </a:p>
          <a:p>
            <a:pPr algn="just"/>
            <a:r>
              <a:rPr lang="en-US" sz="2000" b="1" dirty="0">
                <a:solidFill>
                  <a:srgbClr val="FFFF00"/>
                </a:solidFill>
                <a:latin typeface="Calibri" panose="020F0502020204030204" pitchFamily="34" charset="0"/>
                <a:cs typeface="Calibri" panose="020F0502020204030204" pitchFamily="34" charset="0"/>
              </a:rPr>
              <a:t>Ordered list </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An ordered list element is used to insert a numbered list. The start </a:t>
            </a:r>
            <a:r>
              <a:rPr lang="en-US" sz="2000" dirty="0" smtClean="0">
                <a:latin typeface="Calibri" panose="020F0502020204030204" pitchFamily="34" charset="0"/>
                <a:cs typeface="Calibri" panose="020F0502020204030204" pitchFamily="34" charset="0"/>
              </a:rPr>
              <a:t>attribute  specifies          the </a:t>
            </a:r>
            <a:r>
              <a:rPr lang="en-US" sz="2000" dirty="0">
                <a:latin typeface="Calibri" panose="020F0502020204030204" pitchFamily="34" charset="0"/>
                <a:cs typeface="Calibri" panose="020F0502020204030204" pitchFamily="34" charset="0"/>
              </a:rPr>
              <a:t>start value of the </a:t>
            </a:r>
            <a:r>
              <a:rPr lang="en-US" sz="2000" dirty="0" smtClean="0">
                <a:latin typeface="Calibri" panose="020F0502020204030204" pitchFamily="34" charset="0"/>
                <a:cs typeface="Calibri" panose="020F0502020204030204" pitchFamily="34" charset="0"/>
              </a:rPr>
              <a:t>first </a:t>
            </a:r>
            <a:r>
              <a:rPr lang="en-US" sz="2000" dirty="0">
                <a:latin typeface="Calibri" panose="020F0502020204030204" pitchFamily="34" charset="0"/>
                <a:cs typeface="Calibri" panose="020F0502020204030204" pitchFamily="34" charset="0"/>
              </a:rPr>
              <a:t>list item in an ordered list.</a:t>
            </a:r>
          </a:p>
          <a:p>
            <a:pPr algn="just"/>
            <a:r>
              <a:rPr lang="en-US" sz="2000" b="1" dirty="0">
                <a:solidFill>
                  <a:srgbClr val="FFFF00"/>
                </a:solidFill>
                <a:latin typeface="Calibri" panose="020F0502020204030204" pitchFamily="34" charset="0"/>
                <a:cs typeface="Calibri" panose="020F0502020204030204" pitchFamily="34" charset="0"/>
              </a:rPr>
              <a:t>Nested list </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Nested list means a list within a list. Like an ordered list can have unordered list within it.</a:t>
            </a:r>
          </a:p>
          <a:p>
            <a:pPr algn="just"/>
            <a:r>
              <a:rPr lang="en-US" sz="2000" b="1" dirty="0">
                <a:solidFill>
                  <a:srgbClr val="FFFF00"/>
                </a:solidFill>
                <a:latin typeface="Calibri" panose="020F0502020204030204" pitchFamily="34" charset="0"/>
                <a:cs typeface="Calibri" panose="020F0502020204030204" pitchFamily="34" charset="0"/>
              </a:rPr>
              <a:t>Scrollable list box </a:t>
            </a:r>
            <a:r>
              <a:rPr lang="en-US" sz="2000" b="1" dirty="0">
                <a:latin typeface="Calibri" panose="020F0502020204030204" pitchFamily="34" charset="0"/>
                <a:cs typeface="Calibri" panose="020F0502020204030204" pitchFamily="34" charset="0"/>
              </a:rPr>
              <a:t>-</a:t>
            </a:r>
            <a:r>
              <a:rPr lang="en-US" sz="2000" dirty="0">
                <a:latin typeface="Calibri" panose="020F0502020204030204" pitchFamily="34" charset="0"/>
                <a:cs typeface="Calibri" panose="020F0502020204030204" pitchFamily="34" charset="0"/>
              </a:rPr>
              <a:t> It is used when there are multiple answers to be selected from a list of items.</a:t>
            </a:r>
          </a:p>
          <a:p>
            <a:pPr algn="just"/>
            <a:r>
              <a:rPr lang="en-US" sz="2000" b="1" dirty="0">
                <a:solidFill>
                  <a:srgbClr val="FFFF00"/>
                </a:solidFill>
                <a:latin typeface="Calibri" panose="020F0502020204030204" pitchFamily="34" charset="0"/>
                <a:cs typeface="Calibri" panose="020F0502020204030204" pitchFamily="34" charset="0"/>
              </a:rPr>
              <a:t>Image Tag </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&lt;Img&gt; the browser supports various image formats</a:t>
            </a:r>
            <a:r>
              <a:rPr lang="en-US" sz="2200" dirty="0" smtClean="0">
                <a:latin typeface="Calibri" panose="020F0502020204030204" pitchFamily="34" charset="0"/>
                <a:cs typeface="Calibri" panose="020F0502020204030204" pitchFamily="34" charset="0"/>
              </a:rPr>
              <a:t>.  </a:t>
            </a:r>
            <a:endParaRPr lang="en-IN"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320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grpId="0" nodeType="clickEffect">
                                  <p:stCondLst>
                                    <p:cond delay="0"/>
                                  </p:stCondLst>
                                  <p:childTnLst>
                                    <p:anim calcmode="lin" valueType="num">
                                      <p:cBhvr>
                                        <p:cTn id="6" dur="1000"/>
                                        <p:tgtEl>
                                          <p:spTgt spid="2"/>
                                        </p:tgtEl>
                                        <p:attrNameLst>
                                          <p:attrName>ppt_w</p:attrName>
                                        </p:attrNameLst>
                                      </p:cBhvr>
                                      <p:tavLst>
                                        <p:tav tm="0">
                                          <p:val>
                                            <p:strVal val="ppt_w"/>
                                          </p:val>
                                        </p:tav>
                                        <p:tav tm="100000">
                                          <p:val>
                                            <p:fltVal val="0"/>
                                          </p:val>
                                        </p:tav>
                                      </p:tavLst>
                                    </p:anim>
                                    <p:anim calcmode="lin" valueType="num">
                                      <p:cBhvr>
                                        <p:cTn id="7" dur="1000"/>
                                        <p:tgtEl>
                                          <p:spTgt spid="2"/>
                                        </p:tgtEl>
                                        <p:attrNameLst>
                                          <p:attrName>ppt_h</p:attrName>
                                        </p:attrNameLst>
                                      </p:cBhvr>
                                      <p:tavLst>
                                        <p:tav tm="0">
                                          <p:val>
                                            <p:strVal val="ppt_h"/>
                                          </p:val>
                                        </p:tav>
                                        <p:tav tm="100000">
                                          <p:val>
                                            <p:fltVal val="0"/>
                                          </p:val>
                                        </p:tav>
                                      </p:tavLst>
                                    </p:anim>
                                    <p:anim calcmode="lin" valueType="num">
                                      <p:cBhvr>
                                        <p:cTn id="8" dur="1000"/>
                                        <p:tgtEl>
                                          <p:spTgt spid="2"/>
                                        </p:tgtEl>
                                        <p:attrNameLst>
                                          <p:attrName>style.rotation</p:attrName>
                                        </p:attrNameLst>
                                      </p:cBhvr>
                                      <p:tavLst>
                                        <p:tav tm="0">
                                          <p:val>
                                            <p:fltVal val="0"/>
                                          </p:val>
                                        </p:tav>
                                        <p:tav tm="100000">
                                          <p:val>
                                            <p:fltVal val="90"/>
                                          </p:val>
                                        </p:tav>
                                      </p:tavLst>
                                    </p:anim>
                                    <p:animEffect transition="out" filter="fade">
                                      <p:cBhvr>
                                        <p:cTn id="9" dur="1000"/>
                                        <p:tgtEl>
                                          <p:spTgt spid="2"/>
                                        </p:tgtEl>
                                      </p:cBhvr>
                                    </p:animEffect>
                                    <p:set>
                                      <p:cBhvr>
                                        <p:cTn id="10"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32365" y="613956"/>
            <a:ext cx="3866606" cy="769441"/>
          </a:xfrm>
          <a:prstGeom prst="rect">
            <a:avLst/>
          </a:prstGeom>
          <a:noFill/>
        </p:spPr>
        <p:txBody>
          <a:bodyPr wrap="square" rtlCol="0">
            <a:spAutoFit/>
          </a:bodyPr>
          <a:lstStyle/>
          <a:p>
            <a:r>
              <a:rPr lang="en-US" sz="4400" dirty="0" smtClean="0">
                <a:solidFill>
                  <a:srgbClr val="FFFF00"/>
                </a:solidFill>
              </a:rPr>
              <a:t>INTRODUCTION</a:t>
            </a:r>
            <a:endParaRPr lang="en-IN" sz="4400" dirty="0">
              <a:solidFill>
                <a:srgbClr val="FFFF00"/>
              </a:solidFill>
            </a:endParaRPr>
          </a:p>
        </p:txBody>
      </p:sp>
      <p:sp>
        <p:nvSpPr>
          <p:cNvPr id="3" name="TextBox 2"/>
          <p:cNvSpPr txBox="1"/>
          <p:nvPr/>
        </p:nvSpPr>
        <p:spPr>
          <a:xfrm>
            <a:off x="2024742" y="1489167"/>
            <a:ext cx="8556172" cy="4832092"/>
          </a:xfrm>
          <a:prstGeom prst="rect">
            <a:avLst/>
          </a:prstGeom>
          <a:noFill/>
        </p:spPr>
        <p:txBody>
          <a:bodyPr wrap="square" rtlCol="0">
            <a:spAutoFit/>
          </a:bodyPr>
          <a:lstStyle/>
          <a:p>
            <a:pPr marL="342900" indent="-342900">
              <a:buFont typeface="Wingdings" panose="05000000000000000000" pitchFamily="2" charset="2"/>
              <a:buChar char="Ø"/>
            </a:pPr>
            <a:r>
              <a:rPr lang="en-US" sz="2200" dirty="0">
                <a:latin typeface="Calibri" panose="020F0502020204030204" pitchFamily="34" charset="0"/>
                <a:cs typeface="Calibri" panose="020F0502020204030204" pitchFamily="34" charset="0"/>
              </a:rPr>
              <a:t>Cascading Style Sheet(CSS) is one of the commonly used presentational technologies to design </a:t>
            </a:r>
            <a:r>
              <a:rPr lang="en-US" sz="2200" dirty="0" smtClean="0">
                <a:latin typeface="Calibri" panose="020F0502020204030204" pitchFamily="34" charset="0"/>
                <a:cs typeface="Calibri" panose="020F0502020204030204" pitchFamily="34" charset="0"/>
              </a:rPr>
              <a:t>the web </a:t>
            </a:r>
            <a:r>
              <a:rPr lang="en-US" sz="2200" dirty="0">
                <a:latin typeface="Calibri" panose="020F0502020204030204" pitchFamily="34" charset="0"/>
                <a:cs typeface="Calibri" panose="020F0502020204030204" pitchFamily="34" charset="0"/>
              </a:rPr>
              <a:t>content written in HTML in a more sophisticated way. </a:t>
            </a:r>
            <a:endParaRPr lang="en-US" sz="2200" dirty="0" smtClean="0">
              <a:latin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2200" dirty="0" smtClean="0">
                <a:latin typeface="Calibri" panose="020F0502020204030204" pitchFamily="34" charset="0"/>
                <a:cs typeface="Calibri" panose="020F0502020204030204" pitchFamily="34" charset="0"/>
              </a:rPr>
              <a:t>CSS </a:t>
            </a:r>
            <a:r>
              <a:rPr lang="en-US" sz="2200" dirty="0">
                <a:latin typeface="Calibri" panose="020F0502020204030204" pitchFamily="34" charset="0"/>
                <a:cs typeface="Calibri" panose="020F0502020204030204" pitchFamily="34" charset="0"/>
              </a:rPr>
              <a:t>makes the content of the </a:t>
            </a:r>
            <a:r>
              <a:rPr lang="en-US" sz="2200" dirty="0" smtClean="0">
                <a:latin typeface="Calibri" panose="020F0502020204030204" pitchFamily="34" charset="0"/>
                <a:cs typeface="Calibri" panose="020F0502020204030204" pitchFamily="34" charset="0"/>
              </a:rPr>
              <a:t>website looks </a:t>
            </a:r>
            <a:r>
              <a:rPr lang="en-US" sz="2200" dirty="0">
                <a:latin typeface="Calibri" panose="020F0502020204030204" pitchFamily="34" charset="0"/>
                <a:cs typeface="Calibri" panose="020F0502020204030204" pitchFamily="34" charset="0"/>
              </a:rPr>
              <a:t>more attractive by increasing the expressive style and creativity. </a:t>
            </a:r>
            <a:endParaRPr lang="en-US" sz="2200" dirty="0" smtClean="0">
              <a:latin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2200" dirty="0" smtClean="0">
                <a:latin typeface="Calibri" panose="020F0502020204030204" pitchFamily="34" charset="0"/>
                <a:cs typeface="Calibri" panose="020F0502020204030204" pitchFamily="34" charset="0"/>
              </a:rPr>
              <a:t>It </a:t>
            </a:r>
            <a:r>
              <a:rPr lang="en-US" sz="2200" dirty="0">
                <a:latin typeface="Calibri" panose="020F0502020204030204" pitchFamily="34" charset="0"/>
                <a:cs typeface="Calibri" panose="020F0502020204030204" pitchFamily="34" charset="0"/>
              </a:rPr>
              <a:t>works with fonts, </a:t>
            </a:r>
            <a:r>
              <a:rPr lang="en-US" sz="2200" dirty="0" smtClean="0">
                <a:latin typeface="Calibri" panose="020F0502020204030204" pitchFamily="34" charset="0"/>
                <a:cs typeface="Calibri" panose="020F0502020204030204" pitchFamily="34" charset="0"/>
              </a:rPr>
              <a:t>layouts, spacing </a:t>
            </a:r>
            <a:r>
              <a:rPr lang="en-US" sz="2200" dirty="0">
                <a:latin typeface="Calibri" panose="020F0502020204030204" pitchFamily="34" charset="0"/>
                <a:cs typeface="Calibri" panose="020F0502020204030204" pitchFamily="34" charset="0"/>
              </a:rPr>
              <a:t>and colors of the text and give it more professional look.</a:t>
            </a:r>
          </a:p>
          <a:p>
            <a:pPr marL="342900" indent="-342900">
              <a:buFont typeface="Wingdings" panose="05000000000000000000" pitchFamily="2" charset="2"/>
              <a:buChar char="Ø"/>
            </a:pPr>
            <a:r>
              <a:rPr lang="en-US" sz="2200" dirty="0">
                <a:latin typeface="Calibri" panose="020F0502020204030204" pitchFamily="34" charset="0"/>
                <a:cs typeface="Calibri" panose="020F0502020204030204" pitchFamily="34" charset="0"/>
              </a:rPr>
              <a:t>The word cascading in CSS describes a cascading mechanism. </a:t>
            </a:r>
            <a:endParaRPr lang="en-US" sz="2200" dirty="0" smtClean="0">
              <a:latin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2200" dirty="0" smtClean="0">
                <a:latin typeface="Calibri" panose="020F0502020204030204" pitchFamily="34" charset="0"/>
                <a:cs typeface="Calibri" panose="020F0502020204030204" pitchFamily="34" charset="0"/>
              </a:rPr>
              <a:t>The </a:t>
            </a:r>
            <a:r>
              <a:rPr lang="en-US" sz="2200" dirty="0">
                <a:latin typeface="Calibri" panose="020F0502020204030204" pitchFamily="34" charset="0"/>
                <a:cs typeface="Calibri" panose="020F0502020204030204" pitchFamily="34" charset="0"/>
              </a:rPr>
              <a:t>cascade </a:t>
            </a:r>
            <a:r>
              <a:rPr lang="en-US" sz="2200" dirty="0" smtClean="0">
                <a:latin typeface="Calibri" panose="020F0502020204030204" pitchFamily="34" charset="0"/>
                <a:cs typeface="Calibri" panose="020F0502020204030204" pitchFamily="34" charset="0"/>
              </a:rPr>
              <a:t>defines </a:t>
            </a:r>
            <a:r>
              <a:rPr lang="en-US" sz="2200" dirty="0">
                <a:latin typeface="Calibri" panose="020F0502020204030204" pitchFamily="34" charset="0"/>
                <a:cs typeface="Calibri" panose="020F0502020204030204" pitchFamily="34" charset="0"/>
              </a:rPr>
              <a:t>the </a:t>
            </a:r>
            <a:r>
              <a:rPr lang="en-US" sz="2200" dirty="0" smtClean="0">
                <a:latin typeface="Calibri" panose="020F0502020204030204" pitchFamily="34" charset="0"/>
                <a:cs typeface="Calibri" panose="020F0502020204030204" pitchFamily="34" charset="0"/>
              </a:rPr>
              <a:t>specific</a:t>
            </a:r>
            <a:r>
              <a:rPr lang="en-US" sz="2200" dirty="0">
                <a:latin typeface="Calibri" panose="020F0502020204030204" pitchFamily="34" charset="0"/>
                <a:cs typeface="Calibri" panose="020F0502020204030204" pitchFamily="34" charset="0"/>
              </a:rPr>
              <a:t> </a:t>
            </a:r>
            <a:r>
              <a:rPr lang="en-US" sz="2200" dirty="0" smtClean="0">
                <a:latin typeface="Calibri" panose="020F0502020204030204" pitchFamily="34" charset="0"/>
                <a:cs typeface="Calibri" panose="020F0502020204030204" pitchFamily="34" charset="0"/>
              </a:rPr>
              <a:t>styles </a:t>
            </a:r>
            <a:r>
              <a:rPr lang="en-US" sz="2200" dirty="0">
                <a:latin typeface="Calibri" panose="020F0502020204030204" pitchFamily="34" charset="0"/>
                <a:cs typeface="Calibri" panose="020F0502020204030204" pitchFamily="34" charset="0"/>
              </a:rPr>
              <a:t>that could be applied to different tags or even the same tags appearing more than once in </a:t>
            </a:r>
            <a:r>
              <a:rPr lang="en-US" sz="2200" dirty="0" smtClean="0">
                <a:latin typeface="Calibri" panose="020F0502020204030204" pitchFamily="34" charset="0"/>
                <a:cs typeface="Calibri" panose="020F0502020204030204" pitchFamily="34" charset="0"/>
              </a:rPr>
              <a:t>the document</a:t>
            </a:r>
            <a:r>
              <a:rPr lang="en-US" sz="2200" dirty="0">
                <a:latin typeface="Calibri" panose="020F0502020204030204" pitchFamily="34" charset="0"/>
                <a:cs typeface="Calibri" panose="020F0502020204030204" pitchFamily="34" charset="0"/>
              </a:rPr>
              <a:t>. </a:t>
            </a:r>
            <a:endParaRPr lang="en-US" sz="2200" dirty="0" smtClean="0">
              <a:latin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2200" dirty="0" smtClean="0">
                <a:latin typeface="Calibri" panose="020F0502020204030204" pitchFamily="34" charset="0"/>
                <a:cs typeface="Calibri" panose="020F0502020204030204" pitchFamily="34" charset="0"/>
              </a:rPr>
              <a:t>For </a:t>
            </a:r>
            <a:r>
              <a:rPr lang="en-US" sz="2200" dirty="0">
                <a:latin typeface="Calibri" panose="020F0502020204030204" pitchFamily="34" charset="0"/>
                <a:cs typeface="Calibri" panose="020F0502020204030204" pitchFamily="34" charset="0"/>
              </a:rPr>
              <a:t>example, if two &lt;p&gt; tags appear in the document, then using CSS, we can </a:t>
            </a:r>
            <a:r>
              <a:rPr lang="en-US" sz="2200" dirty="0" smtClean="0">
                <a:latin typeface="Calibri" panose="020F0502020204030204" pitchFamily="34" charset="0"/>
                <a:cs typeface="Calibri" panose="020F0502020204030204" pitchFamily="34" charset="0"/>
              </a:rPr>
              <a:t>cascade different colors </a:t>
            </a:r>
            <a:r>
              <a:rPr lang="en-US" sz="2200" dirty="0">
                <a:latin typeface="Calibri" panose="020F0502020204030204" pitchFamily="34" charset="0"/>
                <a:cs typeface="Calibri" panose="020F0502020204030204" pitchFamily="34" charset="0"/>
              </a:rPr>
              <a:t>for the text appearing with each &lt;p&gt; tag.</a:t>
            </a:r>
            <a:endParaRPr lang="en-IN"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4770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grpId="0" nodeType="clickEffect">
                                  <p:stCondLst>
                                    <p:cond delay="0"/>
                                  </p:stCondLst>
                                  <p:childTnLst>
                                    <p:animEffect transition="out" filter="circle(out)">
                                      <p:cBhvr>
                                        <p:cTn id="6" dur="2000"/>
                                        <p:tgtEl>
                                          <p:spTgt spid="2"/>
                                        </p:tgtEl>
                                      </p:cBhvr>
                                    </p:animEffect>
                                    <p:set>
                                      <p:cBhvr>
                                        <p:cTn id="7" dur="1" fill="hold">
                                          <p:stCondLst>
                                            <p:cond delay="19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6915" y="261258"/>
            <a:ext cx="5826034" cy="830997"/>
          </a:xfrm>
          <a:prstGeom prst="rect">
            <a:avLst/>
          </a:prstGeom>
          <a:noFill/>
        </p:spPr>
        <p:txBody>
          <a:bodyPr wrap="square" rtlCol="0">
            <a:spAutoFit/>
          </a:bodyPr>
          <a:lstStyle/>
          <a:p>
            <a:r>
              <a:rPr lang="en-IN" sz="4800" b="1" dirty="0">
                <a:solidFill>
                  <a:srgbClr val="FFFF00"/>
                </a:solidFill>
              </a:rPr>
              <a:t>Advantages of CSS</a:t>
            </a:r>
            <a:endParaRPr lang="en-IN" sz="4800" dirty="0">
              <a:solidFill>
                <a:srgbClr val="FFFF00"/>
              </a:solidFill>
            </a:endParaRPr>
          </a:p>
        </p:txBody>
      </p:sp>
      <p:sp>
        <p:nvSpPr>
          <p:cNvPr id="3" name="TextBox 2"/>
          <p:cNvSpPr txBox="1"/>
          <p:nvPr/>
        </p:nvSpPr>
        <p:spPr>
          <a:xfrm>
            <a:off x="1436915" y="1476103"/>
            <a:ext cx="9392194" cy="3139321"/>
          </a:xfrm>
          <a:prstGeom prst="rect">
            <a:avLst/>
          </a:prstGeom>
          <a:noFill/>
        </p:spPr>
        <p:txBody>
          <a:bodyPr wrap="square" rtlCol="0">
            <a:spAutoFit/>
          </a:bodyPr>
          <a:lstStyle/>
          <a:p>
            <a:r>
              <a:rPr lang="en-US" dirty="0">
                <a:solidFill>
                  <a:srgbClr val="FFFF00"/>
                </a:solidFill>
              </a:rPr>
              <a:t>1.</a:t>
            </a:r>
            <a:r>
              <a:rPr lang="en-US" dirty="0"/>
              <a:t> </a:t>
            </a:r>
            <a:r>
              <a:rPr lang="en-US" sz="2200" dirty="0">
                <a:latin typeface="Calibri" panose="020F0502020204030204" pitchFamily="34" charset="0"/>
                <a:cs typeface="Calibri" panose="020F0502020204030204" pitchFamily="34" charset="0"/>
              </a:rPr>
              <a:t>The </a:t>
            </a:r>
            <a:r>
              <a:rPr lang="en-US" sz="2200" b="1" dirty="0">
                <a:latin typeface="Calibri" panose="020F0502020204030204" pitchFamily="34" charset="0"/>
                <a:cs typeface="Calibri" panose="020F0502020204030204" pitchFamily="34" charset="0"/>
              </a:rPr>
              <a:t>CSS</a:t>
            </a:r>
            <a:r>
              <a:rPr lang="en-US" sz="2200" dirty="0">
                <a:latin typeface="Calibri" panose="020F0502020204030204" pitchFamily="34" charset="0"/>
                <a:cs typeface="Calibri" panose="020F0502020204030204" pitchFamily="34" charset="0"/>
              </a:rPr>
              <a:t> document can be written once and can be reused in multiple HTML </a:t>
            </a:r>
            <a:r>
              <a:rPr lang="en-US" sz="2200" dirty="0" smtClean="0">
                <a:latin typeface="Calibri" panose="020F0502020204030204" pitchFamily="34" charset="0"/>
                <a:cs typeface="Calibri" panose="020F0502020204030204" pitchFamily="34" charset="0"/>
              </a:rPr>
              <a:t>  pages</a:t>
            </a:r>
            <a:r>
              <a:rPr lang="en-US" sz="2200" dirty="0">
                <a:latin typeface="Calibri" panose="020F0502020204030204" pitchFamily="34" charset="0"/>
                <a:cs typeface="Calibri" panose="020F0502020204030204" pitchFamily="34" charset="0"/>
              </a:rPr>
              <a:t>.</a:t>
            </a:r>
          </a:p>
          <a:p>
            <a:r>
              <a:rPr lang="en-US" sz="2200" dirty="0">
                <a:solidFill>
                  <a:srgbClr val="FFFF00"/>
                </a:solidFill>
                <a:latin typeface="Calibri" panose="020F0502020204030204" pitchFamily="34" charset="0"/>
                <a:cs typeface="Calibri" panose="020F0502020204030204" pitchFamily="34" charset="0"/>
              </a:rPr>
              <a:t>2. </a:t>
            </a:r>
            <a:r>
              <a:rPr lang="en-US" sz="2200" dirty="0" smtClean="0">
                <a:latin typeface="Calibri" panose="020F0502020204030204" pitchFamily="34" charset="0"/>
                <a:cs typeface="Calibri" panose="020F0502020204030204" pitchFamily="34" charset="0"/>
              </a:rPr>
              <a:t>Modification </a:t>
            </a:r>
            <a:r>
              <a:rPr lang="en-US" sz="2200" dirty="0">
                <a:latin typeface="Calibri" panose="020F0502020204030204" pitchFamily="34" charset="0"/>
                <a:cs typeface="Calibri" panose="020F0502020204030204" pitchFamily="34" charset="0"/>
              </a:rPr>
              <a:t>of the document is really easy. The changes are done in the CSS </a:t>
            </a:r>
            <a:r>
              <a:rPr lang="en-US" sz="2200" dirty="0" smtClean="0">
                <a:latin typeface="Calibri" panose="020F0502020204030204" pitchFamily="34" charset="0"/>
                <a:cs typeface="Calibri" panose="020F0502020204030204" pitchFamily="34" charset="0"/>
              </a:rPr>
              <a:t>file </a:t>
            </a:r>
            <a:r>
              <a:rPr lang="en-US" sz="2200" dirty="0">
                <a:latin typeface="Calibri" panose="020F0502020204030204" pitchFamily="34" charset="0"/>
                <a:cs typeface="Calibri" panose="020F0502020204030204" pitchFamily="34" charset="0"/>
              </a:rPr>
              <a:t>and the </a:t>
            </a:r>
            <a:r>
              <a:rPr lang="en-US" sz="2200" dirty="0" smtClean="0">
                <a:latin typeface="Calibri" panose="020F0502020204030204" pitchFamily="34" charset="0"/>
                <a:cs typeface="Calibri" panose="020F0502020204030204" pitchFamily="34" charset="0"/>
              </a:rPr>
              <a:t>entire website </a:t>
            </a:r>
            <a:r>
              <a:rPr lang="en-US" sz="2200" dirty="0">
                <a:latin typeface="Calibri" panose="020F0502020204030204" pitchFamily="34" charset="0"/>
                <a:cs typeface="Calibri" panose="020F0502020204030204" pitchFamily="34" charset="0"/>
              </a:rPr>
              <a:t>takes the changes automatically.</a:t>
            </a:r>
          </a:p>
          <a:p>
            <a:r>
              <a:rPr lang="en-US" sz="2200" dirty="0">
                <a:solidFill>
                  <a:srgbClr val="FFFF00"/>
                </a:solidFill>
                <a:latin typeface="Calibri" panose="020F0502020204030204" pitchFamily="34" charset="0"/>
                <a:cs typeface="Calibri" panose="020F0502020204030204" pitchFamily="34" charset="0"/>
              </a:rPr>
              <a:t>3. </a:t>
            </a:r>
            <a:r>
              <a:rPr lang="en-US" sz="2200" dirty="0">
                <a:latin typeface="Calibri" panose="020F0502020204030204" pitchFamily="34" charset="0"/>
                <a:cs typeface="Calibri" panose="020F0502020204030204" pitchFamily="34" charset="0"/>
              </a:rPr>
              <a:t>With CSS, we need not write the attributes of the HTML tags again and again. The same style </a:t>
            </a:r>
            <a:r>
              <a:rPr lang="en-US" sz="2200" dirty="0" smtClean="0">
                <a:latin typeface="Calibri" panose="020F0502020204030204" pitchFamily="34" charset="0"/>
                <a:cs typeface="Calibri" panose="020F0502020204030204" pitchFamily="34" charset="0"/>
              </a:rPr>
              <a:t>can be </a:t>
            </a:r>
            <a:r>
              <a:rPr lang="en-US" sz="2200" dirty="0">
                <a:latin typeface="Calibri" panose="020F0502020204030204" pitchFamily="34" charset="0"/>
                <a:cs typeface="Calibri" panose="020F0502020204030204" pitchFamily="34" charset="0"/>
              </a:rPr>
              <a:t>applied to multiple occurrences of the same attribute of the tag. </a:t>
            </a:r>
          </a:p>
          <a:p>
            <a:r>
              <a:rPr lang="en-US" sz="2200" dirty="0">
                <a:solidFill>
                  <a:srgbClr val="FFFF00"/>
                </a:solidFill>
                <a:latin typeface="Calibri" panose="020F0502020204030204" pitchFamily="34" charset="0"/>
                <a:cs typeface="Calibri" panose="020F0502020204030204" pitchFamily="34" charset="0"/>
              </a:rPr>
              <a:t>4. </a:t>
            </a:r>
            <a:r>
              <a:rPr lang="en-US" sz="2200" dirty="0">
                <a:latin typeface="Calibri" panose="020F0502020204030204" pitchFamily="34" charset="0"/>
                <a:cs typeface="Calibri" panose="020F0502020204030204" pitchFamily="34" charset="0"/>
              </a:rPr>
              <a:t>CSS can store web applications </a:t>
            </a:r>
            <a:r>
              <a:rPr lang="en-US" sz="2200" dirty="0" smtClean="0">
                <a:latin typeface="Calibri" panose="020F0502020204030204" pitchFamily="34" charset="0"/>
                <a:cs typeface="Calibri" panose="020F0502020204030204" pitchFamily="34" charset="0"/>
              </a:rPr>
              <a:t>offline</a:t>
            </a:r>
            <a:r>
              <a:rPr lang="en-US" sz="2200" dirty="0">
                <a:latin typeface="Calibri" panose="020F0502020204030204" pitchFamily="34" charset="0"/>
                <a:cs typeface="Calibri" panose="020F0502020204030204" pitchFamily="34" charset="0"/>
              </a:rPr>
              <a:t>. So, we can view the websites </a:t>
            </a:r>
            <a:r>
              <a:rPr lang="en-US" sz="2200" dirty="0" smtClean="0">
                <a:latin typeface="Calibri" panose="020F0502020204030204" pitchFamily="34" charset="0"/>
                <a:cs typeface="Calibri" panose="020F0502020204030204" pitchFamily="34" charset="0"/>
              </a:rPr>
              <a:t>offline </a:t>
            </a:r>
            <a:r>
              <a:rPr lang="en-US" sz="2200" dirty="0">
                <a:latin typeface="Calibri" panose="020F0502020204030204" pitchFamily="34" charset="0"/>
                <a:cs typeface="Calibri" panose="020F0502020204030204" pitchFamily="34" charset="0"/>
              </a:rPr>
              <a:t>too.</a:t>
            </a:r>
            <a:endParaRPr lang="en-IN"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9991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4" y="1122362"/>
            <a:ext cx="8791575" cy="4298723"/>
          </a:xfrm>
        </p:spPr>
        <p:txBody>
          <a:bodyPr>
            <a:noAutofit/>
          </a:bodyPr>
          <a:lstStyle/>
          <a:p>
            <a:r>
              <a:rPr lang="en-US" sz="2800" b="1" cap="none" dirty="0" smtClean="0">
                <a:solidFill>
                  <a:srgbClr val="FFFF00"/>
                </a:solidFill>
                <a:latin typeface="Calibri" panose="020F0502020204030204" pitchFamily="34" charset="0"/>
                <a:cs typeface="Calibri" panose="020F0502020204030204" pitchFamily="34" charset="0"/>
              </a:rPr>
              <a:t>Ways to insert styles in a web page</a:t>
            </a:r>
            <a:r>
              <a:rPr lang="en-US" sz="2800" b="1" dirty="0">
                <a:latin typeface="Calibri" panose="020F0502020204030204" pitchFamily="34" charset="0"/>
                <a:cs typeface="Calibri" panose="020F0502020204030204" pitchFamily="34" charset="0"/>
              </a:rPr>
              <a:t/>
            </a:r>
            <a:br>
              <a:rPr lang="en-US" sz="2800" b="1" dirty="0">
                <a:latin typeface="Calibri" panose="020F0502020204030204" pitchFamily="34" charset="0"/>
                <a:cs typeface="Calibri" panose="020F0502020204030204" pitchFamily="34" charset="0"/>
              </a:rPr>
            </a:br>
            <a:r>
              <a:rPr lang="en-US" sz="2800" cap="none" dirty="0" smtClean="0">
                <a:latin typeface="Calibri" panose="020F0502020204030204" pitchFamily="34" charset="0"/>
                <a:cs typeface="Calibri" panose="020F0502020204030204" pitchFamily="34" charset="0"/>
              </a:rPr>
              <a:t>There are three prime ways to insert styles in a web page. </a:t>
            </a:r>
            <a:br>
              <a:rPr lang="en-US" sz="2800" cap="none" dirty="0" smtClean="0">
                <a:latin typeface="Calibri" panose="020F0502020204030204" pitchFamily="34" charset="0"/>
                <a:cs typeface="Calibri" panose="020F0502020204030204" pitchFamily="34" charset="0"/>
              </a:rPr>
            </a:br>
            <a:r>
              <a:rPr lang="en-US" sz="2800" cap="none" dirty="0" smtClean="0">
                <a:latin typeface="Calibri" panose="020F0502020204030204" pitchFamily="34" charset="0"/>
                <a:cs typeface="Calibri" panose="020F0502020204030204" pitchFamily="34" charset="0"/>
              </a:rPr>
              <a:t>They are:</a:t>
            </a:r>
            <a:br>
              <a:rPr lang="en-US" sz="2800" cap="none" dirty="0" smtClean="0">
                <a:latin typeface="Calibri" panose="020F0502020204030204" pitchFamily="34" charset="0"/>
                <a:cs typeface="Calibri" panose="020F0502020204030204" pitchFamily="34" charset="0"/>
              </a:rPr>
            </a:br>
            <a:r>
              <a:rPr lang="en-US" sz="2800" b="1" dirty="0" smtClean="0">
                <a:solidFill>
                  <a:srgbClr val="FFFF00"/>
                </a:solidFill>
                <a:latin typeface="Calibri" panose="020F0502020204030204" pitchFamily="34" charset="0"/>
                <a:cs typeface="Calibri" panose="020F0502020204030204" pitchFamily="34" charset="0"/>
              </a:rPr>
              <a:t>1</a:t>
            </a:r>
            <a:r>
              <a:rPr lang="en-US" sz="2800" b="1" cap="none" dirty="0" smtClean="0">
                <a:solidFill>
                  <a:srgbClr val="FFFF00"/>
                </a:solidFill>
                <a:latin typeface="Calibri" panose="020F0502020204030204" pitchFamily="34" charset="0"/>
                <a:cs typeface="Calibri" panose="020F0502020204030204" pitchFamily="34" charset="0"/>
              </a:rPr>
              <a:t>. Inline: </a:t>
            </a:r>
            <a:r>
              <a:rPr lang="en-US" sz="2800" cap="none" dirty="0">
                <a:latin typeface="Calibri" panose="020F0502020204030204" pitchFamily="34" charset="0"/>
                <a:cs typeface="Calibri" panose="020F0502020204030204" pitchFamily="34" charset="0"/>
              </a:rPr>
              <a:t>T</a:t>
            </a:r>
            <a:r>
              <a:rPr lang="en-US" sz="2800" cap="none" dirty="0" smtClean="0">
                <a:latin typeface="Calibri" panose="020F0502020204030204" pitchFamily="34" charset="0"/>
                <a:cs typeface="Calibri" panose="020F0502020204030204" pitchFamily="34" charset="0"/>
              </a:rPr>
              <a:t>he styles are added with the html tags as attributes.</a:t>
            </a:r>
            <a:br>
              <a:rPr lang="en-US" sz="2800" cap="none" dirty="0" smtClean="0">
                <a:latin typeface="Calibri" panose="020F0502020204030204" pitchFamily="34" charset="0"/>
                <a:cs typeface="Calibri" panose="020F0502020204030204" pitchFamily="34" charset="0"/>
              </a:rPr>
            </a:br>
            <a:r>
              <a:rPr lang="en-US" sz="2800" b="1" cap="none" dirty="0" smtClean="0">
                <a:solidFill>
                  <a:srgbClr val="FFFF00"/>
                </a:solidFill>
                <a:latin typeface="Calibri" panose="020F0502020204030204" pitchFamily="34" charset="0"/>
                <a:cs typeface="Calibri" panose="020F0502020204030204" pitchFamily="34" charset="0"/>
              </a:rPr>
              <a:t>2. Internal: </a:t>
            </a:r>
            <a:r>
              <a:rPr lang="en-US" sz="2800" cap="none" dirty="0">
                <a:latin typeface="Calibri" panose="020F0502020204030204" pitchFamily="34" charset="0"/>
                <a:cs typeface="Calibri" panose="020F0502020204030204" pitchFamily="34" charset="0"/>
              </a:rPr>
              <a:t>T</a:t>
            </a:r>
            <a:r>
              <a:rPr lang="en-US" sz="2800" cap="none" dirty="0" smtClean="0">
                <a:latin typeface="Calibri" panose="020F0502020204030204" pitchFamily="34" charset="0"/>
                <a:cs typeface="Calibri" panose="020F0502020204030204" pitchFamily="34" charset="0"/>
              </a:rPr>
              <a:t>he styles are added in the beginning of the document within the &lt;head&gt; tag.</a:t>
            </a:r>
            <a:br>
              <a:rPr lang="en-US" sz="2800" cap="none" dirty="0" smtClean="0">
                <a:latin typeface="Calibri" panose="020F0502020204030204" pitchFamily="34" charset="0"/>
                <a:cs typeface="Calibri" panose="020F0502020204030204" pitchFamily="34" charset="0"/>
              </a:rPr>
            </a:br>
            <a:r>
              <a:rPr lang="en-US" sz="2800" b="1" cap="none" dirty="0" smtClean="0">
                <a:solidFill>
                  <a:srgbClr val="FFFF00"/>
                </a:solidFill>
                <a:latin typeface="Calibri" panose="020F0502020204030204" pitchFamily="34" charset="0"/>
                <a:cs typeface="Calibri" panose="020F0502020204030204" pitchFamily="34" charset="0"/>
              </a:rPr>
              <a:t>3. External: </a:t>
            </a:r>
            <a:r>
              <a:rPr lang="en-US" sz="2800" cap="none" dirty="0" smtClean="0">
                <a:latin typeface="Calibri" panose="020F0502020204030204" pitchFamily="34" charset="0"/>
                <a:cs typeface="Calibri" panose="020F0502020204030204" pitchFamily="34" charset="0"/>
              </a:rPr>
              <a:t>The styles are added in a separate file which is further linked to the HTML document.</a:t>
            </a:r>
            <a:br>
              <a:rPr lang="en-US" sz="2800" cap="none" dirty="0" smtClean="0">
                <a:latin typeface="Calibri" panose="020F0502020204030204" pitchFamily="34" charset="0"/>
                <a:cs typeface="Calibri" panose="020F0502020204030204" pitchFamily="34" charset="0"/>
              </a:rPr>
            </a:br>
            <a:r>
              <a:rPr lang="en-US" sz="2800" cap="none" dirty="0" smtClean="0">
                <a:latin typeface="Calibri" panose="020F0502020204030204" pitchFamily="34" charset="0"/>
                <a:cs typeface="Calibri" panose="020F0502020204030204" pitchFamily="34" charset="0"/>
              </a:rPr>
              <a:t/>
            </a:r>
            <a:br>
              <a:rPr lang="en-US" sz="2800" cap="none" dirty="0" smtClean="0">
                <a:latin typeface="Calibri" panose="020F0502020204030204" pitchFamily="34" charset="0"/>
                <a:cs typeface="Calibri" panose="020F0502020204030204" pitchFamily="34" charset="0"/>
              </a:rPr>
            </a:br>
            <a:endParaRPr lang="en-IN"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73653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4743" y="940526"/>
            <a:ext cx="9274628" cy="4820193"/>
          </a:xfrm>
        </p:spPr>
        <p:txBody>
          <a:bodyPr>
            <a:normAutofit fontScale="90000"/>
          </a:bodyPr>
          <a:lstStyle/>
          <a:p>
            <a:r>
              <a:rPr lang="en-US" sz="2000" b="1" cap="none" dirty="0" smtClean="0">
                <a:solidFill>
                  <a:srgbClr val="FFFF00"/>
                </a:solidFill>
                <a:latin typeface="Calibri" panose="020F0502020204030204" pitchFamily="34" charset="0"/>
                <a:cs typeface="Calibri" panose="020F0502020204030204" pitchFamily="34" charset="0"/>
              </a:rPr>
              <a:t/>
            </a:r>
            <a:br>
              <a:rPr lang="en-US" sz="2000" b="1" cap="none" dirty="0" smtClean="0">
                <a:solidFill>
                  <a:srgbClr val="FFFF00"/>
                </a:solidFill>
                <a:latin typeface="Calibri" panose="020F0502020204030204" pitchFamily="34" charset="0"/>
                <a:cs typeface="Calibri" panose="020F0502020204030204" pitchFamily="34" charset="0"/>
              </a:rPr>
            </a:br>
            <a:r>
              <a:rPr lang="en-US" sz="2000" b="1" cap="none" dirty="0">
                <a:solidFill>
                  <a:srgbClr val="FFFF00"/>
                </a:solidFill>
                <a:latin typeface="Calibri" panose="020F0502020204030204" pitchFamily="34" charset="0"/>
                <a:cs typeface="Calibri" panose="020F0502020204030204" pitchFamily="34" charset="0"/>
              </a:rPr>
              <a:t/>
            </a:r>
            <a:br>
              <a:rPr lang="en-US" sz="2000" b="1" cap="none" dirty="0">
                <a:solidFill>
                  <a:srgbClr val="FFFF00"/>
                </a:solidFill>
                <a:latin typeface="Calibri" panose="020F0502020204030204" pitchFamily="34" charset="0"/>
                <a:cs typeface="Calibri" panose="020F0502020204030204" pitchFamily="34" charset="0"/>
              </a:rPr>
            </a:br>
            <a:r>
              <a:rPr lang="en-US" sz="2000" b="1" cap="none" dirty="0" smtClean="0">
                <a:solidFill>
                  <a:srgbClr val="FFFF00"/>
                </a:solidFill>
                <a:latin typeface="Calibri" panose="020F0502020204030204" pitchFamily="34" charset="0"/>
                <a:cs typeface="Calibri" panose="020F0502020204030204" pitchFamily="34" charset="0"/>
              </a:rPr>
              <a:t/>
            </a:r>
            <a:br>
              <a:rPr lang="en-US" sz="2000" b="1" cap="none" dirty="0" smtClean="0">
                <a:solidFill>
                  <a:srgbClr val="FFFF00"/>
                </a:solidFill>
                <a:latin typeface="Calibri" panose="020F0502020204030204" pitchFamily="34" charset="0"/>
                <a:cs typeface="Calibri" panose="020F0502020204030204" pitchFamily="34" charset="0"/>
              </a:rPr>
            </a:br>
            <a:r>
              <a:rPr lang="en-US" sz="2000" b="1" cap="none" dirty="0">
                <a:solidFill>
                  <a:srgbClr val="FFFF00"/>
                </a:solidFill>
                <a:latin typeface="Calibri" panose="020F0502020204030204" pitchFamily="34" charset="0"/>
                <a:cs typeface="Calibri" panose="020F0502020204030204" pitchFamily="34" charset="0"/>
              </a:rPr>
              <a:t/>
            </a:r>
            <a:br>
              <a:rPr lang="en-US" sz="2000" b="1" cap="none" dirty="0">
                <a:solidFill>
                  <a:srgbClr val="FFFF00"/>
                </a:solidFill>
                <a:latin typeface="Calibri" panose="020F0502020204030204" pitchFamily="34" charset="0"/>
                <a:cs typeface="Calibri" panose="020F0502020204030204" pitchFamily="34" charset="0"/>
              </a:rPr>
            </a:br>
            <a:r>
              <a:rPr lang="en-US" sz="2000" b="1" cap="none" dirty="0" smtClean="0">
                <a:solidFill>
                  <a:srgbClr val="FFFF00"/>
                </a:solidFill>
                <a:latin typeface="Calibri" panose="020F0502020204030204" pitchFamily="34" charset="0"/>
                <a:cs typeface="Calibri" panose="020F0502020204030204" pitchFamily="34" charset="0"/>
              </a:rPr>
              <a:t/>
            </a:r>
            <a:br>
              <a:rPr lang="en-US" sz="2000" b="1" cap="none" dirty="0" smtClean="0">
                <a:solidFill>
                  <a:srgbClr val="FFFF00"/>
                </a:solidFill>
                <a:latin typeface="Calibri" panose="020F0502020204030204" pitchFamily="34" charset="0"/>
                <a:cs typeface="Calibri" panose="020F0502020204030204" pitchFamily="34" charset="0"/>
              </a:rPr>
            </a:br>
            <a:r>
              <a:rPr lang="en-US" sz="2000" b="1" cap="none" dirty="0">
                <a:solidFill>
                  <a:srgbClr val="FFFF00"/>
                </a:solidFill>
                <a:latin typeface="Calibri" panose="020F0502020204030204" pitchFamily="34" charset="0"/>
                <a:cs typeface="Calibri" panose="020F0502020204030204" pitchFamily="34" charset="0"/>
              </a:rPr>
              <a:t/>
            </a:r>
            <a:br>
              <a:rPr lang="en-US" sz="2000" b="1" cap="none" dirty="0">
                <a:solidFill>
                  <a:srgbClr val="FFFF00"/>
                </a:solidFill>
                <a:latin typeface="Calibri" panose="020F0502020204030204" pitchFamily="34" charset="0"/>
                <a:cs typeface="Calibri" panose="020F0502020204030204" pitchFamily="34" charset="0"/>
              </a:rPr>
            </a:br>
            <a:r>
              <a:rPr lang="en-US" sz="2000" b="1" cap="none" dirty="0" smtClean="0">
                <a:solidFill>
                  <a:srgbClr val="FFFF00"/>
                </a:solidFill>
                <a:latin typeface="Calibri" panose="020F0502020204030204" pitchFamily="34" charset="0"/>
                <a:cs typeface="Calibri" panose="020F0502020204030204" pitchFamily="34" charset="0"/>
              </a:rPr>
              <a:t/>
            </a:r>
            <a:br>
              <a:rPr lang="en-US" sz="2000" b="1" cap="none" dirty="0" smtClean="0">
                <a:solidFill>
                  <a:srgbClr val="FFFF00"/>
                </a:solidFill>
                <a:latin typeface="Calibri" panose="020F0502020204030204" pitchFamily="34" charset="0"/>
                <a:cs typeface="Calibri" panose="020F0502020204030204" pitchFamily="34" charset="0"/>
              </a:rPr>
            </a:br>
            <a:r>
              <a:rPr lang="en-US" sz="2000" b="1" cap="none" dirty="0">
                <a:solidFill>
                  <a:srgbClr val="FFFF00"/>
                </a:solidFill>
                <a:latin typeface="Calibri" panose="020F0502020204030204" pitchFamily="34" charset="0"/>
                <a:cs typeface="Calibri" panose="020F0502020204030204" pitchFamily="34" charset="0"/>
              </a:rPr>
              <a:t/>
            </a:r>
            <a:br>
              <a:rPr lang="en-US" sz="2000" b="1" cap="none" dirty="0">
                <a:solidFill>
                  <a:srgbClr val="FFFF00"/>
                </a:solidFill>
                <a:latin typeface="Calibri" panose="020F0502020204030204" pitchFamily="34" charset="0"/>
                <a:cs typeface="Calibri" panose="020F0502020204030204" pitchFamily="34" charset="0"/>
              </a:rPr>
            </a:br>
            <a:r>
              <a:rPr lang="en-US" sz="2000" b="1" cap="none" dirty="0" smtClean="0">
                <a:solidFill>
                  <a:srgbClr val="FFFF00"/>
                </a:solidFill>
                <a:latin typeface="Calibri" panose="020F0502020204030204" pitchFamily="34" charset="0"/>
                <a:cs typeface="Calibri" panose="020F0502020204030204" pitchFamily="34" charset="0"/>
              </a:rPr>
              <a:t/>
            </a:r>
            <a:br>
              <a:rPr lang="en-US" sz="2000" b="1" cap="none" dirty="0" smtClean="0">
                <a:solidFill>
                  <a:srgbClr val="FFFF00"/>
                </a:solidFill>
                <a:latin typeface="Calibri" panose="020F0502020204030204" pitchFamily="34" charset="0"/>
                <a:cs typeface="Calibri" panose="020F0502020204030204" pitchFamily="34" charset="0"/>
              </a:rPr>
            </a:br>
            <a:r>
              <a:rPr lang="en-US" sz="2000" b="1" cap="none" dirty="0">
                <a:solidFill>
                  <a:srgbClr val="FFFF00"/>
                </a:solidFill>
                <a:latin typeface="Calibri" panose="020F0502020204030204" pitchFamily="34" charset="0"/>
                <a:cs typeface="Calibri" panose="020F0502020204030204" pitchFamily="34" charset="0"/>
              </a:rPr>
              <a:t/>
            </a:r>
            <a:br>
              <a:rPr lang="en-US" sz="2000" b="1" cap="none" dirty="0">
                <a:solidFill>
                  <a:srgbClr val="FFFF00"/>
                </a:solidFill>
                <a:latin typeface="Calibri" panose="020F0502020204030204" pitchFamily="34" charset="0"/>
                <a:cs typeface="Calibri" panose="020F0502020204030204" pitchFamily="34" charset="0"/>
              </a:rPr>
            </a:br>
            <a:r>
              <a:rPr lang="en-US" sz="2000" b="1" cap="none" dirty="0" smtClean="0">
                <a:solidFill>
                  <a:srgbClr val="FFFF00"/>
                </a:solidFill>
                <a:latin typeface="Calibri" panose="020F0502020204030204" pitchFamily="34" charset="0"/>
                <a:cs typeface="Calibri" panose="020F0502020204030204" pitchFamily="34" charset="0"/>
              </a:rPr>
              <a:t/>
            </a:r>
            <a:br>
              <a:rPr lang="en-US" sz="2000" b="1" cap="none" dirty="0" smtClean="0">
                <a:solidFill>
                  <a:srgbClr val="FFFF00"/>
                </a:solidFill>
                <a:latin typeface="Calibri" panose="020F0502020204030204" pitchFamily="34" charset="0"/>
                <a:cs typeface="Calibri" panose="020F0502020204030204" pitchFamily="34" charset="0"/>
              </a:rPr>
            </a:br>
            <a:r>
              <a:rPr lang="en-US" sz="2000" b="1" cap="none" dirty="0">
                <a:solidFill>
                  <a:srgbClr val="FFFF00"/>
                </a:solidFill>
                <a:latin typeface="Calibri" panose="020F0502020204030204" pitchFamily="34" charset="0"/>
                <a:cs typeface="Calibri" panose="020F0502020204030204" pitchFamily="34" charset="0"/>
              </a:rPr>
              <a:t/>
            </a:r>
            <a:br>
              <a:rPr lang="en-US" sz="2000" b="1" cap="none" dirty="0">
                <a:solidFill>
                  <a:srgbClr val="FFFF00"/>
                </a:solidFill>
                <a:latin typeface="Calibri" panose="020F0502020204030204" pitchFamily="34" charset="0"/>
                <a:cs typeface="Calibri" panose="020F0502020204030204" pitchFamily="34" charset="0"/>
              </a:rPr>
            </a:br>
            <a:r>
              <a:rPr lang="en-US" sz="2000" b="1" cap="none" dirty="0" smtClean="0">
                <a:solidFill>
                  <a:srgbClr val="FFFF00"/>
                </a:solidFill>
                <a:latin typeface="Calibri" panose="020F0502020204030204" pitchFamily="34" charset="0"/>
                <a:cs typeface="Calibri" panose="020F0502020204030204" pitchFamily="34" charset="0"/>
              </a:rPr>
              <a:t/>
            </a:r>
            <a:br>
              <a:rPr lang="en-US" sz="2000" b="1" cap="none" dirty="0" smtClean="0">
                <a:solidFill>
                  <a:srgbClr val="FFFF00"/>
                </a:solidFill>
                <a:latin typeface="Calibri" panose="020F0502020204030204" pitchFamily="34" charset="0"/>
                <a:cs typeface="Calibri" panose="020F0502020204030204" pitchFamily="34" charset="0"/>
              </a:rPr>
            </a:br>
            <a:r>
              <a:rPr lang="en-US" sz="2000" b="1" cap="none" dirty="0">
                <a:solidFill>
                  <a:srgbClr val="FFFF00"/>
                </a:solidFill>
                <a:latin typeface="Calibri" panose="020F0502020204030204" pitchFamily="34" charset="0"/>
                <a:cs typeface="Calibri" panose="020F0502020204030204" pitchFamily="34" charset="0"/>
              </a:rPr>
              <a:t/>
            </a:r>
            <a:br>
              <a:rPr lang="en-US" sz="2000" b="1" cap="none" dirty="0">
                <a:solidFill>
                  <a:srgbClr val="FFFF00"/>
                </a:solidFill>
                <a:latin typeface="Calibri" panose="020F0502020204030204" pitchFamily="34" charset="0"/>
                <a:cs typeface="Calibri" panose="020F0502020204030204" pitchFamily="34" charset="0"/>
              </a:rPr>
            </a:br>
            <a:r>
              <a:rPr lang="en-US" sz="2000" b="1" cap="none" dirty="0" smtClean="0">
                <a:solidFill>
                  <a:srgbClr val="FFFF00"/>
                </a:solidFill>
                <a:latin typeface="Calibri" panose="020F0502020204030204" pitchFamily="34" charset="0"/>
                <a:cs typeface="Calibri" panose="020F0502020204030204" pitchFamily="34" charset="0"/>
              </a:rPr>
              <a:t/>
            </a:r>
            <a:br>
              <a:rPr lang="en-US" sz="2000" b="1" cap="none" dirty="0" smtClean="0">
                <a:solidFill>
                  <a:srgbClr val="FFFF00"/>
                </a:solidFill>
                <a:latin typeface="Calibri" panose="020F0502020204030204" pitchFamily="34" charset="0"/>
                <a:cs typeface="Calibri" panose="020F0502020204030204" pitchFamily="34" charset="0"/>
              </a:rPr>
            </a:br>
            <a:r>
              <a:rPr lang="en-US" sz="2000" b="1" cap="none" dirty="0">
                <a:solidFill>
                  <a:srgbClr val="FFFF00"/>
                </a:solidFill>
                <a:latin typeface="Calibri" panose="020F0502020204030204" pitchFamily="34" charset="0"/>
                <a:cs typeface="Calibri" panose="020F0502020204030204" pitchFamily="34" charset="0"/>
              </a:rPr>
              <a:t/>
            </a:r>
            <a:br>
              <a:rPr lang="en-US" sz="2000" b="1" cap="none" dirty="0">
                <a:solidFill>
                  <a:srgbClr val="FFFF00"/>
                </a:solidFill>
                <a:latin typeface="Calibri" panose="020F0502020204030204" pitchFamily="34" charset="0"/>
                <a:cs typeface="Calibri" panose="020F0502020204030204" pitchFamily="34" charset="0"/>
              </a:rPr>
            </a:br>
            <a:r>
              <a:rPr lang="en-IN" sz="2200" b="1" dirty="0">
                <a:solidFill>
                  <a:srgbClr val="FFFF00"/>
                </a:solidFill>
                <a:latin typeface="Calibri" panose="020F0502020204030204" pitchFamily="34" charset="0"/>
                <a:cs typeface="Calibri" panose="020F0502020204030204" pitchFamily="34" charset="0"/>
              </a:rPr>
              <a:t>Syntax</a:t>
            </a:r>
            <a:r>
              <a:rPr lang="en-IN" sz="2200" b="1" dirty="0">
                <a:latin typeface="Calibri" panose="020F0502020204030204" pitchFamily="34" charset="0"/>
                <a:cs typeface="Calibri" panose="020F0502020204030204" pitchFamily="34" charset="0"/>
              </a:rPr>
              <a:t/>
            </a:r>
            <a:br>
              <a:rPr lang="en-IN" sz="2200" b="1" dirty="0">
                <a:latin typeface="Calibri" panose="020F0502020204030204" pitchFamily="34" charset="0"/>
                <a:cs typeface="Calibri" panose="020F0502020204030204" pitchFamily="34" charset="0"/>
              </a:rPr>
            </a:br>
            <a:r>
              <a:rPr lang="en-US" sz="2200" cap="none" dirty="0">
                <a:latin typeface="Calibri" panose="020F0502020204030204" pitchFamily="34" charset="0"/>
                <a:cs typeface="Calibri" panose="020F0502020204030204" pitchFamily="34" charset="0"/>
              </a:rPr>
              <a:t>Basically, a CSS style is made up of three parts:</a:t>
            </a:r>
            <a:br>
              <a:rPr lang="en-US" sz="2200" cap="none" dirty="0">
                <a:latin typeface="Calibri" panose="020F0502020204030204" pitchFamily="34" charset="0"/>
                <a:cs typeface="Calibri" panose="020F0502020204030204" pitchFamily="34" charset="0"/>
              </a:rPr>
            </a:br>
            <a:r>
              <a:rPr lang="en-US" sz="2200" cap="none" dirty="0">
                <a:latin typeface="Calibri" panose="020F0502020204030204" pitchFamily="34" charset="0"/>
                <a:cs typeface="Calibri" panose="020F0502020204030204" pitchFamily="34" charset="0"/>
              </a:rPr>
              <a:t/>
            </a:r>
            <a:br>
              <a:rPr lang="en-US" sz="2200" cap="none" dirty="0">
                <a:latin typeface="Calibri" panose="020F0502020204030204" pitchFamily="34" charset="0"/>
                <a:cs typeface="Calibri" panose="020F0502020204030204" pitchFamily="34" charset="0"/>
              </a:rPr>
            </a:br>
            <a:r>
              <a:rPr lang="en-US" sz="2200" b="1" dirty="0" smtClean="0">
                <a:solidFill>
                  <a:srgbClr val="FFFF00"/>
                </a:solidFill>
                <a:latin typeface="Calibri" panose="020F0502020204030204" pitchFamily="34" charset="0"/>
                <a:cs typeface="Calibri" panose="020F0502020204030204" pitchFamily="34" charset="0"/>
              </a:rPr>
              <a:t>S</a:t>
            </a:r>
            <a:r>
              <a:rPr lang="en-US" sz="2200" b="1" cap="none" dirty="0">
                <a:solidFill>
                  <a:srgbClr val="FFFF00"/>
                </a:solidFill>
                <a:latin typeface="Calibri" panose="020F0502020204030204" pitchFamily="34" charset="0"/>
                <a:cs typeface="Calibri" panose="020F0502020204030204" pitchFamily="34" charset="0"/>
              </a:rPr>
              <a:t>e</a:t>
            </a:r>
            <a:r>
              <a:rPr lang="en-US" sz="2200" b="1" cap="none" dirty="0" smtClean="0">
                <a:solidFill>
                  <a:srgbClr val="FFFF00"/>
                </a:solidFill>
                <a:latin typeface="Calibri" panose="020F0502020204030204" pitchFamily="34" charset="0"/>
                <a:cs typeface="Calibri" panose="020F0502020204030204" pitchFamily="34" charset="0"/>
              </a:rPr>
              <a:t>lector</a:t>
            </a:r>
            <a:r>
              <a:rPr lang="en-US" sz="2200" b="1" dirty="0" smtClean="0">
                <a:solidFill>
                  <a:srgbClr val="FFFF00"/>
                </a:solidFill>
                <a:latin typeface="Calibri" panose="020F0502020204030204" pitchFamily="34" charset="0"/>
                <a:cs typeface="Calibri" panose="020F0502020204030204" pitchFamily="34" charset="0"/>
              </a:rPr>
              <a:t>: </a:t>
            </a:r>
            <a:r>
              <a:rPr lang="en-US" sz="2200" cap="none" dirty="0">
                <a:latin typeface="Calibri" panose="020F0502020204030204" pitchFamily="34" charset="0"/>
                <a:cs typeface="Calibri" panose="020F0502020204030204" pitchFamily="34" charset="0"/>
              </a:rPr>
              <a:t>It is an HTML tag on which a style will be applied. Example: &lt;p&gt;, &lt;U&gt; </a:t>
            </a:r>
            <a:r>
              <a:rPr lang="en-US" sz="2200" cap="none" dirty="0" smtClean="0">
                <a:latin typeface="Calibri" panose="020F0502020204030204" pitchFamily="34" charset="0"/>
                <a:cs typeface="Calibri" panose="020F0502020204030204" pitchFamily="34" charset="0"/>
              </a:rPr>
              <a:t>etc.</a:t>
            </a:r>
            <a:r>
              <a:rPr lang="en-US" sz="2200" b="1" cap="none" dirty="0" smtClean="0">
                <a:solidFill>
                  <a:srgbClr val="FFFF00"/>
                </a:solidFill>
                <a:latin typeface="Calibri" panose="020F0502020204030204" pitchFamily="34" charset="0"/>
                <a:cs typeface="Calibri" panose="020F0502020204030204" pitchFamily="34" charset="0"/>
              </a:rPr>
              <a:t/>
            </a:r>
            <a:br>
              <a:rPr lang="en-US" sz="2200" b="1" cap="none" dirty="0" smtClean="0">
                <a:solidFill>
                  <a:srgbClr val="FFFF00"/>
                </a:solidFill>
                <a:latin typeface="Calibri" panose="020F0502020204030204" pitchFamily="34" charset="0"/>
                <a:cs typeface="Calibri" panose="020F0502020204030204" pitchFamily="34" charset="0"/>
              </a:rPr>
            </a:br>
            <a:r>
              <a:rPr lang="en-US" sz="2200" b="1" cap="none" dirty="0">
                <a:solidFill>
                  <a:srgbClr val="FFFF00"/>
                </a:solidFill>
                <a:latin typeface="Calibri" panose="020F0502020204030204" pitchFamily="34" charset="0"/>
                <a:cs typeface="Calibri" panose="020F0502020204030204" pitchFamily="34" charset="0"/>
              </a:rPr>
              <a:t/>
            </a:r>
            <a:br>
              <a:rPr lang="en-US" sz="2200" b="1" cap="none" dirty="0">
                <a:solidFill>
                  <a:srgbClr val="FFFF00"/>
                </a:solidFill>
                <a:latin typeface="Calibri" panose="020F0502020204030204" pitchFamily="34" charset="0"/>
                <a:cs typeface="Calibri" panose="020F0502020204030204" pitchFamily="34" charset="0"/>
              </a:rPr>
            </a:br>
            <a:r>
              <a:rPr lang="en-US" sz="2200" b="1" cap="none" dirty="0" smtClean="0">
                <a:solidFill>
                  <a:srgbClr val="FFFF00"/>
                </a:solidFill>
                <a:latin typeface="Calibri" panose="020F0502020204030204" pitchFamily="34" charset="0"/>
                <a:cs typeface="Calibri" panose="020F0502020204030204" pitchFamily="34" charset="0"/>
              </a:rPr>
              <a:t>Property</a:t>
            </a:r>
            <a:r>
              <a:rPr lang="en-US" sz="2200" cap="none" dirty="0" smtClean="0">
                <a:solidFill>
                  <a:srgbClr val="FFFF00"/>
                </a:solidFill>
                <a:latin typeface="Calibri" panose="020F0502020204030204" pitchFamily="34" charset="0"/>
                <a:cs typeface="Calibri" panose="020F0502020204030204" pitchFamily="34" charset="0"/>
              </a:rPr>
              <a:t>: </a:t>
            </a:r>
            <a:r>
              <a:rPr lang="en-US" sz="2200" cap="none" dirty="0" smtClean="0">
                <a:latin typeface="Calibri" panose="020F0502020204030204" pitchFamily="34" charset="0"/>
                <a:cs typeface="Calibri" panose="020F0502020204030204" pitchFamily="34" charset="0"/>
              </a:rPr>
              <a:t>A property is a type of CSS style which will be applied to the text associated with the</a:t>
            </a:r>
            <a:r>
              <a:rPr lang="en-US" sz="2200" cap="none" dirty="0">
                <a:latin typeface="Calibri" panose="020F0502020204030204" pitchFamily="34" charset="0"/>
                <a:cs typeface="Calibri" panose="020F0502020204030204" pitchFamily="34" charset="0"/>
              </a:rPr>
              <a:t> </a:t>
            </a:r>
            <a:r>
              <a:rPr lang="en-IN" sz="2200" cap="none" dirty="0" smtClean="0">
                <a:latin typeface="Calibri" panose="020F0502020204030204" pitchFamily="34" charset="0"/>
                <a:cs typeface="Calibri" panose="020F0502020204030204" pitchFamily="34" charset="0"/>
              </a:rPr>
              <a:t>HTML tag.</a:t>
            </a:r>
            <a:br>
              <a:rPr lang="en-IN" sz="2200" cap="none" dirty="0" smtClean="0">
                <a:latin typeface="Calibri" panose="020F0502020204030204" pitchFamily="34" charset="0"/>
                <a:cs typeface="Calibri" panose="020F0502020204030204" pitchFamily="34" charset="0"/>
              </a:rPr>
            </a:br>
            <a:r>
              <a:rPr lang="en-IN" sz="2200" cap="none" dirty="0" smtClean="0">
                <a:latin typeface="Calibri" panose="020F0502020204030204" pitchFamily="34" charset="0"/>
                <a:cs typeface="Calibri" panose="020F0502020204030204" pitchFamily="34" charset="0"/>
              </a:rPr>
              <a:t/>
            </a:r>
            <a:br>
              <a:rPr lang="en-IN" sz="2200" cap="none" dirty="0" smtClean="0">
                <a:latin typeface="Calibri" panose="020F0502020204030204" pitchFamily="34" charset="0"/>
                <a:cs typeface="Calibri" panose="020F0502020204030204" pitchFamily="34" charset="0"/>
              </a:rPr>
            </a:br>
            <a:r>
              <a:rPr lang="en-IN" sz="2200" cap="none" dirty="0">
                <a:latin typeface="Calibri" panose="020F0502020204030204" pitchFamily="34" charset="0"/>
                <a:cs typeface="Calibri" panose="020F0502020204030204" pitchFamily="34" charset="0"/>
              </a:rPr>
              <a:t/>
            </a:r>
            <a:br>
              <a:rPr lang="en-IN" sz="2200" cap="none" dirty="0">
                <a:latin typeface="Calibri" panose="020F0502020204030204" pitchFamily="34" charset="0"/>
                <a:cs typeface="Calibri" panose="020F0502020204030204" pitchFamily="34" charset="0"/>
              </a:rPr>
            </a:br>
            <a:r>
              <a:rPr lang="en-IN" sz="2200" b="1" cap="none" dirty="0" smtClean="0">
                <a:solidFill>
                  <a:srgbClr val="FFFF00"/>
                </a:solidFill>
                <a:latin typeface="Calibri" panose="020F0502020204030204" pitchFamily="34" charset="0"/>
                <a:cs typeface="Calibri" panose="020F0502020204030204" pitchFamily="34" charset="0"/>
              </a:rPr>
              <a:t>V</a:t>
            </a:r>
            <a:r>
              <a:rPr lang="en-US" sz="2200" b="1" cap="none" dirty="0" err="1" smtClean="0">
                <a:solidFill>
                  <a:srgbClr val="FFFF00"/>
                </a:solidFill>
                <a:latin typeface="Calibri" panose="020F0502020204030204" pitchFamily="34" charset="0"/>
                <a:cs typeface="Calibri" panose="020F0502020204030204" pitchFamily="34" charset="0"/>
              </a:rPr>
              <a:t>alue</a:t>
            </a:r>
            <a:r>
              <a:rPr lang="en-US" sz="2200" b="1" cap="none" dirty="0" smtClean="0">
                <a:solidFill>
                  <a:srgbClr val="FFFF00"/>
                </a:solidFill>
                <a:latin typeface="Calibri" panose="020F0502020204030204" pitchFamily="34" charset="0"/>
                <a:cs typeface="Calibri" panose="020F0502020204030204" pitchFamily="34" charset="0"/>
              </a:rPr>
              <a:t> :</a:t>
            </a:r>
            <a:r>
              <a:rPr lang="en-US" sz="2200" b="1" dirty="0" smtClean="0">
                <a:solidFill>
                  <a:srgbClr val="FFFF00"/>
                </a:solidFill>
                <a:latin typeface="Calibri" panose="020F0502020204030204" pitchFamily="34" charset="0"/>
                <a:cs typeface="Calibri" panose="020F0502020204030204" pitchFamily="34" charset="0"/>
              </a:rPr>
              <a:t> </a:t>
            </a:r>
            <a:r>
              <a:rPr lang="en-US" sz="2200" cap="none" dirty="0" smtClean="0">
                <a:latin typeface="Calibri" panose="020F0502020204030204" pitchFamily="34" charset="0"/>
                <a:cs typeface="Calibri" panose="020F0502020204030204" pitchFamily="34" charset="0"/>
              </a:rPr>
              <a:t>Values are assigned to properties. For example, color property can have value red.</a:t>
            </a:r>
            <a:br>
              <a:rPr lang="en-US" sz="2200" cap="none" dirty="0" smtClean="0">
                <a:latin typeface="Calibri" panose="020F0502020204030204" pitchFamily="34" charset="0"/>
                <a:cs typeface="Calibri" panose="020F0502020204030204" pitchFamily="34" charset="0"/>
              </a:rPr>
            </a:br>
            <a:r>
              <a:rPr lang="en-US" sz="1800" cap="none" dirty="0">
                <a:latin typeface="Calibri" panose="020F0502020204030204" pitchFamily="34" charset="0"/>
                <a:cs typeface="Calibri" panose="020F0502020204030204" pitchFamily="34" charset="0"/>
              </a:rPr>
              <a:t/>
            </a:r>
            <a:br>
              <a:rPr lang="en-US" sz="1800" cap="none" dirty="0">
                <a:latin typeface="Calibri" panose="020F0502020204030204" pitchFamily="34" charset="0"/>
                <a:cs typeface="Calibri" panose="020F0502020204030204" pitchFamily="34" charset="0"/>
              </a:rPr>
            </a:br>
            <a:r>
              <a:rPr lang="en-US" sz="1800" cap="none" dirty="0" smtClean="0">
                <a:latin typeface="Calibri" panose="020F0502020204030204" pitchFamily="34" charset="0"/>
                <a:cs typeface="Calibri" panose="020F0502020204030204" pitchFamily="34" charset="0"/>
              </a:rPr>
              <a:t/>
            </a:r>
            <a:br>
              <a:rPr lang="en-US" sz="1800" cap="none" dirty="0" smtClean="0">
                <a:latin typeface="Calibri" panose="020F0502020204030204" pitchFamily="34" charset="0"/>
                <a:cs typeface="Calibri" panose="020F0502020204030204" pitchFamily="34" charset="0"/>
              </a:rPr>
            </a:br>
            <a:r>
              <a:rPr lang="en-US" sz="1800" cap="none" dirty="0">
                <a:latin typeface="Calibri" panose="020F0502020204030204" pitchFamily="34" charset="0"/>
                <a:cs typeface="Calibri" panose="020F0502020204030204" pitchFamily="34" charset="0"/>
              </a:rPr>
              <a:t/>
            </a:r>
            <a:br>
              <a:rPr lang="en-US" sz="1800" cap="none" dirty="0">
                <a:latin typeface="Calibri" panose="020F0502020204030204" pitchFamily="34" charset="0"/>
                <a:cs typeface="Calibri" panose="020F0502020204030204" pitchFamily="34" charset="0"/>
              </a:rPr>
            </a:br>
            <a:r>
              <a:rPr lang="en-US" sz="1800" cap="none" dirty="0" smtClean="0">
                <a:latin typeface="Calibri" panose="020F0502020204030204" pitchFamily="34" charset="0"/>
                <a:cs typeface="Calibri" panose="020F0502020204030204" pitchFamily="34" charset="0"/>
              </a:rPr>
              <a:t/>
            </a:r>
            <a:br>
              <a:rPr lang="en-US" sz="1800" cap="none" dirty="0" smtClean="0">
                <a:latin typeface="Calibri" panose="020F0502020204030204" pitchFamily="34" charset="0"/>
                <a:cs typeface="Calibri" panose="020F0502020204030204" pitchFamily="34" charset="0"/>
              </a:rPr>
            </a:br>
            <a:r>
              <a:rPr lang="en-US" sz="1800" cap="none" dirty="0">
                <a:latin typeface="Calibri" panose="020F0502020204030204" pitchFamily="34" charset="0"/>
                <a:cs typeface="Calibri" panose="020F0502020204030204" pitchFamily="34" charset="0"/>
              </a:rPr>
              <a:t/>
            </a:r>
            <a:br>
              <a:rPr lang="en-US" sz="1800" cap="none" dirty="0">
                <a:latin typeface="Calibri" panose="020F0502020204030204" pitchFamily="34" charset="0"/>
                <a:cs typeface="Calibri" panose="020F0502020204030204" pitchFamily="34" charset="0"/>
              </a:rPr>
            </a:br>
            <a:r>
              <a:rPr lang="en-US" sz="1800" cap="none" dirty="0" smtClean="0">
                <a:latin typeface="Calibri" panose="020F0502020204030204" pitchFamily="34" charset="0"/>
                <a:cs typeface="Calibri" panose="020F0502020204030204" pitchFamily="34" charset="0"/>
              </a:rPr>
              <a:t/>
            </a:r>
            <a:br>
              <a:rPr lang="en-US" sz="1800" cap="none" dirty="0" smtClean="0">
                <a:latin typeface="Calibri" panose="020F0502020204030204" pitchFamily="34" charset="0"/>
                <a:cs typeface="Calibri" panose="020F0502020204030204" pitchFamily="34" charset="0"/>
              </a:rPr>
            </a:br>
            <a:r>
              <a:rPr lang="en-US" sz="1800" cap="none" dirty="0">
                <a:latin typeface="Calibri" panose="020F0502020204030204" pitchFamily="34" charset="0"/>
                <a:cs typeface="Calibri" panose="020F0502020204030204" pitchFamily="34" charset="0"/>
              </a:rPr>
              <a:t/>
            </a:r>
            <a:br>
              <a:rPr lang="en-US" sz="1800" cap="none" dirty="0">
                <a:latin typeface="Calibri" panose="020F0502020204030204" pitchFamily="34" charset="0"/>
                <a:cs typeface="Calibri" panose="020F0502020204030204" pitchFamily="34" charset="0"/>
              </a:rPr>
            </a:br>
            <a:endParaRPr lang="en-IN"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2813" y="4186583"/>
            <a:ext cx="2533424" cy="914528"/>
          </a:xfrm>
          <a:prstGeom prst="rect">
            <a:avLst/>
          </a:prstGeom>
        </p:spPr>
      </p:pic>
    </p:spTree>
    <p:extLst>
      <p:ext uri="{BB962C8B-B14F-4D97-AF65-F5344CB8AC3E}">
        <p14:creationId xmlns:p14="http://schemas.microsoft.com/office/powerpoint/2010/main" val="28868405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2491" y="743540"/>
            <a:ext cx="9771018" cy="5134745"/>
          </a:xfrm>
        </p:spPr>
        <p:txBody>
          <a:bodyPr>
            <a:normAutofit/>
          </a:bodyPr>
          <a:lstStyle/>
          <a:p>
            <a:r>
              <a:rPr lang="en-US" sz="2200" b="1" cap="none" dirty="0" smtClean="0">
                <a:latin typeface="Calibri" panose="020F0502020204030204" pitchFamily="34" charset="0"/>
                <a:cs typeface="Calibri" panose="020F0502020204030204" pitchFamily="34" charset="0"/>
              </a:rPr>
              <a:t>Some of the styles which we will refer to in the examples are specified in the given table.</a:t>
            </a:r>
            <a:br>
              <a:rPr lang="en-US" sz="2200" b="1" cap="none" dirty="0" smtClean="0">
                <a:latin typeface="Calibri" panose="020F0502020204030204" pitchFamily="34" charset="0"/>
                <a:cs typeface="Calibri" panose="020F0502020204030204" pitchFamily="34" charset="0"/>
              </a:rPr>
            </a:br>
            <a:r>
              <a:rPr lang="en-US" sz="2200" b="1" cap="none" dirty="0">
                <a:latin typeface="Calibri" panose="020F0502020204030204" pitchFamily="34" charset="0"/>
                <a:cs typeface="Calibri" panose="020F0502020204030204" pitchFamily="34" charset="0"/>
              </a:rPr>
              <a:t/>
            </a:r>
            <a:br>
              <a:rPr lang="en-US" sz="2200" b="1" cap="none" dirty="0">
                <a:latin typeface="Calibri" panose="020F0502020204030204" pitchFamily="34" charset="0"/>
                <a:cs typeface="Calibri" panose="020F0502020204030204" pitchFamily="34" charset="0"/>
              </a:rPr>
            </a:br>
            <a:r>
              <a:rPr lang="en-US" sz="2000" b="1" cap="none" dirty="0" smtClean="0">
                <a:latin typeface="Calibri" panose="020F0502020204030204" pitchFamily="34" charset="0"/>
                <a:cs typeface="Calibri" panose="020F0502020204030204" pitchFamily="34" charset="0"/>
              </a:rPr>
              <a:t/>
            </a:r>
            <a:br>
              <a:rPr lang="en-US" sz="2000" b="1" cap="none" dirty="0" smtClean="0">
                <a:latin typeface="Calibri" panose="020F0502020204030204" pitchFamily="34" charset="0"/>
                <a:cs typeface="Calibri" panose="020F0502020204030204" pitchFamily="34" charset="0"/>
              </a:rPr>
            </a:br>
            <a:r>
              <a:rPr lang="en-US" sz="2000" b="1" cap="none" dirty="0">
                <a:latin typeface="Calibri" panose="020F0502020204030204" pitchFamily="34" charset="0"/>
                <a:cs typeface="Calibri" panose="020F0502020204030204" pitchFamily="34" charset="0"/>
              </a:rPr>
              <a:t/>
            </a:r>
            <a:br>
              <a:rPr lang="en-US" sz="2000" b="1" cap="none" dirty="0">
                <a:latin typeface="Calibri" panose="020F0502020204030204" pitchFamily="34" charset="0"/>
                <a:cs typeface="Calibri" panose="020F0502020204030204" pitchFamily="34" charset="0"/>
              </a:rPr>
            </a:br>
            <a:r>
              <a:rPr lang="en-US" sz="2000" b="1" cap="none" dirty="0" smtClean="0">
                <a:latin typeface="Calibri" panose="020F0502020204030204" pitchFamily="34" charset="0"/>
                <a:cs typeface="Calibri" panose="020F0502020204030204" pitchFamily="34" charset="0"/>
              </a:rPr>
              <a:t/>
            </a:r>
            <a:br>
              <a:rPr lang="en-US" sz="2000" b="1" cap="none" dirty="0" smtClean="0">
                <a:latin typeface="Calibri" panose="020F0502020204030204" pitchFamily="34" charset="0"/>
                <a:cs typeface="Calibri" panose="020F0502020204030204" pitchFamily="34" charset="0"/>
              </a:rPr>
            </a:br>
            <a:r>
              <a:rPr lang="en-US" sz="2000" b="1" cap="none" dirty="0">
                <a:latin typeface="Calibri" panose="020F0502020204030204" pitchFamily="34" charset="0"/>
                <a:cs typeface="Calibri" panose="020F0502020204030204" pitchFamily="34" charset="0"/>
              </a:rPr>
              <a:t/>
            </a:r>
            <a:br>
              <a:rPr lang="en-US" sz="2000" b="1" cap="none" dirty="0">
                <a:latin typeface="Calibri" panose="020F0502020204030204" pitchFamily="34" charset="0"/>
                <a:cs typeface="Calibri" panose="020F0502020204030204" pitchFamily="34" charset="0"/>
              </a:rPr>
            </a:br>
            <a:r>
              <a:rPr lang="en-US" sz="2000" b="1" cap="none" dirty="0" smtClean="0">
                <a:latin typeface="Calibri" panose="020F0502020204030204" pitchFamily="34" charset="0"/>
                <a:cs typeface="Calibri" panose="020F0502020204030204" pitchFamily="34" charset="0"/>
              </a:rPr>
              <a:t/>
            </a:r>
            <a:br>
              <a:rPr lang="en-US" sz="2000" b="1" cap="none" dirty="0" smtClean="0">
                <a:latin typeface="Calibri" panose="020F0502020204030204" pitchFamily="34" charset="0"/>
                <a:cs typeface="Calibri" panose="020F0502020204030204" pitchFamily="34" charset="0"/>
              </a:rPr>
            </a:br>
            <a:r>
              <a:rPr lang="en-US" sz="2000" b="1" cap="none" dirty="0">
                <a:latin typeface="Calibri" panose="020F0502020204030204" pitchFamily="34" charset="0"/>
                <a:cs typeface="Calibri" panose="020F0502020204030204" pitchFamily="34" charset="0"/>
              </a:rPr>
              <a:t/>
            </a:r>
            <a:br>
              <a:rPr lang="en-US" sz="2000" b="1" cap="none" dirty="0">
                <a:latin typeface="Calibri" panose="020F0502020204030204" pitchFamily="34" charset="0"/>
                <a:cs typeface="Calibri" panose="020F0502020204030204" pitchFamily="34" charset="0"/>
              </a:rPr>
            </a:br>
            <a:r>
              <a:rPr lang="en-US" sz="2000" b="1" cap="none" dirty="0" smtClean="0">
                <a:latin typeface="Calibri" panose="020F0502020204030204" pitchFamily="34" charset="0"/>
                <a:cs typeface="Calibri" panose="020F0502020204030204" pitchFamily="34" charset="0"/>
              </a:rPr>
              <a:t/>
            </a:r>
            <a:br>
              <a:rPr lang="en-US" sz="2000" b="1" cap="none" dirty="0" smtClean="0">
                <a:latin typeface="Calibri" panose="020F0502020204030204" pitchFamily="34" charset="0"/>
                <a:cs typeface="Calibri" panose="020F0502020204030204" pitchFamily="34" charset="0"/>
              </a:rPr>
            </a:br>
            <a:r>
              <a:rPr lang="en-US" sz="2000" b="1" cap="none" dirty="0">
                <a:latin typeface="Calibri" panose="020F0502020204030204" pitchFamily="34" charset="0"/>
                <a:cs typeface="Calibri" panose="020F0502020204030204" pitchFamily="34" charset="0"/>
              </a:rPr>
              <a:t/>
            </a:r>
            <a:br>
              <a:rPr lang="en-US" sz="2000" b="1" cap="none" dirty="0">
                <a:latin typeface="Calibri" panose="020F0502020204030204" pitchFamily="34" charset="0"/>
                <a:cs typeface="Calibri" panose="020F0502020204030204" pitchFamily="34" charset="0"/>
              </a:rPr>
            </a:br>
            <a:r>
              <a:rPr lang="en-US" sz="2000" b="1" cap="none" dirty="0" smtClean="0">
                <a:latin typeface="Calibri" panose="020F0502020204030204" pitchFamily="34" charset="0"/>
                <a:cs typeface="Calibri" panose="020F0502020204030204" pitchFamily="34" charset="0"/>
              </a:rPr>
              <a:t/>
            </a:r>
            <a:br>
              <a:rPr lang="en-US" sz="2000" b="1" cap="none" dirty="0" smtClean="0">
                <a:latin typeface="Calibri" panose="020F0502020204030204" pitchFamily="34" charset="0"/>
                <a:cs typeface="Calibri" panose="020F0502020204030204" pitchFamily="34" charset="0"/>
              </a:rPr>
            </a:br>
            <a:r>
              <a:rPr lang="en-US" sz="2000" b="1" cap="none" dirty="0">
                <a:latin typeface="Calibri" panose="020F0502020204030204" pitchFamily="34" charset="0"/>
                <a:cs typeface="Calibri" panose="020F0502020204030204" pitchFamily="34" charset="0"/>
              </a:rPr>
              <a:t/>
            </a:r>
            <a:br>
              <a:rPr lang="en-US" sz="2000" b="1" cap="none" dirty="0">
                <a:latin typeface="Calibri" panose="020F0502020204030204" pitchFamily="34" charset="0"/>
                <a:cs typeface="Calibri" panose="020F0502020204030204" pitchFamily="34" charset="0"/>
              </a:rPr>
            </a:br>
            <a:r>
              <a:rPr lang="en-US" sz="2000" b="1" cap="none" dirty="0" smtClean="0">
                <a:latin typeface="Calibri" panose="020F0502020204030204" pitchFamily="34" charset="0"/>
                <a:cs typeface="Calibri" panose="020F0502020204030204" pitchFamily="34" charset="0"/>
              </a:rPr>
              <a:t/>
            </a:r>
            <a:br>
              <a:rPr lang="en-US" sz="2000" b="1" cap="none" dirty="0" smtClean="0">
                <a:latin typeface="Calibri" panose="020F0502020204030204" pitchFamily="34" charset="0"/>
                <a:cs typeface="Calibri" panose="020F0502020204030204" pitchFamily="34" charset="0"/>
              </a:rPr>
            </a:br>
            <a:r>
              <a:rPr lang="en-US" sz="2000" b="1" cap="none" dirty="0">
                <a:latin typeface="Calibri" panose="020F0502020204030204" pitchFamily="34" charset="0"/>
                <a:cs typeface="Calibri" panose="020F0502020204030204" pitchFamily="34" charset="0"/>
              </a:rPr>
              <a:t/>
            </a:r>
            <a:br>
              <a:rPr lang="en-US" sz="2000" b="1" cap="none" dirty="0">
                <a:latin typeface="Calibri" panose="020F0502020204030204" pitchFamily="34" charset="0"/>
                <a:cs typeface="Calibri" panose="020F0502020204030204" pitchFamily="34" charset="0"/>
              </a:rPr>
            </a:br>
            <a:r>
              <a:rPr lang="en-US" sz="2000" b="1" cap="none" dirty="0" smtClean="0">
                <a:latin typeface="Calibri" panose="020F0502020204030204" pitchFamily="34" charset="0"/>
                <a:cs typeface="Calibri" panose="020F0502020204030204" pitchFamily="34" charset="0"/>
              </a:rPr>
              <a:t/>
            </a:r>
            <a:br>
              <a:rPr lang="en-US" sz="2000" b="1" cap="none" dirty="0" smtClean="0">
                <a:latin typeface="Calibri" panose="020F0502020204030204" pitchFamily="34" charset="0"/>
                <a:cs typeface="Calibri" panose="020F0502020204030204" pitchFamily="34" charset="0"/>
              </a:rPr>
            </a:br>
            <a:r>
              <a:rPr lang="en-US" sz="2000" b="1" cap="none" dirty="0">
                <a:latin typeface="Calibri" panose="020F0502020204030204" pitchFamily="34" charset="0"/>
                <a:cs typeface="Calibri" panose="020F0502020204030204" pitchFamily="34" charset="0"/>
              </a:rPr>
              <a:t/>
            </a:r>
            <a:br>
              <a:rPr lang="en-US" sz="2000" b="1" cap="none" dirty="0">
                <a:latin typeface="Calibri" panose="020F0502020204030204" pitchFamily="34" charset="0"/>
                <a:cs typeface="Calibri" panose="020F0502020204030204" pitchFamily="34" charset="0"/>
              </a:rPr>
            </a:br>
            <a:endParaRPr lang="en-IN" sz="2000" cap="none"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7909" y="1131066"/>
            <a:ext cx="6220045" cy="4639817"/>
          </a:xfrm>
          <a:prstGeom prst="rect">
            <a:avLst/>
          </a:prstGeom>
        </p:spPr>
      </p:pic>
    </p:spTree>
    <p:extLst>
      <p:ext uri="{BB962C8B-B14F-4D97-AF65-F5344CB8AC3E}">
        <p14:creationId xmlns:p14="http://schemas.microsoft.com/office/powerpoint/2010/main" val="41618231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46241" y="808854"/>
            <a:ext cx="9684205" cy="5200059"/>
          </a:xfrm>
        </p:spPr>
        <p:txBody>
          <a:bodyPr>
            <a:normAutofit fontScale="90000"/>
          </a:bodyPr>
          <a:lstStyle/>
          <a:p>
            <a:r>
              <a:rPr lang="en-IN" sz="2800" b="1" dirty="0" smtClean="0">
                <a:solidFill>
                  <a:srgbClr val="FFFF00"/>
                </a:solidFill>
              </a:rPr>
              <a:t>I</a:t>
            </a:r>
            <a:r>
              <a:rPr lang="en-IN" sz="2800" b="1" cap="none" dirty="0" smtClean="0">
                <a:solidFill>
                  <a:srgbClr val="FFFF00"/>
                </a:solidFill>
              </a:rPr>
              <a:t>nline </a:t>
            </a:r>
            <a:r>
              <a:rPr lang="en-IN" sz="2800" b="1" dirty="0" smtClean="0">
                <a:solidFill>
                  <a:srgbClr val="FFFF00"/>
                </a:solidFill>
              </a:rPr>
              <a:t>CSS</a:t>
            </a:r>
            <a:br>
              <a:rPr lang="en-IN" sz="2800" b="1" dirty="0" smtClean="0">
                <a:solidFill>
                  <a:srgbClr val="FFFF00"/>
                </a:solidFill>
              </a:rPr>
            </a:br>
            <a:r>
              <a:rPr lang="en-US" sz="2000" cap="none" dirty="0" smtClean="0">
                <a:latin typeface="Calibri" panose="020F0502020204030204" pitchFamily="34" charset="0"/>
                <a:cs typeface="Calibri" panose="020F0502020204030204" pitchFamily="34" charset="0"/>
              </a:rPr>
              <a:t>You can use inline CSS to embed your CSS in line with HTML elements. The style tag is added to the</a:t>
            </a:r>
            <a:br>
              <a:rPr lang="en-US" sz="2000" cap="none" dirty="0" smtClean="0">
                <a:latin typeface="Calibri" panose="020F0502020204030204" pitchFamily="34" charset="0"/>
                <a:cs typeface="Calibri" panose="020F0502020204030204" pitchFamily="34" charset="0"/>
              </a:rPr>
            </a:br>
            <a:r>
              <a:rPr lang="en-US" sz="2000" cap="none" dirty="0" smtClean="0">
                <a:latin typeface="Calibri" panose="020F0502020204030204" pitchFamily="34" charset="0"/>
                <a:cs typeface="Calibri" panose="020F0502020204030204" pitchFamily="34" charset="0"/>
              </a:rPr>
              <a:t>tag as an attribute along with the name of the CSS style. In the given example, font color is associated</a:t>
            </a:r>
            <a:br>
              <a:rPr lang="en-US"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with the text.</a:t>
            </a:r>
            <a:br>
              <a:rPr lang="en-IN" sz="2000" cap="none" dirty="0" smtClean="0">
                <a:latin typeface="Calibri" panose="020F0502020204030204" pitchFamily="34" charset="0"/>
                <a:cs typeface="Calibri" panose="020F0502020204030204" pitchFamily="34" charset="0"/>
              </a:rPr>
            </a:br>
            <a:r>
              <a:rPr lang="en-IN" sz="2000" cap="none" dirty="0" smtClean="0">
                <a:solidFill>
                  <a:srgbClr val="FFFF00"/>
                </a:solidFill>
                <a:latin typeface="Calibri" panose="020F0502020204030204" pitchFamily="34" charset="0"/>
                <a:cs typeface="Calibri" panose="020F0502020204030204" pitchFamily="34" charset="0"/>
              </a:rPr>
              <a:t>For example</a:t>
            </a:r>
            <a:r>
              <a:rPr lang="en-IN" sz="2000" cap="none" dirty="0" smtClean="0">
                <a:latin typeface="Calibri" panose="020F0502020204030204" pitchFamily="34" charset="0"/>
                <a:cs typeface="Calibri" panose="020F0502020204030204" pitchFamily="34" charset="0"/>
              </a:rPr>
              <a:t>,</a:t>
            </a:r>
            <a:br>
              <a:rPr lang="en-IN"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&lt;p style= “color: blue”&gt;</a:t>
            </a:r>
            <a:br>
              <a:rPr lang="en-IN" sz="2000" cap="none" dirty="0" smtClean="0">
                <a:latin typeface="Calibri" panose="020F0502020204030204" pitchFamily="34" charset="0"/>
                <a:cs typeface="Calibri" panose="020F0502020204030204" pitchFamily="34" charset="0"/>
              </a:rPr>
            </a:br>
            <a:r>
              <a:rPr lang="en-US" sz="2000" cap="none" dirty="0">
                <a:latin typeface="Calibri" panose="020F0502020204030204" pitchFamily="34" charset="0"/>
                <a:cs typeface="Calibri" panose="020F0502020204030204" pitchFamily="34" charset="0"/>
              </a:rPr>
              <a:t>I</a:t>
            </a:r>
            <a:r>
              <a:rPr lang="en-US" sz="2000" cap="none" dirty="0" smtClean="0">
                <a:latin typeface="Calibri" panose="020F0502020204030204" pitchFamily="34" charset="0"/>
                <a:cs typeface="Calibri" panose="020F0502020204030204" pitchFamily="34" charset="0"/>
              </a:rPr>
              <a:t>t uses CSS to specify that text in the current paragraph is blue</a:t>
            </a:r>
            <a:br>
              <a:rPr lang="en-US" sz="2000" cap="none" dirty="0" smtClean="0">
                <a:latin typeface="Calibri" panose="020F0502020204030204" pitchFamily="34" charset="0"/>
                <a:cs typeface="Calibri" panose="020F0502020204030204" pitchFamily="34" charset="0"/>
              </a:rPr>
            </a:br>
            <a:r>
              <a:rPr lang="en-IN" sz="2000" cap="none" dirty="0">
                <a:solidFill>
                  <a:srgbClr val="FFFF00"/>
                </a:solidFill>
                <a:latin typeface="Calibri" panose="020F0502020204030204" pitchFamily="34" charset="0"/>
                <a:cs typeface="Calibri" panose="020F0502020204030204" pitchFamily="34" charset="0"/>
              </a:rPr>
              <a:t>E</a:t>
            </a:r>
            <a:r>
              <a:rPr lang="en-IN" sz="2000" cap="none" dirty="0" smtClean="0">
                <a:solidFill>
                  <a:srgbClr val="FFFF00"/>
                </a:solidFill>
                <a:latin typeface="Calibri" panose="020F0502020204030204" pitchFamily="34" charset="0"/>
                <a:cs typeface="Calibri" panose="020F0502020204030204" pitchFamily="34" charset="0"/>
              </a:rPr>
              <a:t>xample:</a:t>
            </a:r>
            <a:r>
              <a:rPr lang="en-IN" sz="2000" cap="none" dirty="0" smtClean="0">
                <a:latin typeface="Calibri" panose="020F0502020204030204" pitchFamily="34" charset="0"/>
                <a:cs typeface="Calibri" panose="020F0502020204030204" pitchFamily="34" charset="0"/>
              </a:rPr>
              <a:t/>
            </a:r>
            <a:br>
              <a:rPr lang="en-IN"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&lt;html&gt;</a:t>
            </a:r>
            <a:br>
              <a:rPr lang="en-IN"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&lt;body&gt;</a:t>
            </a:r>
            <a:br>
              <a:rPr lang="en-IN"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a:t>
            </a:r>
            <a:r>
              <a:rPr lang="en-US" sz="2000" cap="none" dirty="0" smtClean="0">
                <a:latin typeface="Calibri" panose="020F0502020204030204" pitchFamily="34" charset="0"/>
                <a:cs typeface="Calibri" panose="020F0502020204030204" pitchFamily="34" charset="0"/>
              </a:rPr>
              <a:t>&lt;h1&gt;&lt;p style="color: blue"&gt; introduction to CSS &lt;/p&gt;&lt;/h1&gt;&lt;br&gt;</a:t>
            </a:r>
            <a:br>
              <a:rPr lang="en-US" sz="2000" cap="none" dirty="0" smtClean="0">
                <a:latin typeface="Calibri" panose="020F0502020204030204" pitchFamily="34" charset="0"/>
                <a:cs typeface="Calibri" panose="020F0502020204030204" pitchFamily="34" charset="0"/>
              </a:rPr>
            </a:br>
            <a:r>
              <a:rPr lang="en-US" sz="2000" cap="none" dirty="0" smtClean="0">
                <a:latin typeface="Calibri" panose="020F0502020204030204" pitchFamily="34" charset="0"/>
                <a:cs typeface="Calibri" panose="020F0502020204030204" pitchFamily="34" charset="0"/>
              </a:rPr>
              <a:t>                &lt;h1&gt;&lt;p style="color: green"&gt; introduction to CSS &lt;/p&gt;&lt;/h1&gt;</a:t>
            </a:r>
            <a:br>
              <a:rPr lang="en-US" sz="2000" cap="none" dirty="0" smtClean="0">
                <a:latin typeface="Calibri" panose="020F0502020204030204" pitchFamily="34" charset="0"/>
                <a:cs typeface="Calibri" panose="020F0502020204030204" pitchFamily="34" charset="0"/>
              </a:rPr>
            </a:br>
            <a:r>
              <a:rPr lang="en-US" sz="2000" cap="none" dirty="0" smtClean="0">
                <a:latin typeface="Calibri" panose="020F0502020204030204" pitchFamily="34" charset="0"/>
                <a:cs typeface="Calibri" panose="020F0502020204030204" pitchFamily="34" charset="0"/>
              </a:rPr>
              <a:t>                 </a:t>
            </a:r>
            <a:r>
              <a:rPr lang="en-IN" sz="2000" cap="none" dirty="0" smtClean="0">
                <a:latin typeface="Calibri" panose="020F0502020204030204" pitchFamily="34" charset="0"/>
                <a:cs typeface="Calibri" panose="020F0502020204030204" pitchFamily="34" charset="0"/>
              </a:rPr>
              <a:t>&lt;/body&gt;</a:t>
            </a:r>
            <a:br>
              <a:rPr lang="en-IN"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&lt;/html&gt;</a:t>
            </a:r>
            <a:r>
              <a:rPr lang="en-IN" sz="2800" b="1" cap="none" dirty="0" smtClean="0"/>
              <a:t/>
            </a:r>
            <a:br>
              <a:rPr lang="en-IN" sz="2800" b="1" cap="none" dirty="0" smtClean="0"/>
            </a:br>
            <a:r>
              <a:rPr lang="en-IN" sz="2800" b="1" cap="none" dirty="0" smtClean="0"/>
              <a:t/>
            </a:r>
            <a:br>
              <a:rPr lang="en-IN" sz="2800" b="1" cap="none" dirty="0" smtClean="0"/>
            </a:br>
            <a:r>
              <a:rPr lang="en-IN" sz="2800" b="1" cap="none" dirty="0"/>
              <a:t/>
            </a:r>
            <a:br>
              <a:rPr lang="en-IN" sz="2800" b="1" cap="none" dirty="0"/>
            </a:br>
            <a:r>
              <a:rPr lang="en-IN" sz="2800" b="1" cap="none" dirty="0" smtClean="0"/>
              <a:t/>
            </a:r>
            <a:br>
              <a:rPr lang="en-IN" sz="2800" b="1" cap="none" dirty="0" smtClean="0"/>
            </a:br>
            <a:endParaRPr lang="en-IN"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4813" y="4355968"/>
            <a:ext cx="5087060" cy="1228896"/>
          </a:xfrm>
          <a:prstGeom prst="rect">
            <a:avLst/>
          </a:prstGeom>
        </p:spPr>
      </p:pic>
    </p:spTree>
    <p:extLst>
      <p:ext uri="{BB962C8B-B14F-4D97-AF65-F5344CB8AC3E}">
        <p14:creationId xmlns:p14="http://schemas.microsoft.com/office/powerpoint/2010/main" val="41610616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89933" y="743539"/>
            <a:ext cx="9631953" cy="5330689"/>
          </a:xfrm>
        </p:spPr>
        <p:txBody>
          <a:bodyPr>
            <a:normAutofit/>
          </a:bodyPr>
          <a:lstStyle/>
          <a:p>
            <a:r>
              <a:rPr lang="en-IN" sz="2200" b="1" dirty="0">
                <a:solidFill>
                  <a:srgbClr val="FFFF00"/>
                </a:solidFill>
              </a:rPr>
              <a:t>Use of &lt;DIV&gt; tag </a:t>
            </a:r>
            <a:r>
              <a:rPr lang="en-IN" sz="2200" b="1" dirty="0" smtClean="0">
                <a:solidFill>
                  <a:srgbClr val="FFFF00"/>
                </a:solidFill>
              </a:rPr>
              <a:t/>
            </a:r>
            <a:br>
              <a:rPr lang="en-IN" sz="2200" b="1" dirty="0" smtClean="0">
                <a:solidFill>
                  <a:srgbClr val="FFFF00"/>
                </a:solidFill>
              </a:rPr>
            </a:br>
            <a:r>
              <a:rPr lang="en-US" sz="1800" cap="none" dirty="0" smtClean="0">
                <a:latin typeface="Calibri" panose="020F0502020204030204" pitchFamily="34" charset="0"/>
                <a:cs typeface="Calibri" panose="020F0502020204030204" pitchFamily="34" charset="0"/>
              </a:rPr>
              <a:t>When we need to apply styles to a particular portion or block of text in an HTML document then we</a:t>
            </a:r>
            <a:br>
              <a:rPr lang="en-US" sz="1800" cap="none" dirty="0" smtClean="0">
                <a:latin typeface="Calibri" panose="020F0502020204030204" pitchFamily="34" charset="0"/>
                <a:cs typeface="Calibri" panose="020F0502020204030204" pitchFamily="34" charset="0"/>
              </a:rPr>
            </a:br>
            <a:r>
              <a:rPr lang="en-US" sz="1800" cap="none" dirty="0" smtClean="0">
                <a:latin typeface="Calibri" panose="020F0502020204030204" pitchFamily="34" charset="0"/>
                <a:cs typeface="Calibri" panose="020F0502020204030204" pitchFamily="34" charset="0"/>
              </a:rPr>
              <a:t>use &lt;DIV&gt; tag. The style attribute is used in the similar manner as used in the above case. Here is an</a:t>
            </a:r>
            <a:br>
              <a:rPr lang="en-US" sz="1800" cap="none" dirty="0" smtClean="0">
                <a:latin typeface="Calibri" panose="020F0502020204030204" pitchFamily="34" charset="0"/>
                <a:cs typeface="Calibri" panose="020F0502020204030204" pitchFamily="34" charset="0"/>
              </a:rPr>
            </a:br>
            <a:r>
              <a:rPr lang="en-US" sz="1800" cap="none" dirty="0" smtClean="0">
                <a:latin typeface="Calibri" panose="020F0502020204030204" pitchFamily="34" charset="0"/>
                <a:cs typeface="Calibri" panose="020F0502020204030204" pitchFamily="34" charset="0"/>
              </a:rPr>
              <a:t>example to show the use of the &lt;DIV&gt; tag. We can use other HTML tags within the &lt;DIV&gt; tag.</a:t>
            </a:r>
            <a:br>
              <a:rPr lang="en-US" sz="1800" cap="none" dirty="0" smtClean="0">
                <a:latin typeface="Calibri" panose="020F0502020204030204" pitchFamily="34" charset="0"/>
                <a:cs typeface="Calibri" panose="020F0502020204030204" pitchFamily="34" charset="0"/>
              </a:rPr>
            </a:br>
            <a:r>
              <a:rPr lang="en-IN" sz="1800" cap="none" dirty="0" smtClean="0">
                <a:latin typeface="Calibri" panose="020F0502020204030204" pitchFamily="34" charset="0"/>
                <a:cs typeface="Calibri" panose="020F0502020204030204" pitchFamily="34" charset="0"/>
              </a:rPr>
              <a:t>Example:</a:t>
            </a:r>
            <a:br>
              <a:rPr lang="en-IN" sz="1800" cap="none" dirty="0" smtClean="0">
                <a:latin typeface="Calibri" panose="020F0502020204030204" pitchFamily="34" charset="0"/>
                <a:cs typeface="Calibri" panose="020F0502020204030204" pitchFamily="34" charset="0"/>
              </a:rPr>
            </a:br>
            <a:r>
              <a:rPr lang="en-IN" sz="1800" cap="none" dirty="0" smtClean="0">
                <a:latin typeface="Calibri" panose="020F0502020204030204" pitchFamily="34" charset="0"/>
                <a:cs typeface="Calibri" panose="020F0502020204030204" pitchFamily="34" charset="0"/>
              </a:rPr>
              <a:t>                  &lt;html&gt;</a:t>
            </a:r>
            <a:br>
              <a:rPr lang="en-IN" sz="1800" cap="none" dirty="0" smtClean="0">
                <a:latin typeface="Calibri" panose="020F0502020204030204" pitchFamily="34" charset="0"/>
                <a:cs typeface="Calibri" panose="020F0502020204030204" pitchFamily="34" charset="0"/>
              </a:rPr>
            </a:br>
            <a:r>
              <a:rPr lang="en-IN" sz="1800" cap="none" dirty="0" smtClean="0">
                <a:latin typeface="Calibri" panose="020F0502020204030204" pitchFamily="34" charset="0"/>
                <a:cs typeface="Calibri" panose="020F0502020204030204" pitchFamily="34" charset="0"/>
              </a:rPr>
              <a:t>                  </a:t>
            </a:r>
            <a:r>
              <a:rPr lang="en-US" sz="1800" cap="none" dirty="0" smtClean="0">
                <a:latin typeface="Calibri" panose="020F0502020204030204" pitchFamily="34" charset="0"/>
                <a:cs typeface="Calibri" panose="020F0502020204030204" pitchFamily="34" charset="0"/>
              </a:rPr>
              <a:t>&lt;head&gt; &lt;h1&gt;&lt;center&gt; CSS &lt;/center&gt;&lt;/h1&gt;&lt;/head&gt;</a:t>
            </a:r>
            <a:br>
              <a:rPr lang="en-US" sz="1800" cap="none" dirty="0" smtClean="0">
                <a:latin typeface="Calibri" panose="020F0502020204030204" pitchFamily="34" charset="0"/>
                <a:cs typeface="Calibri" panose="020F0502020204030204" pitchFamily="34" charset="0"/>
              </a:rPr>
            </a:br>
            <a:r>
              <a:rPr lang="en-US" sz="1800" cap="none" dirty="0" smtClean="0">
                <a:latin typeface="Calibri" panose="020F0502020204030204" pitchFamily="34" charset="0"/>
                <a:cs typeface="Calibri" panose="020F0502020204030204" pitchFamily="34" charset="0"/>
              </a:rPr>
              <a:t>                  </a:t>
            </a:r>
            <a:r>
              <a:rPr lang="en-IN" sz="1800" cap="none" dirty="0" smtClean="0">
                <a:latin typeface="Calibri" panose="020F0502020204030204" pitchFamily="34" charset="0"/>
                <a:cs typeface="Calibri" panose="020F0502020204030204" pitchFamily="34" charset="0"/>
              </a:rPr>
              <a:t>&lt;body&gt;</a:t>
            </a:r>
            <a:br>
              <a:rPr lang="en-IN" sz="1800" cap="none" dirty="0" smtClean="0">
                <a:latin typeface="Calibri" panose="020F0502020204030204" pitchFamily="34" charset="0"/>
                <a:cs typeface="Calibri" panose="020F0502020204030204" pitchFamily="34" charset="0"/>
              </a:rPr>
            </a:br>
            <a:r>
              <a:rPr lang="en-IN" sz="1800" cap="none" dirty="0" smtClean="0">
                <a:latin typeface="Calibri" panose="020F0502020204030204" pitchFamily="34" charset="0"/>
                <a:cs typeface="Calibri" panose="020F0502020204030204" pitchFamily="34" charset="0"/>
              </a:rPr>
              <a:t>                  &lt;div style="color:blue;border:double;background:orange"&gt;</a:t>
            </a:r>
            <a:br>
              <a:rPr lang="en-IN" sz="1800" cap="none" dirty="0" smtClean="0">
                <a:latin typeface="Calibri" panose="020F0502020204030204" pitchFamily="34" charset="0"/>
                <a:cs typeface="Calibri" panose="020F0502020204030204" pitchFamily="34" charset="0"/>
              </a:rPr>
            </a:br>
            <a:r>
              <a:rPr lang="en-IN" sz="1800" cap="none" dirty="0" smtClean="0">
                <a:latin typeface="Calibri" panose="020F0502020204030204" pitchFamily="34" charset="0"/>
                <a:cs typeface="Calibri" panose="020F0502020204030204" pitchFamily="34" charset="0"/>
              </a:rPr>
              <a:t>                   </a:t>
            </a:r>
            <a:r>
              <a:rPr lang="en-US" sz="1800" cap="none" dirty="0" smtClean="0">
                <a:latin typeface="Calibri" panose="020F0502020204030204" pitchFamily="34" charset="0"/>
                <a:cs typeface="Calibri" panose="020F0502020204030204" pitchFamily="34" charset="0"/>
              </a:rPr>
              <a:t>&lt;p&gt;&lt;b&gt; CSS was First proposed by Hakon </a:t>
            </a:r>
            <a:r>
              <a:rPr lang="en-US" sz="1800" cap="none" dirty="0">
                <a:latin typeface="Calibri" panose="020F0502020204030204" pitchFamily="34" charset="0"/>
                <a:cs typeface="Calibri" panose="020F0502020204030204" pitchFamily="34" charset="0"/>
              </a:rPr>
              <a:t>W</a:t>
            </a:r>
            <a:r>
              <a:rPr lang="en-US" sz="1800" cap="none" dirty="0" smtClean="0">
                <a:latin typeface="Calibri" panose="020F0502020204030204" pitchFamily="34" charset="0"/>
                <a:cs typeface="Calibri" panose="020F0502020204030204" pitchFamily="34" charset="0"/>
              </a:rPr>
              <a:t>ium Lie in October, 1994. &lt;Br&gt;&lt;/b&gt;</a:t>
            </a:r>
            <a:br>
              <a:rPr lang="en-US" sz="1800" cap="none" dirty="0" smtClean="0">
                <a:latin typeface="Calibri" panose="020F0502020204030204" pitchFamily="34" charset="0"/>
                <a:cs typeface="Calibri" panose="020F0502020204030204" pitchFamily="34" charset="0"/>
              </a:rPr>
            </a:br>
            <a:r>
              <a:rPr lang="en-US" sz="1800" cap="none" dirty="0" smtClean="0">
                <a:latin typeface="Calibri" panose="020F0502020204030204" pitchFamily="34" charset="0"/>
                <a:cs typeface="Calibri" panose="020F0502020204030204" pitchFamily="34" charset="0"/>
              </a:rPr>
              <a:t>                   By the end of 1996, CSS was ready to become official.</a:t>
            </a:r>
            <a:br>
              <a:rPr lang="en-US" sz="1800" cap="none" dirty="0" smtClean="0">
                <a:latin typeface="Calibri" panose="020F0502020204030204" pitchFamily="34" charset="0"/>
                <a:cs typeface="Calibri" panose="020F0502020204030204" pitchFamily="34" charset="0"/>
              </a:rPr>
            </a:br>
            <a:r>
              <a:rPr lang="en-US" sz="1800" cap="none" dirty="0" smtClean="0">
                <a:latin typeface="Calibri" panose="020F0502020204030204" pitchFamily="34" charset="0"/>
                <a:cs typeface="Calibri" panose="020F0502020204030204" pitchFamily="34" charset="0"/>
              </a:rPr>
              <a:t>                   </a:t>
            </a:r>
            <a:r>
              <a:rPr lang="en-IN" sz="1800" cap="none" dirty="0" smtClean="0">
                <a:latin typeface="Calibri" panose="020F0502020204030204" pitchFamily="34" charset="0"/>
                <a:cs typeface="Calibri" panose="020F0502020204030204" pitchFamily="34" charset="0"/>
              </a:rPr>
              <a:t>&lt;/div&gt;</a:t>
            </a:r>
            <a:br>
              <a:rPr lang="en-IN" sz="1800" cap="none" dirty="0" smtClean="0">
                <a:latin typeface="Calibri" panose="020F0502020204030204" pitchFamily="34" charset="0"/>
                <a:cs typeface="Calibri" panose="020F0502020204030204" pitchFamily="34" charset="0"/>
              </a:rPr>
            </a:br>
            <a:r>
              <a:rPr lang="en-IN" sz="1800" cap="none" dirty="0" smtClean="0">
                <a:latin typeface="Calibri" panose="020F0502020204030204" pitchFamily="34" charset="0"/>
                <a:cs typeface="Calibri" panose="020F0502020204030204" pitchFamily="34" charset="0"/>
              </a:rPr>
              <a:t>                   &lt;/body&gt;</a:t>
            </a:r>
            <a:br>
              <a:rPr lang="en-IN" sz="1800" cap="none" dirty="0" smtClean="0">
                <a:latin typeface="Calibri" panose="020F0502020204030204" pitchFamily="34" charset="0"/>
                <a:cs typeface="Calibri" panose="020F0502020204030204" pitchFamily="34" charset="0"/>
              </a:rPr>
            </a:br>
            <a:r>
              <a:rPr lang="en-IN" sz="1800" cap="none" dirty="0" smtClean="0">
                <a:latin typeface="Calibri" panose="020F0502020204030204" pitchFamily="34" charset="0"/>
                <a:cs typeface="Calibri" panose="020F0502020204030204" pitchFamily="34" charset="0"/>
              </a:rPr>
              <a:t>                   &lt;/html&gt;</a:t>
            </a:r>
            <a:br>
              <a:rPr lang="en-IN" sz="1800" cap="none" dirty="0" smtClean="0">
                <a:latin typeface="Calibri" panose="020F0502020204030204" pitchFamily="34" charset="0"/>
                <a:cs typeface="Calibri" panose="020F0502020204030204" pitchFamily="34" charset="0"/>
              </a:rPr>
            </a:br>
            <a:r>
              <a:rPr lang="en-IN" sz="1800" cap="none" dirty="0">
                <a:latin typeface="Calibri" panose="020F0502020204030204" pitchFamily="34" charset="0"/>
                <a:cs typeface="Calibri" panose="020F0502020204030204" pitchFamily="34" charset="0"/>
              </a:rPr>
              <a:t/>
            </a:r>
            <a:br>
              <a:rPr lang="en-IN" sz="1800" cap="none" dirty="0">
                <a:latin typeface="Calibri" panose="020F0502020204030204" pitchFamily="34" charset="0"/>
                <a:cs typeface="Calibri" panose="020F0502020204030204" pitchFamily="34" charset="0"/>
              </a:rPr>
            </a:br>
            <a:r>
              <a:rPr lang="en-IN" sz="1800" cap="none" dirty="0" smtClean="0">
                <a:latin typeface="Calibri" panose="020F0502020204030204" pitchFamily="34" charset="0"/>
                <a:cs typeface="Calibri" panose="020F0502020204030204" pitchFamily="34" charset="0"/>
              </a:rPr>
              <a:t/>
            </a:r>
            <a:br>
              <a:rPr lang="en-IN" sz="1800" cap="none" dirty="0" smtClean="0">
                <a:latin typeface="Calibri" panose="020F0502020204030204" pitchFamily="34" charset="0"/>
                <a:cs typeface="Calibri" panose="020F0502020204030204" pitchFamily="34" charset="0"/>
              </a:rPr>
            </a:br>
            <a:r>
              <a:rPr lang="en-IN" sz="1800" cap="none" dirty="0">
                <a:latin typeface="Calibri" panose="020F0502020204030204" pitchFamily="34" charset="0"/>
                <a:cs typeface="Calibri" panose="020F0502020204030204" pitchFamily="34" charset="0"/>
              </a:rPr>
              <a:t/>
            </a:r>
            <a:br>
              <a:rPr lang="en-IN" sz="1800" cap="none" dirty="0">
                <a:latin typeface="Calibri" panose="020F0502020204030204" pitchFamily="34" charset="0"/>
                <a:cs typeface="Calibri" panose="020F0502020204030204" pitchFamily="34" charset="0"/>
              </a:rPr>
            </a:br>
            <a:r>
              <a:rPr lang="en-IN" sz="1800" cap="none" dirty="0" smtClean="0">
                <a:latin typeface="Calibri" panose="020F0502020204030204" pitchFamily="34" charset="0"/>
                <a:cs typeface="Calibri" panose="020F0502020204030204" pitchFamily="34" charset="0"/>
              </a:rPr>
              <a:t/>
            </a:r>
            <a:br>
              <a:rPr lang="en-IN" sz="1800" cap="none" dirty="0" smtClean="0">
                <a:latin typeface="Calibri" panose="020F0502020204030204" pitchFamily="34" charset="0"/>
                <a:cs typeface="Calibri" panose="020F0502020204030204" pitchFamily="34" charset="0"/>
              </a:rPr>
            </a:br>
            <a:r>
              <a:rPr lang="en-IN" sz="1800" cap="none" dirty="0">
                <a:latin typeface="Calibri" panose="020F0502020204030204" pitchFamily="34" charset="0"/>
                <a:cs typeface="Calibri" panose="020F0502020204030204" pitchFamily="34" charset="0"/>
              </a:rPr>
              <a:t/>
            </a:r>
            <a:br>
              <a:rPr lang="en-IN" sz="1800" cap="none" dirty="0">
                <a:latin typeface="Calibri" panose="020F0502020204030204" pitchFamily="34" charset="0"/>
                <a:cs typeface="Calibri" panose="020F0502020204030204" pitchFamily="34" charset="0"/>
              </a:rPr>
            </a:br>
            <a:endParaRPr lang="en-IN" sz="1800" cap="none"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5964" y="3929880"/>
            <a:ext cx="5163271" cy="1924319"/>
          </a:xfrm>
          <a:prstGeom prst="rect">
            <a:avLst/>
          </a:prstGeom>
        </p:spPr>
      </p:pic>
    </p:spTree>
    <p:extLst>
      <p:ext uri="{BB962C8B-B14F-4D97-AF65-F5344CB8AC3E}">
        <p14:creationId xmlns:p14="http://schemas.microsoft.com/office/powerpoint/2010/main" val="7227785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42184" y="795790"/>
            <a:ext cx="9318445" cy="5265375"/>
          </a:xfrm>
        </p:spPr>
        <p:txBody>
          <a:bodyPr>
            <a:normAutofit/>
          </a:bodyPr>
          <a:lstStyle/>
          <a:p>
            <a:r>
              <a:rPr lang="en-IN" sz="2000" b="1" dirty="0" smtClean="0">
                <a:solidFill>
                  <a:srgbClr val="FFFF00"/>
                </a:solidFill>
                <a:latin typeface="Calibri" panose="020F0502020204030204" pitchFamily="34" charset="0"/>
                <a:cs typeface="Calibri" panose="020F0502020204030204" pitchFamily="34" charset="0"/>
              </a:rPr>
              <a:t>Use of &lt;span&gt; tag</a:t>
            </a:r>
            <a:r>
              <a:rPr lang="en-IN" sz="2000" b="1" dirty="0" smtClean="0">
                <a:latin typeface="Calibri" panose="020F0502020204030204" pitchFamily="34" charset="0"/>
                <a:cs typeface="Calibri" panose="020F0502020204030204" pitchFamily="34" charset="0"/>
              </a:rPr>
              <a:t/>
            </a:r>
            <a:br>
              <a:rPr lang="en-IN" sz="2000" b="1" dirty="0" smtClean="0">
                <a:latin typeface="Calibri" panose="020F0502020204030204" pitchFamily="34" charset="0"/>
                <a:cs typeface="Calibri" panose="020F0502020204030204" pitchFamily="34" charset="0"/>
              </a:rPr>
            </a:br>
            <a:r>
              <a:rPr lang="en-US" sz="2000" cap="none" dirty="0" smtClean="0">
                <a:latin typeface="Calibri" panose="020F0502020204030204" pitchFamily="34" charset="0"/>
                <a:cs typeface="Calibri" panose="020F0502020204030204" pitchFamily="34" charset="0"/>
              </a:rPr>
              <a:t>This tag is used to delimit an arbitrary piece of text. In other words, It is used to provide style to a part of text with an existing tag. Look at the given example.</a:t>
            </a:r>
            <a:br>
              <a:rPr lang="en-US" sz="2000" cap="none" dirty="0" smtClean="0">
                <a:latin typeface="Calibri" panose="020F0502020204030204" pitchFamily="34" charset="0"/>
                <a:cs typeface="Calibri" panose="020F0502020204030204" pitchFamily="34" charset="0"/>
              </a:rPr>
            </a:br>
            <a:r>
              <a:rPr lang="en-IN" sz="2000" cap="none" dirty="0" smtClean="0">
                <a:solidFill>
                  <a:srgbClr val="FFFF00"/>
                </a:solidFill>
                <a:latin typeface="Calibri" panose="020F0502020204030204" pitchFamily="34" charset="0"/>
                <a:cs typeface="Calibri" panose="020F0502020204030204" pitchFamily="34" charset="0"/>
              </a:rPr>
              <a:t>Example:</a:t>
            </a:r>
            <a:r>
              <a:rPr lang="en-IN" sz="2000" cap="none" dirty="0" smtClean="0">
                <a:latin typeface="Calibri" panose="020F0502020204030204" pitchFamily="34" charset="0"/>
                <a:cs typeface="Calibri" panose="020F0502020204030204" pitchFamily="34" charset="0"/>
              </a:rPr>
              <a:t/>
            </a:r>
            <a:br>
              <a:rPr lang="en-IN"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&lt;html&gt;</a:t>
            </a:r>
            <a:br>
              <a:rPr lang="en-IN"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&lt;body&gt;</a:t>
            </a:r>
            <a:br>
              <a:rPr lang="en-IN"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a:t>
            </a:r>
            <a:r>
              <a:rPr lang="en-US" sz="2000" cap="none" dirty="0" smtClean="0">
                <a:latin typeface="Calibri" panose="020F0502020204030204" pitchFamily="34" charset="0"/>
                <a:cs typeface="Calibri" panose="020F0502020204030204" pitchFamily="34" charset="0"/>
              </a:rPr>
              <a:t>&lt;h1 style="color: blue"&gt; "health is wealth"</a:t>
            </a:r>
            <a:br>
              <a:rPr lang="en-US" sz="2000" cap="none" dirty="0" smtClean="0">
                <a:latin typeface="Calibri" panose="020F0502020204030204" pitchFamily="34" charset="0"/>
                <a:cs typeface="Calibri" panose="020F0502020204030204" pitchFamily="34" charset="0"/>
              </a:rPr>
            </a:br>
            <a:r>
              <a:rPr lang="en-US" sz="2000" cap="none" dirty="0" smtClean="0">
                <a:latin typeface="Calibri" panose="020F0502020204030204" pitchFamily="34" charset="0"/>
                <a:cs typeface="Calibri" panose="020F0502020204030204" pitchFamily="34" charset="0"/>
              </a:rPr>
              <a:t>                          &lt;span style="color: orange"&gt; happiness comes from having good health.</a:t>
            </a:r>
            <a:br>
              <a:rPr lang="en-US" sz="2000" cap="none" dirty="0" smtClean="0">
                <a:latin typeface="Calibri" panose="020F0502020204030204" pitchFamily="34" charset="0"/>
                <a:cs typeface="Calibri" panose="020F0502020204030204" pitchFamily="34" charset="0"/>
              </a:rPr>
            </a:br>
            <a:r>
              <a:rPr lang="en-US" sz="2000" cap="none" dirty="0" smtClean="0">
                <a:latin typeface="Calibri" panose="020F0502020204030204" pitchFamily="34" charset="0"/>
                <a:cs typeface="Calibri" panose="020F0502020204030204" pitchFamily="34" charset="0"/>
              </a:rPr>
              <a:t>                          </a:t>
            </a:r>
            <a:r>
              <a:rPr lang="en-IN" sz="2000" cap="none" dirty="0" smtClean="0">
                <a:latin typeface="Calibri" panose="020F0502020204030204" pitchFamily="34" charset="0"/>
                <a:cs typeface="Calibri" panose="020F0502020204030204" pitchFamily="34" charset="0"/>
              </a:rPr>
              <a:t>&lt;/Span&gt;&lt;/h1&gt;</a:t>
            </a:r>
            <a:br>
              <a:rPr lang="en-IN"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&lt;/body&gt;</a:t>
            </a:r>
            <a:br>
              <a:rPr lang="en-IN" sz="2000" cap="none" dirty="0" smtClean="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&lt;/html&gt;</a:t>
            </a:r>
            <a:br>
              <a:rPr lang="en-IN" sz="2000" cap="none" dirty="0" smtClean="0">
                <a:latin typeface="Calibri" panose="020F0502020204030204" pitchFamily="34" charset="0"/>
                <a:cs typeface="Calibri" panose="020F0502020204030204" pitchFamily="34" charset="0"/>
              </a:rPr>
            </a:br>
            <a:r>
              <a:rPr lang="en-IN" sz="2000" cap="none" dirty="0">
                <a:latin typeface="Calibri" panose="020F0502020204030204" pitchFamily="34" charset="0"/>
                <a:cs typeface="Calibri" panose="020F0502020204030204" pitchFamily="34" charset="0"/>
              </a:rPr>
              <a:t/>
            </a:r>
            <a:br>
              <a:rPr lang="en-IN" sz="2000" cap="none" dirty="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a:r>
            <a:br>
              <a:rPr lang="en-IN" sz="2000" cap="none" dirty="0" smtClean="0">
                <a:latin typeface="Calibri" panose="020F0502020204030204" pitchFamily="34" charset="0"/>
                <a:cs typeface="Calibri" panose="020F0502020204030204" pitchFamily="34" charset="0"/>
              </a:rPr>
            </a:br>
            <a:r>
              <a:rPr lang="en-IN" sz="2000" cap="none" dirty="0">
                <a:latin typeface="Calibri" panose="020F0502020204030204" pitchFamily="34" charset="0"/>
                <a:cs typeface="Calibri" panose="020F0502020204030204" pitchFamily="34" charset="0"/>
              </a:rPr>
              <a:t/>
            </a:r>
            <a:br>
              <a:rPr lang="en-IN" sz="2000" cap="none" dirty="0">
                <a:latin typeface="Calibri" panose="020F0502020204030204" pitchFamily="34" charset="0"/>
                <a:cs typeface="Calibri" panose="020F0502020204030204" pitchFamily="34" charset="0"/>
              </a:rPr>
            </a:br>
            <a:r>
              <a:rPr lang="en-IN" sz="2000" cap="none" dirty="0" smtClean="0">
                <a:latin typeface="Calibri" panose="020F0502020204030204" pitchFamily="34" charset="0"/>
                <a:cs typeface="Calibri" panose="020F0502020204030204" pitchFamily="34" charset="0"/>
              </a:rPr>
              <a:t/>
            </a:r>
            <a:br>
              <a:rPr lang="en-IN" sz="2000" cap="none" dirty="0" smtClean="0">
                <a:latin typeface="Calibri" panose="020F0502020204030204" pitchFamily="34" charset="0"/>
                <a:cs typeface="Calibri" panose="020F0502020204030204" pitchFamily="34" charset="0"/>
              </a:rPr>
            </a:br>
            <a:r>
              <a:rPr lang="en-IN" sz="2000" cap="none" dirty="0">
                <a:latin typeface="Calibri" panose="020F0502020204030204" pitchFamily="34" charset="0"/>
                <a:cs typeface="Calibri" panose="020F0502020204030204" pitchFamily="34" charset="0"/>
              </a:rPr>
              <a:t/>
            </a:r>
            <a:br>
              <a:rPr lang="en-IN" sz="2000" cap="none" dirty="0">
                <a:latin typeface="Calibri" panose="020F0502020204030204" pitchFamily="34" charset="0"/>
                <a:cs typeface="Calibri" panose="020F0502020204030204" pitchFamily="34" charset="0"/>
              </a:rPr>
            </a:br>
            <a:endParaRPr lang="en-IN" sz="2000" cap="none"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3520" y="3913632"/>
            <a:ext cx="4267796" cy="781159"/>
          </a:xfrm>
          <a:prstGeom prst="rect">
            <a:avLst/>
          </a:prstGeom>
        </p:spPr>
      </p:pic>
    </p:spTree>
    <p:extLst>
      <p:ext uri="{BB962C8B-B14F-4D97-AF65-F5344CB8AC3E}">
        <p14:creationId xmlns:p14="http://schemas.microsoft.com/office/powerpoint/2010/main" val="18736678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2777" y="705393"/>
            <a:ext cx="10280469" cy="5293757"/>
          </a:xfrm>
          <a:prstGeom prst="rect">
            <a:avLst/>
          </a:prstGeom>
        </p:spPr>
        <p:txBody>
          <a:bodyPr wrap="square">
            <a:spAutoFit/>
          </a:bodyPr>
          <a:lstStyle/>
          <a:p>
            <a:endParaRPr lang="en-US" dirty="0" smtClean="0">
              <a:latin typeface="Cambria" panose="02040503050406030204" pitchFamily="18" charset="0"/>
            </a:endParaRPr>
          </a:p>
          <a:p>
            <a:endParaRPr lang="en-US" dirty="0">
              <a:latin typeface="Cambria" panose="02040503050406030204" pitchFamily="18" charset="0"/>
            </a:endParaRPr>
          </a:p>
          <a:p>
            <a:r>
              <a:rPr lang="en-IN" sz="2800" b="1" dirty="0">
                <a:solidFill>
                  <a:srgbClr val="FFFF00"/>
                </a:solidFill>
              </a:rPr>
              <a:t>Internal CSS</a:t>
            </a:r>
            <a:endParaRPr lang="en-US" sz="2800" dirty="0" smtClean="0">
              <a:solidFill>
                <a:srgbClr val="FFFF00"/>
              </a:solidFill>
              <a:latin typeface="Cambria" panose="02040503050406030204" pitchFamily="18" charset="0"/>
            </a:endParaRPr>
          </a:p>
          <a:p>
            <a:endParaRPr lang="en-US" dirty="0">
              <a:latin typeface="Cambria" panose="02040503050406030204" pitchFamily="18" charset="0"/>
            </a:endParaRPr>
          </a:p>
          <a:p>
            <a:r>
              <a:rPr lang="en-US" sz="2000" dirty="0" smtClean="0">
                <a:latin typeface="Calibri" panose="020F0502020204030204" pitchFamily="34" charset="0"/>
                <a:cs typeface="Calibri" panose="020F0502020204030204" pitchFamily="34" charset="0"/>
              </a:rPr>
              <a:t>The </a:t>
            </a:r>
            <a:r>
              <a:rPr lang="en-US" sz="2000" dirty="0">
                <a:latin typeface="Calibri" panose="020F0502020204030204" pitchFamily="34" charset="0"/>
                <a:cs typeface="Calibri" panose="020F0502020204030204" pitchFamily="34" charset="0"/>
              </a:rPr>
              <a:t>internal style sheet is used to add a unique style for a single document. It is </a:t>
            </a:r>
            <a:r>
              <a:rPr lang="en-US" sz="2000" dirty="0" smtClean="0">
                <a:latin typeface="Calibri" panose="020F0502020204030204" pitchFamily="34" charset="0"/>
                <a:cs typeface="Calibri" panose="020F0502020204030204" pitchFamily="34" charset="0"/>
              </a:rPr>
              <a:t>defined </a:t>
            </a:r>
            <a:r>
              <a:rPr lang="en-US" sz="2000" dirty="0">
                <a:latin typeface="Calibri" panose="020F0502020204030204" pitchFamily="34" charset="0"/>
                <a:cs typeface="Calibri" panose="020F0502020204030204" pitchFamily="34" charset="0"/>
              </a:rPr>
              <a:t>in &lt;head&gt;</a:t>
            </a:r>
          </a:p>
          <a:p>
            <a:r>
              <a:rPr lang="en-US" sz="2000" dirty="0">
                <a:latin typeface="Calibri" panose="020F0502020204030204" pitchFamily="34" charset="0"/>
                <a:cs typeface="Calibri" panose="020F0502020204030204" pitchFamily="34" charset="0"/>
              </a:rPr>
              <a:t>section of the HTML page inside the &lt;style&gt; tag.</a:t>
            </a:r>
          </a:p>
          <a:p>
            <a:r>
              <a:rPr lang="en-IN" sz="2000" dirty="0">
                <a:solidFill>
                  <a:srgbClr val="FFFF00"/>
                </a:solidFill>
                <a:latin typeface="Calibri" panose="020F0502020204030204" pitchFamily="34" charset="0"/>
                <a:cs typeface="Calibri" panose="020F0502020204030204" pitchFamily="34" charset="0"/>
              </a:rPr>
              <a:t>Syntax:</a:t>
            </a:r>
          </a:p>
          <a:p>
            <a:r>
              <a:rPr lang="en-IN" sz="2000" dirty="0" smtClean="0">
                <a:latin typeface="Calibri" panose="020F0502020204030204" pitchFamily="34" charset="0"/>
                <a:cs typeface="Calibri" panose="020F0502020204030204" pitchFamily="34" charset="0"/>
              </a:rPr>
              <a:t>                  &lt;</a:t>
            </a:r>
            <a:r>
              <a:rPr lang="en-IN" sz="2000" dirty="0">
                <a:latin typeface="Calibri" panose="020F0502020204030204" pitchFamily="34" charset="0"/>
                <a:cs typeface="Calibri" panose="020F0502020204030204" pitchFamily="34" charset="0"/>
              </a:rPr>
              <a:t>html&gt;</a:t>
            </a:r>
          </a:p>
          <a:p>
            <a:r>
              <a:rPr lang="en-IN" sz="2000" dirty="0" smtClean="0">
                <a:latin typeface="Calibri" panose="020F0502020204030204" pitchFamily="34" charset="0"/>
                <a:cs typeface="Calibri" panose="020F0502020204030204" pitchFamily="34" charset="0"/>
              </a:rPr>
              <a:t>                  &lt;</a:t>
            </a:r>
            <a:r>
              <a:rPr lang="en-IN" sz="2000" dirty="0">
                <a:latin typeface="Calibri" panose="020F0502020204030204" pitchFamily="34" charset="0"/>
                <a:cs typeface="Calibri" panose="020F0502020204030204" pitchFamily="34" charset="0"/>
              </a:rPr>
              <a:t>head&gt;</a:t>
            </a:r>
          </a:p>
          <a:p>
            <a:r>
              <a:rPr lang="en-IN" sz="2000" dirty="0" smtClean="0">
                <a:latin typeface="Calibri" panose="020F0502020204030204" pitchFamily="34" charset="0"/>
                <a:cs typeface="Calibri" panose="020F0502020204030204" pitchFamily="34" charset="0"/>
              </a:rPr>
              <a:t>                  &lt;</a:t>
            </a:r>
            <a:r>
              <a:rPr lang="en-IN" sz="2000" dirty="0">
                <a:latin typeface="Calibri" panose="020F0502020204030204" pitchFamily="34" charset="0"/>
                <a:cs typeface="Calibri" panose="020F0502020204030204" pitchFamily="34" charset="0"/>
              </a:rPr>
              <a:t>style type=”</a:t>
            </a:r>
            <a:r>
              <a:rPr lang="en-IN" sz="2000" dirty="0" smtClean="0">
                <a:latin typeface="Calibri" panose="020F0502020204030204" pitchFamily="34" charset="0"/>
                <a:cs typeface="Calibri" panose="020F0502020204030204" pitchFamily="34" charset="0"/>
              </a:rPr>
              <a:t>text/</a:t>
            </a:r>
            <a:r>
              <a:rPr lang="en-IN" sz="2000" dirty="0" err="1" smtClean="0">
                <a:latin typeface="Calibri" panose="020F0502020204030204" pitchFamily="34" charset="0"/>
                <a:cs typeface="Calibri" panose="020F0502020204030204" pitchFamily="34" charset="0"/>
              </a:rPr>
              <a:t>css</a:t>
            </a:r>
            <a:r>
              <a:rPr lang="en-IN" sz="2000" dirty="0" smtClean="0">
                <a:latin typeface="Calibri" panose="020F0502020204030204" pitchFamily="34" charset="0"/>
                <a:cs typeface="Calibri" panose="020F0502020204030204" pitchFamily="34" charset="0"/>
              </a:rPr>
              <a:t> ”&gt;</a:t>
            </a:r>
            <a:endParaRPr lang="en-IN" sz="2000" dirty="0">
              <a:latin typeface="Calibri" panose="020F0502020204030204" pitchFamily="34" charset="0"/>
              <a:cs typeface="Calibri" panose="020F0502020204030204" pitchFamily="34" charset="0"/>
            </a:endParaRPr>
          </a:p>
          <a:p>
            <a:r>
              <a:rPr lang="en-IN" sz="2000" dirty="0" smtClean="0">
                <a:latin typeface="Calibri" panose="020F0502020204030204" pitchFamily="34" charset="0"/>
                <a:cs typeface="Calibri" panose="020F0502020204030204" pitchFamily="34" charset="0"/>
              </a:rPr>
              <a:t>                   ………..</a:t>
            </a:r>
            <a:r>
              <a:rPr lang="en-IN" sz="2000" dirty="0">
                <a:latin typeface="Calibri" panose="020F0502020204030204" pitchFamily="34" charset="0"/>
                <a:cs typeface="Calibri" panose="020F0502020204030204" pitchFamily="34" charset="0"/>
              </a:rPr>
              <a:t>Styles are </a:t>
            </a:r>
            <a:r>
              <a:rPr lang="en-IN" sz="2000" dirty="0" smtClean="0">
                <a:latin typeface="Calibri" panose="020F0502020204030204" pitchFamily="34" charset="0"/>
                <a:cs typeface="Calibri" panose="020F0502020204030204" pitchFamily="34" charset="0"/>
              </a:rPr>
              <a:t>specified </a:t>
            </a:r>
            <a:r>
              <a:rPr lang="en-IN" sz="2000" dirty="0">
                <a:latin typeface="Calibri" panose="020F0502020204030204" pitchFamily="34" charset="0"/>
                <a:cs typeface="Calibri" panose="020F0502020204030204" pitchFamily="34" charset="0"/>
              </a:rPr>
              <a:t>here………..</a:t>
            </a:r>
          </a:p>
          <a:p>
            <a:r>
              <a:rPr lang="en-IN" sz="2000" dirty="0" smtClean="0">
                <a:latin typeface="Calibri" panose="020F0502020204030204" pitchFamily="34" charset="0"/>
                <a:cs typeface="Calibri" panose="020F0502020204030204" pitchFamily="34" charset="0"/>
              </a:rPr>
              <a:t>                   &lt;/</a:t>
            </a:r>
            <a:r>
              <a:rPr lang="en-IN" sz="2000" dirty="0">
                <a:latin typeface="Calibri" panose="020F0502020204030204" pitchFamily="34" charset="0"/>
                <a:cs typeface="Calibri" panose="020F0502020204030204" pitchFamily="34" charset="0"/>
              </a:rPr>
              <a:t>style&gt;</a:t>
            </a:r>
          </a:p>
          <a:p>
            <a:r>
              <a:rPr lang="en-IN" sz="2000" dirty="0" smtClean="0">
                <a:latin typeface="Calibri" panose="020F0502020204030204" pitchFamily="34" charset="0"/>
                <a:cs typeface="Calibri" panose="020F0502020204030204" pitchFamily="34" charset="0"/>
              </a:rPr>
              <a:t>                   &lt;/</a:t>
            </a:r>
            <a:r>
              <a:rPr lang="en-IN" sz="2000" dirty="0">
                <a:latin typeface="Calibri" panose="020F0502020204030204" pitchFamily="34" charset="0"/>
                <a:cs typeface="Calibri" panose="020F0502020204030204" pitchFamily="34" charset="0"/>
              </a:rPr>
              <a:t>head&gt;</a:t>
            </a:r>
          </a:p>
          <a:p>
            <a:r>
              <a:rPr lang="en-IN" sz="2000" dirty="0" smtClean="0">
                <a:latin typeface="Calibri" panose="020F0502020204030204" pitchFamily="34" charset="0"/>
                <a:cs typeface="Calibri" panose="020F0502020204030204" pitchFamily="34" charset="0"/>
              </a:rPr>
              <a:t>                   &lt;</a:t>
            </a:r>
            <a:r>
              <a:rPr lang="en-IN" sz="2000" dirty="0">
                <a:latin typeface="Calibri" panose="020F0502020204030204" pitchFamily="34" charset="0"/>
                <a:cs typeface="Calibri" panose="020F0502020204030204" pitchFamily="34" charset="0"/>
              </a:rPr>
              <a:t>body</a:t>
            </a:r>
            <a:r>
              <a:rPr lang="en-IN" sz="2000" dirty="0" smtClean="0">
                <a:latin typeface="Calibri" panose="020F0502020204030204" pitchFamily="34" charset="0"/>
                <a:cs typeface="Calibri" panose="020F0502020204030204" pitchFamily="34" charset="0"/>
              </a:rPr>
              <a:t>&gt;</a:t>
            </a:r>
          </a:p>
          <a:p>
            <a:endParaRPr lang="en-IN" dirty="0" smtClean="0">
              <a:latin typeface="Cambria" panose="02040503050406030204" pitchFamily="18" charset="0"/>
            </a:endParaRPr>
          </a:p>
          <a:p>
            <a:endParaRPr lang="en-IN" dirty="0"/>
          </a:p>
        </p:txBody>
      </p:sp>
    </p:spTree>
    <p:extLst>
      <p:ext uri="{BB962C8B-B14F-4D97-AF65-F5344CB8AC3E}">
        <p14:creationId xmlns:p14="http://schemas.microsoft.com/office/powerpoint/2010/main" val="17183364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1783" y="1028343"/>
            <a:ext cx="10189028" cy="4801314"/>
          </a:xfrm>
          <a:prstGeom prst="rect">
            <a:avLst/>
          </a:prstGeom>
        </p:spPr>
        <p:txBody>
          <a:bodyPr wrap="square">
            <a:spAutoFit/>
          </a:bodyPr>
          <a:lstStyle/>
          <a:p>
            <a:r>
              <a:rPr lang="en-IN" dirty="0">
                <a:solidFill>
                  <a:srgbClr val="FFFF00"/>
                </a:solidFill>
                <a:latin typeface="Cambria" panose="02040503050406030204" pitchFamily="18" charset="0"/>
              </a:rPr>
              <a:t>Example:</a:t>
            </a:r>
          </a:p>
          <a:p>
            <a:r>
              <a:rPr lang="en-IN" dirty="0" smtClean="0">
                <a:latin typeface="Cambria" panose="02040503050406030204" pitchFamily="18" charset="0"/>
              </a:rPr>
              <a:t>                     &lt;</a:t>
            </a:r>
            <a:r>
              <a:rPr lang="en-IN" dirty="0">
                <a:latin typeface="Cambria" panose="02040503050406030204" pitchFamily="18" charset="0"/>
              </a:rPr>
              <a:t>html&gt;</a:t>
            </a:r>
          </a:p>
          <a:p>
            <a:r>
              <a:rPr lang="en-IN" dirty="0" smtClean="0">
                <a:latin typeface="Cambria" panose="02040503050406030204" pitchFamily="18" charset="0"/>
              </a:rPr>
              <a:t>                     &lt;</a:t>
            </a:r>
            <a:r>
              <a:rPr lang="en-IN" dirty="0">
                <a:latin typeface="Cambria" panose="02040503050406030204" pitchFamily="18" charset="0"/>
              </a:rPr>
              <a:t>head&gt;</a:t>
            </a:r>
          </a:p>
          <a:p>
            <a:r>
              <a:rPr lang="en-IN" dirty="0" smtClean="0">
                <a:latin typeface="Cambria" panose="02040503050406030204" pitchFamily="18" charset="0"/>
              </a:rPr>
              <a:t>                     &lt;</a:t>
            </a:r>
            <a:r>
              <a:rPr lang="en-IN" dirty="0">
                <a:latin typeface="Cambria" panose="02040503050406030204" pitchFamily="18" charset="0"/>
              </a:rPr>
              <a:t>style&gt;</a:t>
            </a:r>
          </a:p>
          <a:p>
            <a:r>
              <a:rPr lang="en-IN" dirty="0" smtClean="0">
                <a:latin typeface="Cambria" panose="02040503050406030204" pitchFamily="18" charset="0"/>
              </a:rPr>
              <a:t>                      body </a:t>
            </a:r>
            <a:r>
              <a:rPr lang="en-IN" dirty="0">
                <a:latin typeface="Cambria" panose="02040503050406030204" pitchFamily="18" charset="0"/>
              </a:rPr>
              <a:t>{background-color: Orange;}</a:t>
            </a:r>
          </a:p>
          <a:p>
            <a:r>
              <a:rPr lang="en-IN" dirty="0" smtClean="0">
                <a:latin typeface="Cambria" panose="02040503050406030204" pitchFamily="18" charset="0"/>
              </a:rPr>
              <a:t>                       h1 </a:t>
            </a:r>
            <a:r>
              <a:rPr lang="en-IN" dirty="0">
                <a:latin typeface="Cambria" panose="02040503050406030204" pitchFamily="18" charset="0"/>
              </a:rPr>
              <a:t>{color: white;}</a:t>
            </a:r>
          </a:p>
          <a:p>
            <a:r>
              <a:rPr lang="en-IN" dirty="0" smtClean="0">
                <a:latin typeface="Cambria" panose="02040503050406030204" pitchFamily="18" charset="0"/>
              </a:rPr>
              <a:t>                       p </a:t>
            </a:r>
            <a:r>
              <a:rPr lang="en-IN" dirty="0">
                <a:latin typeface="Cambria" panose="02040503050406030204" pitchFamily="18" charset="0"/>
              </a:rPr>
              <a:t>{color: blue;}</a:t>
            </a:r>
          </a:p>
          <a:p>
            <a:r>
              <a:rPr lang="en-IN" dirty="0" smtClean="0">
                <a:latin typeface="Cambria" panose="02040503050406030204" pitchFamily="18" charset="0"/>
              </a:rPr>
              <a:t>                      &lt;/</a:t>
            </a:r>
            <a:r>
              <a:rPr lang="en-IN" dirty="0">
                <a:latin typeface="Cambria" panose="02040503050406030204" pitchFamily="18" charset="0"/>
              </a:rPr>
              <a:t>style&gt; &lt;/head&gt;</a:t>
            </a:r>
          </a:p>
          <a:p>
            <a:r>
              <a:rPr lang="en-IN" dirty="0" smtClean="0">
                <a:latin typeface="Cambria" panose="02040503050406030204" pitchFamily="18" charset="0"/>
              </a:rPr>
              <a:t>                      &lt;</a:t>
            </a:r>
            <a:r>
              <a:rPr lang="en-IN" dirty="0">
                <a:latin typeface="Cambria" panose="02040503050406030204" pitchFamily="18" charset="0"/>
              </a:rPr>
              <a:t>body&gt;</a:t>
            </a:r>
          </a:p>
          <a:p>
            <a:r>
              <a:rPr lang="pt-BR" dirty="0" smtClean="0">
                <a:latin typeface="Cambria" panose="02040503050406030204" pitchFamily="18" charset="0"/>
              </a:rPr>
              <a:t>                      &lt;</a:t>
            </a:r>
            <a:r>
              <a:rPr lang="pt-BR" dirty="0">
                <a:latin typeface="Cambria" panose="02040503050406030204" pitchFamily="18" charset="0"/>
              </a:rPr>
              <a:t>h1&gt;&lt;center&gt; Network &lt;/h1&gt;&lt;/center&gt;</a:t>
            </a:r>
          </a:p>
          <a:p>
            <a:r>
              <a:rPr lang="en-US" dirty="0" smtClean="0">
                <a:latin typeface="Cambria" panose="02040503050406030204" pitchFamily="18" charset="0"/>
              </a:rPr>
              <a:t>                      &lt;</a:t>
            </a:r>
            <a:r>
              <a:rPr lang="en-US" dirty="0">
                <a:latin typeface="Cambria" panose="02040503050406030204" pitchFamily="18" charset="0"/>
              </a:rPr>
              <a:t>p&gt;A computer network is a group of interconnected</a:t>
            </a:r>
          </a:p>
          <a:p>
            <a:r>
              <a:rPr lang="en-US" dirty="0" smtClean="0">
                <a:latin typeface="Cambria" panose="02040503050406030204" pitchFamily="18" charset="0"/>
              </a:rPr>
              <a:t>                      nodes </a:t>
            </a:r>
            <a:r>
              <a:rPr lang="en-US" dirty="0">
                <a:latin typeface="Cambria" panose="02040503050406030204" pitchFamily="18" charset="0"/>
              </a:rPr>
              <a:t>or computing devices that exchange data and</a:t>
            </a:r>
          </a:p>
          <a:p>
            <a:r>
              <a:rPr lang="en-US" dirty="0" smtClean="0">
                <a:latin typeface="Cambria" panose="02040503050406030204" pitchFamily="18" charset="0"/>
              </a:rPr>
              <a:t>                      resources </a:t>
            </a:r>
            <a:r>
              <a:rPr lang="en-US" dirty="0">
                <a:latin typeface="Cambria" panose="02040503050406030204" pitchFamily="18" charset="0"/>
              </a:rPr>
              <a:t>with each other.&lt;/p&gt;</a:t>
            </a:r>
          </a:p>
          <a:p>
            <a:r>
              <a:rPr lang="en-US" dirty="0" smtClean="0">
                <a:latin typeface="Cambria" panose="02040503050406030204" pitchFamily="18" charset="0"/>
              </a:rPr>
              <a:t>                      &lt;</a:t>
            </a:r>
            <a:r>
              <a:rPr lang="en-US" dirty="0">
                <a:latin typeface="Cambria" panose="02040503050406030204" pitchFamily="18" charset="0"/>
              </a:rPr>
              <a:t>h1&gt;&lt;center&gt;Types of Networks&lt;/h1&gt;&lt;/center&gt;</a:t>
            </a:r>
          </a:p>
          <a:p>
            <a:r>
              <a:rPr lang="en-IN" dirty="0" smtClean="0">
                <a:latin typeface="Cambria" panose="02040503050406030204" pitchFamily="18" charset="0"/>
              </a:rPr>
              <a:t>                      &lt;</a:t>
            </a:r>
            <a:r>
              <a:rPr lang="en-IN" dirty="0">
                <a:latin typeface="Cambria" panose="02040503050406030204" pitchFamily="18" charset="0"/>
              </a:rPr>
              <a:t>p&gt; LAN&lt;</a:t>
            </a:r>
            <a:r>
              <a:rPr lang="en-IN" dirty="0" err="1">
                <a:latin typeface="Cambria" panose="02040503050406030204" pitchFamily="18" charset="0"/>
              </a:rPr>
              <a:t>br</a:t>
            </a:r>
            <a:r>
              <a:rPr lang="en-IN" dirty="0">
                <a:latin typeface="Cambria" panose="02040503050406030204" pitchFamily="18" charset="0"/>
              </a:rPr>
              <a:t>&gt;MAN &lt;Br&gt; WAN &lt;/p&gt;</a:t>
            </a:r>
          </a:p>
          <a:p>
            <a:r>
              <a:rPr lang="en-IN" dirty="0" smtClean="0">
                <a:latin typeface="Cambria" panose="02040503050406030204" pitchFamily="18" charset="0"/>
              </a:rPr>
              <a:t>                       &lt;/</a:t>
            </a:r>
            <a:r>
              <a:rPr lang="en-IN" dirty="0">
                <a:latin typeface="Cambria" panose="02040503050406030204" pitchFamily="18" charset="0"/>
              </a:rPr>
              <a:t>body&gt;</a:t>
            </a:r>
          </a:p>
          <a:p>
            <a:r>
              <a:rPr lang="en-IN" dirty="0" smtClean="0">
                <a:latin typeface="Cambria" panose="02040503050406030204" pitchFamily="18" charset="0"/>
              </a:rPr>
              <a:t>                        &lt;/</a:t>
            </a:r>
            <a:r>
              <a:rPr lang="en-IN" dirty="0">
                <a:latin typeface="Cambria" panose="02040503050406030204" pitchFamily="18" charset="0"/>
              </a:rPr>
              <a:t>html</a:t>
            </a:r>
            <a:r>
              <a:rPr lang="en-IN" dirty="0" smtClean="0">
                <a:latin typeface="Cambria" panose="02040503050406030204" pitchFamily="18" charset="0"/>
              </a:rPr>
              <a:t>&gt; </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6297" y="2041102"/>
            <a:ext cx="4086795" cy="149563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8732" y="2680274"/>
            <a:ext cx="685896" cy="217289"/>
          </a:xfrm>
          <a:prstGeom prst="rect">
            <a:avLst/>
          </a:prstGeom>
        </p:spPr>
      </p:pic>
    </p:spTree>
    <p:extLst>
      <p:ext uri="{BB962C8B-B14F-4D97-AF65-F5344CB8AC3E}">
        <p14:creationId xmlns:p14="http://schemas.microsoft.com/office/powerpoint/2010/main" val="16030279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7086" y="331317"/>
            <a:ext cx="1955985" cy="430887"/>
          </a:xfrm>
          <a:prstGeom prst="rect">
            <a:avLst/>
          </a:prstGeom>
        </p:spPr>
        <p:txBody>
          <a:bodyPr wrap="none">
            <a:spAutoFit/>
          </a:bodyPr>
          <a:lstStyle/>
          <a:p>
            <a:r>
              <a:rPr lang="en-IN" sz="2200" b="1" dirty="0">
                <a:solidFill>
                  <a:srgbClr val="FFFF00"/>
                </a:solidFill>
                <a:latin typeface="Cambria-Bold"/>
              </a:rPr>
              <a:t>External CSS</a:t>
            </a:r>
            <a:endParaRPr lang="en-IN" sz="2200" dirty="0">
              <a:solidFill>
                <a:srgbClr val="FFFF00"/>
              </a:solidFill>
            </a:endParaRPr>
          </a:p>
        </p:txBody>
      </p:sp>
      <p:sp>
        <p:nvSpPr>
          <p:cNvPr id="3" name="Rectangle 2"/>
          <p:cNvSpPr/>
          <p:nvPr/>
        </p:nvSpPr>
        <p:spPr>
          <a:xfrm>
            <a:off x="1110343" y="762204"/>
            <a:ext cx="10241280" cy="4093428"/>
          </a:xfrm>
          <a:prstGeom prst="rect">
            <a:avLst/>
          </a:prstGeom>
        </p:spPr>
        <p:txBody>
          <a:bodyPr wrap="square">
            <a:spAutoFit/>
          </a:bodyPr>
          <a:lstStyle/>
          <a:p>
            <a:pPr marL="342900" indent="-342900">
              <a:buFont typeface="Wingdings" panose="05000000000000000000" pitchFamily="2" charset="2"/>
              <a:buChar char="Ø"/>
            </a:pPr>
            <a:r>
              <a:rPr lang="en-US" sz="2000" dirty="0">
                <a:latin typeface="Calibri" panose="020F0502020204030204" pitchFamily="34" charset="0"/>
                <a:cs typeface="Calibri" panose="020F0502020204030204" pitchFamily="34" charset="0"/>
              </a:rPr>
              <a:t>The external style sheet is generally used when you want to make changes on multiple pages. </a:t>
            </a:r>
            <a:endParaRPr lang="en-US" sz="2000" dirty="0" smtClean="0">
              <a:latin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2000" dirty="0" smtClean="0">
                <a:latin typeface="Calibri" panose="020F0502020204030204" pitchFamily="34" charset="0"/>
                <a:cs typeface="Calibri" panose="020F0502020204030204" pitchFamily="34" charset="0"/>
              </a:rPr>
              <a:t>It is ideal </a:t>
            </a:r>
            <a:r>
              <a:rPr lang="en-US" sz="2000" dirty="0">
                <a:latin typeface="Calibri" panose="020F0502020204030204" pitchFamily="34" charset="0"/>
                <a:cs typeface="Calibri" panose="020F0502020204030204" pitchFamily="34" charset="0"/>
              </a:rPr>
              <a:t>for this condition because it facilitates you to change the look of the entire website </a:t>
            </a:r>
            <a:r>
              <a:rPr lang="en-US" sz="2000" dirty="0" smtClean="0">
                <a:latin typeface="Calibri" panose="020F0502020204030204" pitchFamily="34" charset="0"/>
                <a:cs typeface="Calibri" panose="020F0502020204030204" pitchFamily="34" charset="0"/>
              </a:rPr>
              <a:t>by </a:t>
            </a:r>
            <a:r>
              <a:rPr lang="en-IN" sz="2000" dirty="0" smtClean="0">
                <a:latin typeface="Calibri" panose="020F0502020204030204" pitchFamily="34" charset="0"/>
                <a:cs typeface="Calibri" panose="020F0502020204030204" pitchFamily="34" charset="0"/>
              </a:rPr>
              <a:t>changing </a:t>
            </a:r>
            <a:r>
              <a:rPr lang="en-IN" sz="2000" dirty="0">
                <a:latin typeface="Calibri" panose="020F0502020204030204" pitchFamily="34" charset="0"/>
                <a:cs typeface="Calibri" panose="020F0502020204030204" pitchFamily="34" charset="0"/>
              </a:rPr>
              <a:t>just one </a:t>
            </a:r>
            <a:r>
              <a:rPr lang="en-IN" sz="2000" dirty="0" smtClean="0">
                <a:latin typeface="Calibri" panose="020F0502020204030204" pitchFamily="34" charset="0"/>
                <a:cs typeface="Calibri" panose="020F0502020204030204" pitchFamily="34" charset="0"/>
              </a:rPr>
              <a:t>file</a:t>
            </a:r>
            <a:r>
              <a:rPr lang="en-IN" sz="2000" dirty="0">
                <a:latin typeface="Calibri" panose="020F0502020204030204" pitchFamily="34" charset="0"/>
                <a:cs typeface="Calibri" panose="020F0502020204030204" pitchFamily="34" charset="0"/>
              </a:rPr>
              <a:t>.</a:t>
            </a:r>
          </a:p>
          <a:p>
            <a:pPr marL="342900" indent="-342900">
              <a:buFont typeface="Wingdings" panose="05000000000000000000" pitchFamily="2" charset="2"/>
              <a:buChar char="Ø"/>
            </a:pPr>
            <a:r>
              <a:rPr lang="en-US" sz="2000" dirty="0">
                <a:latin typeface="Calibri" panose="020F0502020204030204" pitchFamily="34" charset="0"/>
                <a:cs typeface="Calibri" panose="020F0502020204030204" pitchFamily="34" charset="0"/>
              </a:rPr>
              <a:t>It uses the &lt;link&gt; tag on every pages and the &lt;link&gt; tag should be put inside the head section.</a:t>
            </a:r>
          </a:p>
          <a:p>
            <a:pPr marL="342900" indent="-342900">
              <a:buFont typeface="Wingdings" panose="05000000000000000000" pitchFamily="2" charset="2"/>
              <a:buChar char="Ø"/>
            </a:pPr>
            <a:r>
              <a:rPr lang="en-US" sz="2000" dirty="0">
                <a:latin typeface="Calibri" panose="020F0502020204030204" pitchFamily="34" charset="0"/>
                <a:cs typeface="Calibri" panose="020F0502020204030204" pitchFamily="34" charset="0"/>
              </a:rPr>
              <a:t>The external style sheet may be written in any text editor but must be saved with a .css extension.</a:t>
            </a:r>
          </a:p>
          <a:p>
            <a:pPr marL="342900" indent="-342900">
              <a:buFont typeface="Wingdings" panose="05000000000000000000" pitchFamily="2" charset="2"/>
              <a:buChar char="Ø"/>
            </a:pPr>
            <a:r>
              <a:rPr lang="en-US" sz="2000" dirty="0">
                <a:latin typeface="Calibri" panose="020F0502020204030204" pitchFamily="34" charset="0"/>
                <a:cs typeface="Calibri" panose="020F0502020204030204" pitchFamily="34" charset="0"/>
              </a:rPr>
              <a:t>This </a:t>
            </a:r>
            <a:r>
              <a:rPr lang="en-US" sz="2000" dirty="0" smtClean="0">
                <a:latin typeface="Calibri" panose="020F0502020204030204" pitchFamily="34" charset="0"/>
                <a:cs typeface="Calibri" panose="020F0502020204030204" pitchFamily="34" charset="0"/>
              </a:rPr>
              <a:t>file </a:t>
            </a:r>
            <a:r>
              <a:rPr lang="en-US" sz="2000" dirty="0">
                <a:latin typeface="Calibri" panose="020F0502020204030204" pitchFamily="34" charset="0"/>
                <a:cs typeface="Calibri" panose="020F0502020204030204" pitchFamily="34" charset="0"/>
              </a:rPr>
              <a:t>should not contain HTML elements.</a:t>
            </a:r>
          </a:p>
          <a:p>
            <a:r>
              <a:rPr lang="en-US" sz="2000" b="1" dirty="0" smtClean="0">
                <a:latin typeface="Calibri" panose="020F0502020204030204" pitchFamily="34" charset="0"/>
                <a:cs typeface="Calibri" panose="020F0502020204030204" pitchFamily="34" charset="0"/>
              </a:rPr>
              <a:t>            Following </a:t>
            </a:r>
            <a:r>
              <a:rPr lang="en-US" sz="2000" b="1" dirty="0">
                <a:latin typeface="Calibri" panose="020F0502020204030204" pitchFamily="34" charset="0"/>
                <a:cs typeface="Calibri" panose="020F0502020204030204" pitchFamily="34" charset="0"/>
              </a:rPr>
              <a:t>are the three attributes of the &lt;link&gt; tag</a:t>
            </a:r>
            <a:r>
              <a:rPr lang="en-US" sz="2000" b="1" dirty="0" smtClean="0">
                <a:latin typeface="Calibri" panose="020F0502020204030204" pitchFamily="34" charset="0"/>
                <a:cs typeface="Calibri" panose="020F0502020204030204" pitchFamily="34" charset="0"/>
              </a:rPr>
              <a:t>.</a:t>
            </a:r>
          </a:p>
          <a:p>
            <a:r>
              <a:rPr lang="en-US" sz="2000" b="1" dirty="0">
                <a:solidFill>
                  <a:srgbClr val="FFFF00"/>
                </a:solidFill>
                <a:latin typeface="Calibri" panose="020F0502020204030204" pitchFamily="34" charset="0"/>
                <a:cs typeface="Calibri" panose="020F0502020204030204" pitchFamily="34" charset="0"/>
              </a:rPr>
              <a:t>Rel: </a:t>
            </a:r>
            <a:r>
              <a:rPr lang="en-US" sz="2000" b="1" dirty="0" smtClean="0">
                <a:solidFill>
                  <a:srgbClr val="FFFF00"/>
                </a:solidFill>
                <a:latin typeface="Calibri" panose="020F0502020204030204" pitchFamily="34" charset="0"/>
                <a:cs typeface="Calibri" panose="020F0502020204030204" pitchFamily="34" charset="0"/>
              </a:rPr>
              <a:t>   </a:t>
            </a:r>
            <a:r>
              <a:rPr lang="en-US" sz="2000" dirty="0" smtClean="0">
                <a:latin typeface="Calibri" panose="020F0502020204030204" pitchFamily="34" charset="0"/>
                <a:cs typeface="Calibri" panose="020F0502020204030204" pitchFamily="34" charset="0"/>
              </a:rPr>
              <a:t>It specifies </a:t>
            </a:r>
            <a:r>
              <a:rPr lang="en-US" sz="2000" dirty="0">
                <a:latin typeface="Calibri" panose="020F0502020204030204" pitchFamily="34" charset="0"/>
                <a:cs typeface="Calibri" panose="020F0502020204030204" pitchFamily="34" charset="0"/>
              </a:rPr>
              <a:t>that the relation between the css and the html </a:t>
            </a:r>
            <a:r>
              <a:rPr lang="en-US" sz="2000" dirty="0" smtClean="0">
                <a:latin typeface="Calibri" panose="020F0502020204030204" pitchFamily="34" charset="0"/>
                <a:cs typeface="Calibri" panose="020F0502020204030204" pitchFamily="34" charset="0"/>
              </a:rPr>
              <a:t>file </a:t>
            </a:r>
            <a:r>
              <a:rPr lang="en-US" sz="2000" dirty="0">
                <a:latin typeface="Calibri" panose="020F0502020204030204" pitchFamily="34" charset="0"/>
                <a:cs typeface="Calibri" panose="020F0502020204030204" pitchFamily="34" charset="0"/>
              </a:rPr>
              <a:t>is of the type style sheet.</a:t>
            </a:r>
          </a:p>
          <a:p>
            <a:r>
              <a:rPr lang="en-US" sz="2000" b="1" dirty="0">
                <a:solidFill>
                  <a:srgbClr val="FFFF00"/>
                </a:solidFill>
                <a:latin typeface="Calibri" panose="020F0502020204030204" pitchFamily="34" charset="0"/>
                <a:cs typeface="Calibri" panose="020F0502020204030204" pitchFamily="34" charset="0"/>
              </a:rPr>
              <a:t>Type: </a:t>
            </a:r>
            <a:r>
              <a:rPr lang="en-US" sz="2000" dirty="0">
                <a:latin typeface="Calibri" panose="020F0502020204030204" pitchFamily="34" charset="0"/>
                <a:cs typeface="Calibri" panose="020F0502020204030204" pitchFamily="34" charset="0"/>
              </a:rPr>
              <a:t>It is used to indicate the browser that the type of style sheet available for the text is CSS.</a:t>
            </a:r>
          </a:p>
          <a:p>
            <a:r>
              <a:rPr lang="en-US" sz="2000" dirty="0" smtClean="0">
                <a:latin typeface="Calibri" panose="020F0502020204030204" pitchFamily="34" charset="0"/>
                <a:cs typeface="Calibri" panose="020F0502020204030204" pitchFamily="34" charset="0"/>
              </a:rPr>
              <a:t>           This </a:t>
            </a:r>
            <a:r>
              <a:rPr lang="en-US" sz="2000" dirty="0">
                <a:latin typeface="Calibri" panose="020F0502020204030204" pitchFamily="34" charset="0"/>
                <a:cs typeface="Calibri" panose="020F0502020204030204" pitchFamily="34" charset="0"/>
              </a:rPr>
              <a:t>is required as there are other style sheets available for HTML besides CSS.</a:t>
            </a:r>
          </a:p>
          <a:p>
            <a:r>
              <a:rPr lang="en-US" sz="2000" b="1" dirty="0">
                <a:solidFill>
                  <a:srgbClr val="FFFF00"/>
                </a:solidFill>
                <a:latin typeface="Calibri" panose="020F0502020204030204" pitchFamily="34" charset="0"/>
                <a:cs typeface="Calibri" panose="020F0502020204030204" pitchFamily="34" charset="0"/>
              </a:rPr>
              <a:t>Href: </a:t>
            </a:r>
            <a:r>
              <a:rPr lang="en-US" sz="2000" dirty="0">
                <a:latin typeface="Calibri" panose="020F0502020204030204" pitchFamily="34" charset="0"/>
                <a:cs typeface="Calibri" panose="020F0502020204030204" pitchFamily="34" charset="0"/>
              </a:rPr>
              <a:t>The name of the CSS </a:t>
            </a:r>
            <a:r>
              <a:rPr lang="en-US" sz="2000" dirty="0" smtClean="0">
                <a:latin typeface="Calibri" panose="020F0502020204030204" pitchFamily="34" charset="0"/>
                <a:cs typeface="Calibri" panose="020F0502020204030204" pitchFamily="34" charset="0"/>
              </a:rPr>
              <a:t>file </a:t>
            </a:r>
            <a:r>
              <a:rPr lang="en-US" sz="2000" dirty="0">
                <a:latin typeface="Calibri" panose="020F0502020204030204" pitchFamily="34" charset="0"/>
                <a:cs typeface="Calibri" panose="020F0502020204030204" pitchFamily="34" charset="0"/>
              </a:rPr>
              <a:t>is mentioned here.</a:t>
            </a:r>
          </a:p>
          <a:p>
            <a:r>
              <a:rPr lang="en-US" sz="2000" dirty="0">
                <a:solidFill>
                  <a:srgbClr val="FFFF00"/>
                </a:solidFill>
                <a:latin typeface="Calibri" panose="020F0502020204030204" pitchFamily="34" charset="0"/>
                <a:cs typeface="Calibri" panose="020F0502020204030204" pitchFamily="34" charset="0"/>
              </a:rPr>
              <a:t>Syntax: </a:t>
            </a:r>
            <a:r>
              <a:rPr lang="en-US" sz="2000" dirty="0">
                <a:latin typeface="Calibri" panose="020F0502020204030204" pitchFamily="34" charset="0"/>
                <a:cs typeface="Calibri" panose="020F0502020204030204" pitchFamily="34" charset="0"/>
              </a:rPr>
              <a:t>&lt;link rel= “stylesheet” type= “text/css” href= “path to stylesheet.css”&gt;</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680208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4035" y="671691"/>
            <a:ext cx="9888582" cy="6186309"/>
          </a:xfrm>
          <a:prstGeom prst="rect">
            <a:avLst/>
          </a:prstGeom>
        </p:spPr>
        <p:txBody>
          <a:bodyPr wrap="square">
            <a:spAutoFit/>
          </a:bodyPr>
          <a:lstStyle/>
          <a:p>
            <a:r>
              <a:rPr lang="en-IN" dirty="0">
                <a:solidFill>
                  <a:srgbClr val="FFFF00"/>
                </a:solidFill>
                <a:latin typeface="Calibri" panose="020F0502020204030204" pitchFamily="34" charset="0"/>
                <a:cs typeface="Calibri" panose="020F0502020204030204" pitchFamily="34" charset="0"/>
              </a:rPr>
              <a:t>Example:</a:t>
            </a:r>
          </a:p>
          <a:p>
            <a:r>
              <a:rPr lang="en-US" b="1" dirty="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Create a CSS </a:t>
            </a:r>
            <a:r>
              <a:rPr lang="en-US" dirty="0" smtClean="0">
                <a:latin typeface="Calibri" panose="020F0502020204030204" pitchFamily="34" charset="0"/>
                <a:cs typeface="Calibri" panose="020F0502020204030204" pitchFamily="34" charset="0"/>
              </a:rPr>
              <a:t>file </a:t>
            </a:r>
            <a:r>
              <a:rPr lang="en-US" dirty="0">
                <a:latin typeface="Calibri" panose="020F0502020204030204" pitchFamily="34" charset="0"/>
                <a:cs typeface="Calibri" panose="020F0502020204030204" pitchFamily="34" charset="0"/>
              </a:rPr>
              <a:t>and name it code.css using the following code:</a:t>
            </a:r>
          </a:p>
          <a:p>
            <a:r>
              <a:rPr lang="en-IN" dirty="0" smtClean="0">
                <a:latin typeface="Calibri" panose="020F0502020204030204" pitchFamily="34" charset="0"/>
                <a:cs typeface="Calibri" panose="020F0502020204030204" pitchFamily="34" charset="0"/>
              </a:rPr>
              <a:t>              H1{color:blue;border:double;background:orange</a:t>
            </a:r>
            <a:r>
              <a:rPr lang="en-IN" dirty="0">
                <a:latin typeface="Calibri" panose="020F0502020204030204" pitchFamily="34" charset="0"/>
                <a:cs typeface="Calibri" panose="020F0502020204030204" pitchFamily="34" charset="0"/>
              </a:rPr>
              <a:t>}</a:t>
            </a:r>
          </a:p>
          <a:p>
            <a:r>
              <a:rPr lang="en-IN" dirty="0" smtClean="0">
                <a:latin typeface="Calibri" panose="020F0502020204030204" pitchFamily="34" charset="0"/>
                <a:cs typeface="Calibri" panose="020F0502020204030204" pitchFamily="34" charset="0"/>
              </a:rPr>
              <a:t>              H2{color :white ;background :</a:t>
            </a:r>
            <a:r>
              <a:rPr lang="en-IN" dirty="0">
                <a:latin typeface="Calibri" panose="020F0502020204030204" pitchFamily="34" charset="0"/>
                <a:cs typeface="Calibri" panose="020F0502020204030204" pitchFamily="34" charset="0"/>
              </a:rPr>
              <a:t>green}</a:t>
            </a:r>
          </a:p>
          <a:p>
            <a:r>
              <a:rPr lang="en-IN" dirty="0" smtClean="0">
                <a:latin typeface="Calibri" panose="020F0502020204030204" pitchFamily="34" charset="0"/>
                <a:cs typeface="Calibri" panose="020F0502020204030204" pitchFamily="34" charset="0"/>
              </a:rPr>
              <a:t>              H3{background :pink; border :</a:t>
            </a:r>
            <a:r>
              <a:rPr lang="en-IN" dirty="0">
                <a:latin typeface="Calibri" panose="020F0502020204030204" pitchFamily="34" charset="0"/>
                <a:cs typeface="Calibri" panose="020F0502020204030204" pitchFamily="34" charset="0"/>
              </a:rPr>
              <a:t>dashed</a:t>
            </a:r>
            <a:r>
              <a:rPr lang="en-IN" dirty="0" smtClean="0">
                <a:latin typeface="Calibri" panose="020F0502020204030204" pitchFamily="34" charset="0"/>
                <a:cs typeface="Calibri" panose="020F0502020204030204" pitchFamily="34" charset="0"/>
              </a:rPr>
              <a:t>; color: black}</a:t>
            </a:r>
            <a:endParaRPr lang="en-IN"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b. </a:t>
            </a:r>
            <a:r>
              <a:rPr lang="en-US" dirty="0">
                <a:latin typeface="Calibri" panose="020F0502020204030204" pitchFamily="34" charset="0"/>
                <a:cs typeface="Calibri" panose="020F0502020204030204" pitchFamily="34" charset="0"/>
              </a:rPr>
              <a:t>Create an HTML document and link the above created CSS </a:t>
            </a:r>
            <a:r>
              <a:rPr lang="en-US" dirty="0" smtClean="0">
                <a:latin typeface="Calibri" panose="020F0502020204030204" pitchFamily="34" charset="0"/>
                <a:cs typeface="Calibri" panose="020F0502020204030204" pitchFamily="34" charset="0"/>
              </a:rPr>
              <a:t>file </a:t>
            </a:r>
            <a:r>
              <a:rPr lang="en-US" dirty="0">
                <a:latin typeface="Calibri" panose="020F0502020204030204" pitchFamily="34" charset="0"/>
                <a:cs typeface="Calibri" panose="020F0502020204030204" pitchFamily="34" charset="0"/>
              </a:rPr>
              <a:t>using the &lt;link&gt; tag.</a:t>
            </a:r>
          </a:p>
          <a:p>
            <a:r>
              <a:rPr lang="en-IN" dirty="0" smtClean="0">
                <a:latin typeface="Calibri" panose="020F0502020204030204" pitchFamily="34" charset="0"/>
                <a:cs typeface="Calibri" panose="020F0502020204030204" pitchFamily="34" charset="0"/>
              </a:rPr>
              <a:t>                   &lt;</a:t>
            </a:r>
            <a:r>
              <a:rPr lang="en-IN" dirty="0">
                <a:latin typeface="Calibri" panose="020F0502020204030204" pitchFamily="34" charset="0"/>
                <a:cs typeface="Calibri" panose="020F0502020204030204" pitchFamily="34" charset="0"/>
              </a:rPr>
              <a:t>html&gt;</a:t>
            </a:r>
          </a:p>
          <a:p>
            <a:r>
              <a:rPr lang="en-IN" dirty="0" smtClean="0">
                <a:latin typeface="Calibri" panose="020F0502020204030204" pitchFamily="34" charset="0"/>
                <a:cs typeface="Calibri" panose="020F0502020204030204" pitchFamily="34" charset="0"/>
              </a:rPr>
              <a:t>                   &lt;</a:t>
            </a:r>
            <a:r>
              <a:rPr lang="en-IN" dirty="0">
                <a:latin typeface="Calibri" panose="020F0502020204030204" pitchFamily="34" charset="0"/>
                <a:cs typeface="Calibri" panose="020F0502020204030204" pitchFamily="34" charset="0"/>
              </a:rPr>
              <a:t>head&gt;</a:t>
            </a:r>
          </a:p>
          <a:p>
            <a:r>
              <a:rPr lang="en-IN" dirty="0" smtClean="0">
                <a:latin typeface="Calibri" panose="020F0502020204030204" pitchFamily="34" charset="0"/>
                <a:cs typeface="Calibri" panose="020F0502020204030204" pitchFamily="34" charset="0"/>
              </a:rPr>
              <a:t>                   &lt;</a:t>
            </a:r>
            <a:r>
              <a:rPr lang="en-IN" dirty="0">
                <a:latin typeface="Calibri" panose="020F0502020204030204" pitchFamily="34" charset="0"/>
                <a:cs typeface="Calibri" panose="020F0502020204030204" pitchFamily="34" charset="0"/>
              </a:rPr>
              <a:t>link rel="stylesheet" type= "</a:t>
            </a:r>
            <a:r>
              <a:rPr lang="en-IN" dirty="0" smtClean="0">
                <a:latin typeface="Calibri" panose="020F0502020204030204" pitchFamily="34" charset="0"/>
                <a:cs typeface="Calibri" panose="020F0502020204030204" pitchFamily="34" charset="0"/>
              </a:rPr>
              <a:t>text/</a:t>
            </a:r>
            <a:r>
              <a:rPr lang="en-IN" dirty="0" err="1" smtClean="0">
                <a:latin typeface="Calibri" panose="020F0502020204030204" pitchFamily="34" charset="0"/>
                <a:cs typeface="Calibri" panose="020F0502020204030204" pitchFamily="34" charset="0"/>
              </a:rPr>
              <a:t>css</a:t>
            </a:r>
            <a:r>
              <a:rPr lang="en-IN" dirty="0" smtClean="0">
                <a:latin typeface="Calibri" panose="020F0502020204030204" pitchFamily="34" charset="0"/>
                <a:cs typeface="Calibri" panose="020F0502020204030204" pitchFamily="34" charset="0"/>
              </a:rPr>
              <a:t> " </a:t>
            </a:r>
            <a:r>
              <a:rPr lang="en-IN" dirty="0">
                <a:latin typeface="Calibri" panose="020F0502020204030204" pitchFamily="34" charset="0"/>
                <a:cs typeface="Calibri" panose="020F0502020204030204" pitchFamily="34" charset="0"/>
              </a:rPr>
              <a:t>href= "external.css"&gt;</a:t>
            </a:r>
          </a:p>
          <a:p>
            <a:r>
              <a:rPr lang="en-IN" dirty="0" smtClean="0">
                <a:latin typeface="Calibri" panose="020F0502020204030204" pitchFamily="34" charset="0"/>
                <a:cs typeface="Calibri" panose="020F0502020204030204" pitchFamily="34" charset="0"/>
              </a:rPr>
              <a:t>                   &lt;/</a:t>
            </a:r>
            <a:r>
              <a:rPr lang="en-IN" dirty="0">
                <a:latin typeface="Calibri" panose="020F0502020204030204" pitchFamily="34" charset="0"/>
                <a:cs typeface="Calibri" panose="020F0502020204030204" pitchFamily="34" charset="0"/>
              </a:rPr>
              <a:t>head&gt;</a:t>
            </a:r>
          </a:p>
          <a:p>
            <a:r>
              <a:rPr lang="en-IN" dirty="0" smtClean="0">
                <a:latin typeface="Calibri" panose="020F0502020204030204" pitchFamily="34" charset="0"/>
                <a:cs typeface="Calibri" panose="020F0502020204030204" pitchFamily="34" charset="0"/>
              </a:rPr>
              <a:t>                   &lt;</a:t>
            </a:r>
            <a:r>
              <a:rPr lang="en-IN" dirty="0">
                <a:latin typeface="Calibri" panose="020F0502020204030204" pitchFamily="34" charset="0"/>
                <a:cs typeface="Calibri" panose="020F0502020204030204" pitchFamily="34" charset="0"/>
              </a:rPr>
              <a:t>body&gt;</a:t>
            </a:r>
          </a:p>
          <a:p>
            <a:r>
              <a:rPr lang="en-US" dirty="0" smtClean="0">
                <a:latin typeface="Calibri" panose="020F0502020204030204" pitchFamily="34" charset="0"/>
                <a:cs typeface="Calibri" panose="020F0502020204030204" pitchFamily="34" charset="0"/>
              </a:rPr>
              <a:t>                   &lt;</a:t>
            </a:r>
            <a:r>
              <a:rPr lang="en-US" dirty="0">
                <a:latin typeface="Calibri" panose="020F0502020204030204" pitchFamily="34" charset="0"/>
                <a:cs typeface="Calibri" panose="020F0502020204030204" pitchFamily="34" charset="0"/>
              </a:rPr>
              <a:t>h1&gt;&lt;center&gt;The Ant and The Grasshopper&lt;/center&gt;&lt;/h1&gt;</a:t>
            </a:r>
          </a:p>
          <a:p>
            <a:r>
              <a:rPr lang="en-US" dirty="0">
                <a:latin typeface="Calibri" panose="020F0502020204030204" pitchFamily="34" charset="0"/>
                <a:cs typeface="Calibri" panose="020F0502020204030204" pitchFamily="34" charset="0"/>
              </a:rPr>
              <a:t>The ant and the grasshopper were good friends. In the summer, the ant works hard to ?ill his</a:t>
            </a:r>
          </a:p>
          <a:p>
            <a:r>
              <a:rPr lang="en-US" dirty="0">
                <a:latin typeface="Calibri" panose="020F0502020204030204" pitchFamily="34" charset="0"/>
                <a:cs typeface="Calibri" panose="020F0502020204030204" pitchFamily="34" charset="0"/>
              </a:rPr>
              <a:t>storage with food. While the grasshopper was enjoying the </a:t>
            </a:r>
            <a:r>
              <a:rPr lang="en-US" dirty="0" smtClean="0">
                <a:latin typeface="Calibri" panose="020F0502020204030204" pitchFamily="34" charset="0"/>
                <a:cs typeface="Calibri" panose="020F0502020204030204" pitchFamily="34" charset="0"/>
              </a:rPr>
              <a:t>fine </a:t>
            </a:r>
            <a:r>
              <a:rPr lang="en-US" dirty="0">
                <a:latin typeface="Calibri" panose="020F0502020204030204" pitchFamily="34" charset="0"/>
                <a:cs typeface="Calibri" panose="020F0502020204030204" pitchFamily="34" charset="0"/>
              </a:rPr>
              <a:t>weather and playing all day.</a:t>
            </a:r>
          </a:p>
          <a:p>
            <a:r>
              <a:rPr lang="en-US" dirty="0">
                <a:latin typeface="Calibri" panose="020F0502020204030204" pitchFamily="34" charset="0"/>
                <a:cs typeface="Calibri" panose="020F0502020204030204" pitchFamily="34" charset="0"/>
              </a:rPr>
              <a:t>&lt;h2&gt; When winter came, the ant was lying cozily in his home, surrounded by the food he stored</a:t>
            </a:r>
          </a:p>
          <a:p>
            <a:r>
              <a:rPr lang="en-US" dirty="0">
                <a:latin typeface="Calibri" panose="020F0502020204030204" pitchFamily="34" charset="0"/>
                <a:cs typeface="Calibri" panose="020F0502020204030204" pitchFamily="34" charset="0"/>
              </a:rPr>
              <a:t>during the summer. While the grasshopper was in his home, hungry and freezing. He asked the</a:t>
            </a:r>
          </a:p>
          <a:p>
            <a:r>
              <a:rPr lang="en-US" dirty="0">
                <a:latin typeface="Calibri" panose="020F0502020204030204" pitchFamily="34" charset="0"/>
                <a:cs typeface="Calibri" panose="020F0502020204030204" pitchFamily="34" charset="0"/>
              </a:rPr>
              <a:t>ant for food, and the ant gave him some. But it wasn’t enough to last the entire winter.&lt;/h2&gt;</a:t>
            </a:r>
          </a:p>
          <a:p>
            <a:r>
              <a:rPr lang="en-US" dirty="0">
                <a:latin typeface="Calibri" panose="020F0502020204030204" pitchFamily="34" charset="0"/>
                <a:cs typeface="Calibri" panose="020F0502020204030204" pitchFamily="34" charset="0"/>
              </a:rPr>
              <a:t>&lt;h3&gt; When he tried to ask the ant again, the latter replied: “I’m sorry my friend but my food is</a:t>
            </a:r>
          </a:p>
          <a:p>
            <a:r>
              <a:rPr lang="en-US" dirty="0">
                <a:latin typeface="Calibri" panose="020F0502020204030204" pitchFamily="34" charset="0"/>
                <a:cs typeface="Calibri" panose="020F0502020204030204" pitchFamily="34" charset="0"/>
              </a:rPr>
              <a:t>just enough for my family to last until the end of winter. If I give you more, we too will starve. We</a:t>
            </a:r>
          </a:p>
          <a:p>
            <a:r>
              <a:rPr lang="en-US" dirty="0">
                <a:latin typeface="Calibri" panose="020F0502020204030204" pitchFamily="34" charset="0"/>
                <a:cs typeface="Calibri" panose="020F0502020204030204" pitchFamily="34" charset="0"/>
              </a:rPr>
              <a:t>had the entire summer to prepare for the winter but you chose to play instead.”&lt;/h3&gt;</a:t>
            </a:r>
          </a:p>
          <a:p>
            <a:r>
              <a:rPr lang="en-IN" dirty="0">
                <a:latin typeface="Calibri" panose="020F0502020204030204" pitchFamily="34" charset="0"/>
                <a:cs typeface="Calibri" panose="020F0502020204030204" pitchFamily="34" charset="0"/>
              </a:rPr>
              <a:t>&lt;/body&gt;</a:t>
            </a:r>
          </a:p>
          <a:p>
            <a:r>
              <a:rPr lang="en-IN" dirty="0">
                <a:latin typeface="Calibri" panose="020F0502020204030204" pitchFamily="34" charset="0"/>
                <a:cs typeface="Calibri" panose="020F0502020204030204" pitchFamily="34" charset="0"/>
              </a:rPr>
              <a:t>&lt;/html</a:t>
            </a:r>
            <a:r>
              <a:rPr lang="en-IN" dirty="0" smtClean="0">
                <a:latin typeface="Calibri" panose="020F0502020204030204" pitchFamily="34" charset="0"/>
                <a:cs typeface="Calibri" panose="020F0502020204030204" pitchFamily="34" charset="0"/>
              </a:rPr>
              <a:t>&gt; </a:t>
            </a: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38215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6879" y="234031"/>
            <a:ext cx="9841052" cy="2873016"/>
          </a:xfrm>
          <a:prstGeom prst="rect">
            <a:avLst/>
          </a:prstGeom>
        </p:spPr>
      </p:pic>
      <p:sp>
        <p:nvSpPr>
          <p:cNvPr id="3" name="Rectangle 2"/>
          <p:cNvSpPr/>
          <p:nvPr/>
        </p:nvSpPr>
        <p:spPr>
          <a:xfrm>
            <a:off x="1366879" y="3107047"/>
            <a:ext cx="9841052" cy="3447098"/>
          </a:xfrm>
          <a:prstGeom prst="rect">
            <a:avLst/>
          </a:prstGeom>
        </p:spPr>
        <p:txBody>
          <a:bodyPr wrap="square">
            <a:spAutoFit/>
          </a:bodyPr>
          <a:lstStyle/>
          <a:p>
            <a:r>
              <a:rPr lang="en-IN" sz="2000" b="1" dirty="0">
                <a:solidFill>
                  <a:srgbClr val="FFFF00"/>
                </a:solidFill>
                <a:latin typeface="Cambria-Bold"/>
              </a:rPr>
              <a:t>CSS Classes</a:t>
            </a:r>
          </a:p>
          <a:p>
            <a:r>
              <a:rPr lang="en-US" dirty="0" smtClean="0">
                <a:latin typeface="Cambria" panose="02040503050406030204" pitchFamily="18" charset="0"/>
              </a:rPr>
              <a:t>We </a:t>
            </a:r>
            <a:r>
              <a:rPr lang="en-US" dirty="0">
                <a:latin typeface="Cambria" panose="02040503050406030204" pitchFamily="18" charset="0"/>
              </a:rPr>
              <a:t>know that a single tag can be used more than once in an HTML document. Sometimes, it is</a:t>
            </a:r>
          </a:p>
          <a:p>
            <a:r>
              <a:rPr lang="en-US" dirty="0">
                <a:latin typeface="Cambria" panose="02040503050406030204" pitchFamily="18" charset="0"/>
              </a:rPr>
              <a:t>required to apply different styles to the same tag as it appears at different places in the same</a:t>
            </a:r>
          </a:p>
          <a:p>
            <a:r>
              <a:rPr lang="en-US" dirty="0">
                <a:latin typeface="Cambria" panose="02040503050406030204" pitchFamily="18" charset="0"/>
              </a:rPr>
              <a:t>HTML document. We use CSS classes for this purpose.</a:t>
            </a:r>
          </a:p>
          <a:p>
            <a:r>
              <a:rPr lang="en-IN" dirty="0">
                <a:latin typeface="Cambria" panose="02040503050406030204" pitchFamily="18" charset="0"/>
              </a:rPr>
              <a:t>&lt;html&gt;</a:t>
            </a:r>
          </a:p>
          <a:p>
            <a:r>
              <a:rPr lang="en-IN" dirty="0">
                <a:latin typeface="Cambria" panose="02040503050406030204" pitchFamily="18" charset="0"/>
              </a:rPr>
              <a:t>&lt;body&gt;</a:t>
            </a:r>
          </a:p>
          <a:p>
            <a:r>
              <a:rPr lang="en-US" dirty="0">
                <a:latin typeface="Cambria" panose="02040503050406030204" pitchFamily="18" charset="0"/>
              </a:rPr>
              <a:t>&lt;h1&gt; First section &lt;/h1&gt; - We need to apply red color to the text with dotted border.</a:t>
            </a:r>
          </a:p>
          <a:p>
            <a:r>
              <a:rPr lang="en-US" dirty="0">
                <a:latin typeface="Cambria" panose="02040503050406030204" pitchFamily="18" charset="0"/>
              </a:rPr>
              <a:t>&lt;h1&gt; Second section &lt;/h1&gt; - We need to apply blue color to the text with double border.</a:t>
            </a:r>
          </a:p>
          <a:p>
            <a:r>
              <a:rPr lang="en-US" dirty="0">
                <a:latin typeface="Cambria" panose="02040503050406030204" pitchFamily="18" charset="0"/>
              </a:rPr>
              <a:t>&lt;h1&gt; Third section &lt;/h1&gt; - We need to apply purple color to the next with outset border</a:t>
            </a:r>
          </a:p>
          <a:p>
            <a:r>
              <a:rPr lang="en-IN" dirty="0">
                <a:latin typeface="Cambria" panose="02040503050406030204" pitchFamily="18" charset="0"/>
              </a:rPr>
              <a:t>&lt;/body&gt;</a:t>
            </a:r>
          </a:p>
          <a:p>
            <a:r>
              <a:rPr lang="en-IN" dirty="0">
                <a:latin typeface="Cambria" panose="02040503050406030204" pitchFamily="18" charset="0"/>
              </a:rPr>
              <a:t>&lt;/html&gt;</a:t>
            </a:r>
          </a:p>
          <a:p>
            <a:endParaRPr lang="en-IN" dirty="0"/>
          </a:p>
        </p:txBody>
      </p:sp>
    </p:spTree>
    <p:extLst>
      <p:ext uri="{BB962C8B-B14F-4D97-AF65-F5344CB8AC3E}">
        <p14:creationId xmlns:p14="http://schemas.microsoft.com/office/powerpoint/2010/main" val="38274434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0161" y="888274"/>
            <a:ext cx="10110651" cy="3970318"/>
          </a:xfrm>
          <a:prstGeom prst="rect">
            <a:avLst/>
          </a:prstGeom>
        </p:spPr>
        <p:txBody>
          <a:bodyPr wrap="square">
            <a:spAutoFit/>
          </a:bodyPr>
          <a:lstStyle/>
          <a:p>
            <a:r>
              <a:rPr lang="en-US" dirty="0">
                <a:latin typeface="Cambria" panose="02040503050406030204" pitchFamily="18" charset="0"/>
              </a:rPr>
              <a:t>To meet the above requirement, we will use CSS classes. Look at the examples below.</a:t>
            </a:r>
          </a:p>
          <a:p>
            <a:r>
              <a:rPr lang="en-IN" dirty="0">
                <a:latin typeface="Cambria" panose="02040503050406030204" pitchFamily="18" charset="0"/>
              </a:rPr>
              <a:t>&lt;html&gt;</a:t>
            </a:r>
          </a:p>
          <a:p>
            <a:r>
              <a:rPr lang="en-IN" dirty="0">
                <a:latin typeface="Cambria" panose="02040503050406030204" pitchFamily="18" charset="0"/>
              </a:rPr>
              <a:t>&lt;head&gt;</a:t>
            </a:r>
          </a:p>
          <a:p>
            <a:r>
              <a:rPr lang="en-IN" dirty="0">
                <a:latin typeface="Cambria" panose="02040503050406030204" pitchFamily="18" charset="0"/>
              </a:rPr>
              <a:t>&lt;style type="</a:t>
            </a:r>
            <a:r>
              <a:rPr lang="en-IN" dirty="0" smtClean="0">
                <a:latin typeface="Cambria" panose="02040503050406030204" pitchFamily="18" charset="0"/>
              </a:rPr>
              <a:t>text/</a:t>
            </a:r>
            <a:r>
              <a:rPr lang="en-IN" dirty="0" err="1" smtClean="0">
                <a:latin typeface="Cambria" panose="02040503050406030204" pitchFamily="18" charset="0"/>
              </a:rPr>
              <a:t>css</a:t>
            </a:r>
            <a:r>
              <a:rPr lang="en-IN" dirty="0" smtClean="0">
                <a:latin typeface="Cambria" panose="02040503050406030204" pitchFamily="18" charset="0"/>
              </a:rPr>
              <a:t> "&gt;</a:t>
            </a:r>
            <a:endParaRPr lang="en-IN" dirty="0">
              <a:latin typeface="Cambria" panose="02040503050406030204" pitchFamily="18" charset="0"/>
            </a:endParaRPr>
          </a:p>
          <a:p>
            <a:r>
              <a:rPr lang="en-IN" dirty="0" smtClean="0">
                <a:latin typeface="Cambria" panose="02040503050406030204" pitchFamily="18" charset="0"/>
              </a:rPr>
              <a:t>h1.one{color :blue ;border : dotted</a:t>
            </a:r>
            <a:r>
              <a:rPr lang="en-IN" dirty="0">
                <a:latin typeface="Cambria" panose="02040503050406030204" pitchFamily="18" charset="0"/>
              </a:rPr>
              <a:t>}</a:t>
            </a:r>
          </a:p>
          <a:p>
            <a:r>
              <a:rPr lang="en-IN" dirty="0">
                <a:latin typeface="Cambria" panose="02040503050406030204" pitchFamily="18" charset="0"/>
              </a:rPr>
              <a:t>h1.two</a:t>
            </a:r>
            <a:r>
              <a:rPr lang="en-IN" dirty="0" smtClean="0">
                <a:latin typeface="Cambria" panose="02040503050406030204" pitchFamily="18" charset="0"/>
              </a:rPr>
              <a:t>{ color: green; border: double</a:t>
            </a:r>
            <a:r>
              <a:rPr lang="en-IN" dirty="0">
                <a:latin typeface="Cambria" panose="02040503050406030204" pitchFamily="18" charset="0"/>
              </a:rPr>
              <a:t>} </a:t>
            </a:r>
            <a:r>
              <a:rPr lang="en-IN" dirty="0" smtClean="0">
                <a:latin typeface="Cambria" panose="02040503050406030204" pitchFamily="18" charset="0"/>
              </a:rPr>
              <a:t>h1.three{color :orange ;border :outset }</a:t>
            </a:r>
            <a:endParaRPr lang="en-IN" dirty="0">
              <a:latin typeface="Cambria" panose="02040503050406030204" pitchFamily="18" charset="0"/>
            </a:endParaRPr>
          </a:p>
          <a:p>
            <a:r>
              <a:rPr lang="en-IN" dirty="0">
                <a:latin typeface="Cambria" panose="02040503050406030204" pitchFamily="18" charset="0"/>
              </a:rPr>
              <a:t>&lt;/style&gt;</a:t>
            </a:r>
          </a:p>
          <a:p>
            <a:r>
              <a:rPr lang="en-IN" dirty="0">
                <a:latin typeface="Cambria" panose="02040503050406030204" pitchFamily="18" charset="0"/>
              </a:rPr>
              <a:t>&lt;/head&gt;</a:t>
            </a:r>
          </a:p>
          <a:p>
            <a:r>
              <a:rPr lang="en-IN" dirty="0">
                <a:latin typeface="Cambria" panose="02040503050406030204" pitchFamily="18" charset="0"/>
              </a:rPr>
              <a:t>&lt;body&gt;</a:t>
            </a:r>
          </a:p>
          <a:p>
            <a:r>
              <a:rPr lang="en-US" dirty="0">
                <a:latin typeface="Cambria" panose="02040503050406030204" pitchFamily="18" charset="0"/>
              </a:rPr>
              <a:t>&lt;h1 class=one&gt; First section &lt;/h1&gt;</a:t>
            </a:r>
          </a:p>
          <a:p>
            <a:r>
              <a:rPr lang="en-US" dirty="0">
                <a:latin typeface="Cambria" panose="02040503050406030204" pitchFamily="18" charset="0"/>
              </a:rPr>
              <a:t>&lt;h1 class=two&gt; Second section &lt;/h1&gt;</a:t>
            </a:r>
          </a:p>
          <a:p>
            <a:r>
              <a:rPr lang="en-US" dirty="0">
                <a:latin typeface="Cambria" panose="02040503050406030204" pitchFamily="18" charset="0"/>
              </a:rPr>
              <a:t>&lt;h1 class=three&gt; Third section &lt;/h1&gt;</a:t>
            </a:r>
          </a:p>
          <a:p>
            <a:r>
              <a:rPr lang="en-IN" dirty="0">
                <a:latin typeface="Cambria" panose="02040503050406030204" pitchFamily="18" charset="0"/>
              </a:rPr>
              <a:t>&lt;/body&gt;</a:t>
            </a:r>
          </a:p>
          <a:p>
            <a:r>
              <a:rPr lang="en-IN" dirty="0">
                <a:latin typeface="Cambria" panose="02040503050406030204" pitchFamily="18" charset="0"/>
              </a:rPr>
              <a:t>&lt;/html&gt;</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1920" y="2601723"/>
            <a:ext cx="5215383" cy="1931088"/>
          </a:xfrm>
          <a:prstGeom prst="rect">
            <a:avLst/>
          </a:prstGeom>
        </p:spPr>
      </p:pic>
    </p:spTree>
    <p:extLst>
      <p:ext uri="{BB962C8B-B14F-4D97-AF65-F5344CB8AC3E}">
        <p14:creationId xmlns:p14="http://schemas.microsoft.com/office/powerpoint/2010/main" val="31610805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6286" y="182880"/>
            <a:ext cx="9966960" cy="5293757"/>
          </a:xfrm>
          <a:prstGeom prst="rect">
            <a:avLst/>
          </a:prstGeom>
        </p:spPr>
        <p:txBody>
          <a:bodyPr wrap="square">
            <a:spAutoFit/>
          </a:bodyPr>
          <a:lstStyle/>
          <a:p>
            <a:r>
              <a:rPr lang="en-US" b="1" dirty="0">
                <a:solidFill>
                  <a:srgbClr val="FFFF00"/>
                </a:solidFill>
                <a:latin typeface="Cambria-Bold"/>
              </a:rPr>
              <a:t>Adding same styles to multiple tags: </a:t>
            </a:r>
            <a:r>
              <a:rPr lang="en-US" dirty="0">
                <a:latin typeface="Cambria" panose="02040503050406030204" pitchFamily="18" charset="0"/>
              </a:rPr>
              <a:t>Following is the way to add the same style to multiple tags.</a:t>
            </a:r>
          </a:p>
          <a:p>
            <a:r>
              <a:rPr lang="en-US" sz="2000" dirty="0">
                <a:latin typeface="Calibri" panose="020F0502020204030204" pitchFamily="34" charset="0"/>
                <a:cs typeface="Calibri" panose="020F0502020204030204" pitchFamily="34" charset="0"/>
              </a:rPr>
              <a:t>B, h1, </a:t>
            </a:r>
            <a:r>
              <a:rPr lang="en-US" sz="2000" dirty="0" smtClean="0">
                <a:latin typeface="Calibri" panose="020F0502020204030204" pitchFamily="34" charset="0"/>
                <a:cs typeface="Calibri" panose="020F0502020204030204" pitchFamily="34" charset="0"/>
              </a:rPr>
              <a:t>p{color :White ; background: black</a:t>
            </a:r>
            <a:r>
              <a:rPr lang="en-US" sz="2000" dirty="0">
                <a:latin typeface="Calibri" panose="020F0502020204030204" pitchFamily="34" charset="0"/>
                <a:cs typeface="Calibri" panose="020F0502020204030204" pitchFamily="34" charset="0"/>
              </a:rPr>
              <a:t>} </a:t>
            </a:r>
            <a:r>
              <a:rPr lang="en-US" sz="2000" dirty="0" smtClean="0">
                <a:latin typeface="Calibri" panose="020F0502020204030204" pitchFamily="34" charset="0"/>
                <a:cs typeface="Calibri" panose="020F0502020204030204" pitchFamily="34" charset="0"/>
              </a:rPr>
              <a:t>color </a:t>
            </a:r>
            <a:r>
              <a:rPr lang="en-US" sz="2000" dirty="0">
                <a:latin typeface="Calibri" panose="020F0502020204030204" pitchFamily="34" charset="0"/>
                <a:cs typeface="Calibri" panose="020F0502020204030204" pitchFamily="34" charset="0"/>
              </a:rPr>
              <a:t>and background styles will be applicable to the</a:t>
            </a:r>
          </a:p>
          <a:p>
            <a:r>
              <a:rPr lang="en-US" sz="2000" dirty="0">
                <a:latin typeface="Calibri" panose="020F0502020204030204" pitchFamily="34" charset="0"/>
                <a:cs typeface="Calibri" panose="020F0502020204030204" pitchFamily="34" charset="0"/>
              </a:rPr>
              <a:t>three tags, &lt;B&gt; ,&lt;H1&gt;,&lt;P&gt;.</a:t>
            </a:r>
          </a:p>
          <a:p>
            <a:r>
              <a:rPr lang="en-IN" sz="2000" dirty="0">
                <a:latin typeface="Calibri" panose="020F0502020204030204" pitchFamily="34" charset="0"/>
                <a:cs typeface="Calibri" panose="020F0502020204030204" pitchFamily="34" charset="0"/>
              </a:rPr>
              <a:t>&lt;html&gt;</a:t>
            </a:r>
          </a:p>
          <a:p>
            <a:r>
              <a:rPr lang="en-IN" sz="2000" dirty="0">
                <a:latin typeface="Calibri" panose="020F0502020204030204" pitchFamily="34" charset="0"/>
                <a:cs typeface="Calibri" panose="020F0502020204030204" pitchFamily="34" charset="0"/>
              </a:rPr>
              <a:t>&lt;head&gt;</a:t>
            </a:r>
          </a:p>
          <a:p>
            <a:r>
              <a:rPr lang="en-IN" sz="2000" dirty="0">
                <a:latin typeface="Calibri" panose="020F0502020204030204" pitchFamily="34" charset="0"/>
                <a:cs typeface="Calibri" panose="020F0502020204030204" pitchFamily="34" charset="0"/>
              </a:rPr>
              <a:t>&lt;style type="text</a:t>
            </a:r>
            <a:r>
              <a:rPr lang="en-IN" sz="2000" dirty="0" smtClean="0">
                <a:latin typeface="Calibri" panose="020F0502020204030204" pitchFamily="34" charset="0"/>
                <a:cs typeface="Calibri" panose="020F0502020204030204" pitchFamily="34" charset="0"/>
              </a:rPr>
              <a:t>/ css</a:t>
            </a:r>
            <a:r>
              <a:rPr lang="en-IN" sz="2000" dirty="0">
                <a:latin typeface="Calibri" panose="020F0502020204030204" pitchFamily="34" charset="0"/>
                <a:cs typeface="Calibri" panose="020F0502020204030204" pitchFamily="34" charset="0"/>
              </a:rPr>
              <a:t>"&gt;</a:t>
            </a:r>
          </a:p>
          <a:p>
            <a:r>
              <a:rPr lang="en-IN" sz="2000" dirty="0" smtClean="0">
                <a:latin typeface="Calibri" panose="020F0502020204030204" pitchFamily="34" charset="0"/>
                <a:cs typeface="Calibri" panose="020F0502020204030204" pitchFamily="34" charset="0"/>
              </a:rPr>
              <a:t>B{background : orange ; font-family</a:t>
            </a:r>
            <a:r>
              <a:rPr lang="en-IN" sz="2000" dirty="0">
                <a:latin typeface="Calibri" panose="020F0502020204030204" pitchFamily="34" charset="0"/>
                <a:cs typeface="Calibri" panose="020F0502020204030204" pitchFamily="34" charset="0"/>
              </a:rPr>
              <a:t>:</a:t>
            </a:r>
          </a:p>
          <a:p>
            <a:r>
              <a:rPr lang="en-IN" sz="2000" dirty="0">
                <a:latin typeface="Calibri" panose="020F0502020204030204" pitchFamily="34" charset="0"/>
                <a:cs typeface="Calibri" panose="020F0502020204030204" pitchFamily="34" charset="0"/>
              </a:rPr>
              <a:t>&lt;body&gt;</a:t>
            </a:r>
          </a:p>
          <a:p>
            <a:r>
              <a:rPr lang="en-IN" sz="2000" dirty="0">
                <a:latin typeface="Calibri" panose="020F0502020204030204" pitchFamily="34" charset="0"/>
                <a:cs typeface="Calibri" panose="020F0502020204030204" pitchFamily="34" charset="0"/>
              </a:rPr>
              <a:t>cooper; font-size:xx-large;color:black;border-radius:5px; margin:50px; padding-right:200px;</a:t>
            </a:r>
          </a:p>
          <a:p>
            <a:r>
              <a:rPr lang="en-IN" sz="2000" dirty="0">
                <a:latin typeface="Calibri" panose="020F0502020204030204" pitchFamily="34" charset="0"/>
                <a:cs typeface="Calibri" panose="020F0502020204030204" pitchFamily="34" charset="0"/>
              </a:rPr>
              <a:t>padding-bottom: 50px}</a:t>
            </a:r>
          </a:p>
          <a:p>
            <a:r>
              <a:rPr lang="en-IN" sz="2000" dirty="0">
                <a:latin typeface="Calibri" panose="020F0502020204030204" pitchFamily="34" charset="0"/>
                <a:cs typeface="Calibri" panose="020F0502020204030204" pitchFamily="34" charset="0"/>
              </a:rPr>
              <a:t>&lt;/style&gt;</a:t>
            </a:r>
          </a:p>
          <a:p>
            <a:r>
              <a:rPr lang="en-IN" sz="2000" dirty="0">
                <a:latin typeface="Calibri" panose="020F0502020204030204" pitchFamily="34" charset="0"/>
                <a:cs typeface="Calibri" panose="020F0502020204030204" pitchFamily="34" charset="0"/>
              </a:rPr>
              <a:t>&lt;/head</a:t>
            </a:r>
            <a:r>
              <a:rPr lang="en-IN" sz="2000" dirty="0" smtClean="0">
                <a:latin typeface="Calibri" panose="020F0502020204030204" pitchFamily="34" charset="0"/>
                <a:cs typeface="Calibri" panose="020F0502020204030204" pitchFamily="34" charset="0"/>
              </a:rPr>
              <a:t>&gt;</a:t>
            </a:r>
          </a:p>
          <a:p>
            <a:r>
              <a:rPr lang="en-IN" sz="2000" dirty="0">
                <a:latin typeface="Calibri" panose="020F0502020204030204" pitchFamily="34" charset="0"/>
                <a:cs typeface="Calibri" panose="020F0502020204030204" pitchFamily="34" charset="0"/>
              </a:rPr>
              <a:t>&lt;B&gt; Internal CSS uses&lt;span style</a:t>
            </a:r>
            <a:r>
              <a:rPr lang="en-IN" sz="2000" dirty="0" smtClean="0">
                <a:latin typeface="Calibri" panose="020F0502020204030204" pitchFamily="34" charset="0"/>
                <a:cs typeface="Calibri" panose="020F0502020204030204" pitchFamily="34" charset="0"/>
              </a:rPr>
              <a:t>="font-size: small"&gt; </a:t>
            </a:r>
            <a:r>
              <a:rPr lang="en-IN" sz="2000" dirty="0">
                <a:latin typeface="Calibri" panose="020F0502020204030204" pitchFamily="34" charset="0"/>
                <a:cs typeface="Calibri" panose="020F0502020204030204" pitchFamily="34" charset="0"/>
              </a:rPr>
              <a:t>style tag. &lt;/span&gt;</a:t>
            </a:r>
          </a:p>
          <a:p>
            <a:r>
              <a:rPr lang="en-IN" sz="2000" dirty="0">
                <a:latin typeface="Calibri" panose="020F0502020204030204" pitchFamily="34" charset="0"/>
                <a:cs typeface="Calibri" panose="020F0502020204030204" pitchFamily="34" charset="0"/>
              </a:rPr>
              <a:t>&lt;/span&gt;</a:t>
            </a:r>
          </a:p>
          <a:p>
            <a:r>
              <a:rPr lang="en-IN" sz="2000" dirty="0">
                <a:latin typeface="Calibri" panose="020F0502020204030204" pitchFamily="34" charset="0"/>
                <a:cs typeface="Calibri" panose="020F0502020204030204" pitchFamily="34" charset="0"/>
              </a:rPr>
              <a:t>&lt;/B&gt;</a:t>
            </a:r>
          </a:p>
          <a:p>
            <a:r>
              <a:rPr lang="en-IN" sz="2000" dirty="0">
                <a:latin typeface="Calibri" panose="020F0502020204030204" pitchFamily="34" charset="0"/>
                <a:cs typeface="Calibri" panose="020F0502020204030204" pitchFamily="34" charset="0"/>
              </a:rPr>
              <a:t>&lt;/body&gt;</a:t>
            </a:r>
          </a:p>
          <a:p>
            <a:r>
              <a:rPr lang="en-IN" sz="2000" dirty="0">
                <a:latin typeface="Calibri" panose="020F0502020204030204" pitchFamily="34" charset="0"/>
                <a:cs typeface="Calibri" panose="020F0502020204030204" pitchFamily="34" charset="0"/>
              </a:rPr>
              <a:t>&lt;/html&gt;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6036" y="4258491"/>
            <a:ext cx="6785141" cy="121814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7052" y="4377538"/>
            <a:ext cx="685896" cy="219106"/>
          </a:xfrm>
          <a:prstGeom prst="rect">
            <a:avLst/>
          </a:prstGeom>
        </p:spPr>
      </p:pic>
    </p:spTree>
    <p:extLst>
      <p:ext uri="{BB962C8B-B14F-4D97-AF65-F5344CB8AC3E}">
        <p14:creationId xmlns:p14="http://schemas.microsoft.com/office/powerpoint/2010/main" val="28842162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9532" y="796836"/>
            <a:ext cx="10411097" cy="1169551"/>
          </a:xfrm>
          <a:prstGeom prst="rect">
            <a:avLst/>
          </a:prstGeom>
        </p:spPr>
        <p:txBody>
          <a:bodyPr wrap="square">
            <a:spAutoFit/>
          </a:bodyPr>
          <a:lstStyle/>
          <a:p>
            <a:r>
              <a:rPr lang="en-IN" sz="3000" b="1" dirty="0" smtClean="0">
                <a:solidFill>
                  <a:srgbClr val="FFFF00"/>
                </a:solidFill>
              </a:rPr>
              <a:t>CSS Styles</a:t>
            </a:r>
            <a:endParaRPr lang="en-US" sz="3000" dirty="0" smtClean="0">
              <a:solidFill>
                <a:srgbClr val="FFFF00"/>
              </a:solidFill>
              <a:latin typeface="Calibri" panose="020F0502020204030204" pitchFamily="34" charset="0"/>
              <a:cs typeface="Calibri" panose="020F0502020204030204" pitchFamily="34" charset="0"/>
            </a:endParaRPr>
          </a:p>
          <a:p>
            <a:r>
              <a:rPr lang="en-US" sz="2000" dirty="0" smtClean="0">
                <a:latin typeface="Calibri" panose="020F0502020204030204" pitchFamily="34" charset="0"/>
                <a:cs typeface="Calibri" panose="020F0502020204030204" pitchFamily="34" charset="0"/>
              </a:rPr>
              <a:t>There </a:t>
            </a:r>
            <a:r>
              <a:rPr lang="en-US" sz="2000" dirty="0">
                <a:latin typeface="Calibri" panose="020F0502020204030204" pitchFamily="34" charset="0"/>
                <a:cs typeface="Calibri" panose="020F0502020204030204" pitchFamily="34" charset="0"/>
              </a:rPr>
              <a:t>are a lot of styles provided by CSS to handle the text in the website. Some of the most</a:t>
            </a:r>
          </a:p>
          <a:p>
            <a:r>
              <a:rPr lang="en-US" sz="2000" dirty="0">
                <a:latin typeface="Calibri" panose="020F0502020204030204" pitchFamily="34" charset="0"/>
                <a:cs typeface="Calibri" panose="020F0502020204030204" pitchFamily="34" charset="0"/>
              </a:rPr>
              <a:t>commonly used styles are listed in the given table</a:t>
            </a:r>
            <a:r>
              <a:rPr lang="en-US" sz="2000" dirty="0" smtClean="0">
                <a:latin typeface="Calibri" panose="020F0502020204030204" pitchFamily="34" charset="0"/>
                <a:cs typeface="Calibri" panose="020F0502020204030204" pitchFamily="34" charset="0"/>
              </a:rPr>
              <a:t>.</a:t>
            </a:r>
            <a:endParaRPr lang="en-US" sz="2000" dirty="0">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3443" y="1966387"/>
            <a:ext cx="7954485" cy="4544059"/>
          </a:xfrm>
          <a:prstGeom prst="rect">
            <a:avLst/>
          </a:prstGeom>
        </p:spPr>
      </p:pic>
    </p:spTree>
    <p:extLst>
      <p:ext uri="{BB962C8B-B14F-4D97-AF65-F5344CB8AC3E}">
        <p14:creationId xmlns:p14="http://schemas.microsoft.com/office/powerpoint/2010/main" val="31594502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0275" y="494094"/>
            <a:ext cx="7944959" cy="5582429"/>
          </a:xfrm>
          <a:prstGeom prst="rect">
            <a:avLst/>
          </a:prstGeom>
        </p:spPr>
      </p:pic>
    </p:spTree>
    <p:extLst>
      <p:ext uri="{BB962C8B-B14F-4D97-AF65-F5344CB8AC3E}">
        <p14:creationId xmlns:p14="http://schemas.microsoft.com/office/powerpoint/2010/main" val="14342117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380466" y="860517"/>
            <a:ext cx="7363598" cy="2918499"/>
          </a:xfrm>
          <a:prstGeom prst="rect">
            <a:avLst/>
          </a:prstGeom>
        </p:spPr>
      </p:pic>
      <p:pic>
        <p:nvPicPr>
          <p:cNvPr id="4" name="Picture 3"/>
          <p:cNvPicPr>
            <a:picLocks noChangeAspect="1"/>
          </p:cNvPicPr>
          <p:nvPr/>
        </p:nvPicPr>
        <p:blipFill>
          <a:blip r:embed="rId3"/>
          <a:stretch>
            <a:fillRect/>
          </a:stretch>
        </p:blipFill>
        <p:spPr>
          <a:xfrm>
            <a:off x="2438602" y="3999220"/>
            <a:ext cx="7305462" cy="2507595"/>
          </a:xfrm>
          <a:prstGeom prst="rect">
            <a:avLst/>
          </a:prstGeom>
        </p:spPr>
      </p:pic>
      <p:sp>
        <p:nvSpPr>
          <p:cNvPr id="5" name="Title 1"/>
          <p:cNvSpPr txBox="1">
            <a:spLocks/>
          </p:cNvSpPr>
          <p:nvPr/>
        </p:nvSpPr>
        <p:spPr>
          <a:xfrm>
            <a:off x="2054087" y="266033"/>
            <a:ext cx="7315200" cy="722055"/>
          </a:xfrm>
          <a:prstGeom prst="rect">
            <a:avLst/>
          </a:prstGeom>
        </p:spPr>
        <p:txBody>
          <a:bodyPr>
            <a:normAutofit fontScale="62500" lnSpcReduction="2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IN" sz="6000" b="1" dirty="0" smtClean="0">
                <a:solidFill>
                  <a:srgbClr val="FFFF00"/>
                </a:solidFill>
              </a:rPr>
              <a:t>            INTELLECTUAL SKILL </a:t>
            </a:r>
            <a:r>
              <a:rPr lang="en-IN" sz="6000" b="1" dirty="0" err="1" smtClean="0">
                <a:solidFill>
                  <a:srgbClr val="FFFF00"/>
                </a:solidFill>
              </a:rPr>
              <a:t>SHEEt</a:t>
            </a:r>
            <a:endParaRPr lang="en-IN" sz="6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79804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36399" y="486941"/>
            <a:ext cx="9101878" cy="5430533"/>
          </a:xfrm>
          <a:prstGeom prst="rect">
            <a:avLst/>
          </a:prstGeom>
        </p:spPr>
      </p:pic>
    </p:spTree>
    <p:extLst>
      <p:ext uri="{BB962C8B-B14F-4D97-AF65-F5344CB8AC3E}">
        <p14:creationId xmlns:p14="http://schemas.microsoft.com/office/powerpoint/2010/main" val="40369056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683028" y="1829947"/>
            <a:ext cx="3904811" cy="2591211"/>
          </a:xfrm>
          <a:prstGeom prst="rect">
            <a:avLst/>
          </a:prstGeom>
        </p:spPr>
      </p:pic>
      <p:sp>
        <p:nvSpPr>
          <p:cNvPr id="4" name="Title 1"/>
          <p:cNvSpPr txBox="1">
            <a:spLocks/>
          </p:cNvSpPr>
          <p:nvPr/>
        </p:nvSpPr>
        <p:spPr>
          <a:xfrm>
            <a:off x="2716696" y="444136"/>
            <a:ext cx="5883586" cy="722055"/>
          </a:xfrm>
          <a:prstGeom prst="rect">
            <a:avLst/>
          </a:prstGeom>
        </p:spPr>
        <p:txBody>
          <a:bodyPr>
            <a:normAutofit fontScale="70000" lnSpcReduction="20000"/>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IN" sz="6000" b="1" dirty="0" smtClean="0">
                <a:solidFill>
                  <a:srgbClr val="FFFF00"/>
                </a:solidFill>
              </a:rPr>
              <a:t>            SKILL SHEET KEYS</a:t>
            </a:r>
            <a:endParaRPr lang="en-IN" sz="6000"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3"/>
          <a:stretch>
            <a:fillRect/>
          </a:stretch>
        </p:blipFill>
        <p:spPr>
          <a:xfrm>
            <a:off x="6411563" y="1816695"/>
            <a:ext cx="4059383" cy="3802227"/>
          </a:xfrm>
          <a:prstGeom prst="rect">
            <a:avLst/>
          </a:prstGeom>
        </p:spPr>
      </p:pic>
    </p:spTree>
    <p:extLst>
      <p:ext uri="{BB962C8B-B14F-4D97-AF65-F5344CB8AC3E}">
        <p14:creationId xmlns:p14="http://schemas.microsoft.com/office/powerpoint/2010/main" val="3890702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2733" y="2585403"/>
            <a:ext cx="8791575" cy="1699214"/>
          </a:xfrm>
        </p:spPr>
        <p:txBody>
          <a:bodyPr>
            <a:normAutofit/>
          </a:bodyPr>
          <a:lstStyle/>
          <a:p>
            <a:r>
              <a:rPr lang="en-US" sz="7000" dirty="0" smtClean="0">
                <a:solidFill>
                  <a:srgbClr val="FFFF00"/>
                </a:solidFill>
              </a:rPr>
              <a:t>       </a:t>
            </a:r>
            <a:r>
              <a:rPr lang="en-US" sz="7000" i="1" dirty="0" smtClean="0">
                <a:solidFill>
                  <a:srgbClr val="FFFF00"/>
                </a:solidFill>
              </a:rPr>
              <a:t>thank you </a:t>
            </a:r>
            <a:endParaRPr lang="en-IN" sz="8000" i="1" dirty="0">
              <a:solidFill>
                <a:srgbClr val="FFFF00"/>
              </a:solidFill>
            </a:endParaRPr>
          </a:p>
        </p:txBody>
      </p:sp>
    </p:spTree>
    <p:extLst>
      <p:ext uri="{BB962C8B-B14F-4D97-AF65-F5344CB8AC3E}">
        <p14:creationId xmlns:p14="http://schemas.microsoft.com/office/powerpoint/2010/main" val="78714248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196</TotalTime>
  <Words>2548</Words>
  <Application>Microsoft Office PowerPoint</Application>
  <PresentationFormat>Widescreen</PresentationFormat>
  <Paragraphs>174</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Cambria</vt:lpstr>
      <vt:lpstr>Cambria-Bold</vt:lpstr>
      <vt:lpstr>Trebuchet MS</vt:lpstr>
      <vt:lpstr>Tw Cen MT</vt:lpstr>
      <vt:lpstr>Wingdings</vt:lpstr>
      <vt:lpstr>Circuit</vt:lpstr>
      <vt:lpstr>       HTML with CSS</vt:lpstr>
      <vt:lpstr>            OBJECTIVES</vt:lpstr>
      <vt:lpstr>Recap on HTML</vt:lpstr>
      <vt:lpstr>PowerPoint Presentation</vt:lpstr>
      <vt:lpstr>PowerPoint Presentation</vt:lpstr>
      <vt:lpstr>PowerPoint Presentation</vt:lpstr>
      <vt:lpstr>PowerPoint Presentation</vt:lpstr>
      <vt:lpstr>PowerPoint Presentation</vt:lpstr>
      <vt:lpstr>Ways to insert styles in a web page There are three prime ways to insert styles in a web page.  They are: 1. Inline: The styles are added with the html tags as attributes. 2. Internal: The styles are added in the beginning of the document within the &lt;head&gt; tag. 3. External: The styles are added in a separate file which is further linked to the HTML document.  </vt:lpstr>
      <vt:lpstr>                Syntax Basically, a CSS style is made up of three parts:  Selector: It is an HTML tag on which a style will be applied. Example: &lt;p&gt;, &lt;U&gt; etc.  Property: A property is a type of CSS style which will be applied to the text associated with the HTML tag.   Value : Values are assigned to properties. For example, color property can have value red.        </vt:lpstr>
      <vt:lpstr>Some of the styles which we will refer to in the examples are specified in the given table.                </vt:lpstr>
      <vt:lpstr>Inline CSS You can use inline CSS to embed your CSS in line with HTML elements. The style tag is added to the tag as an attribute along with the name of the CSS style. In the given example, font color is associated with the text. For example,                         &lt;p style= “color: blue”&gt; It uses CSS to specify that text in the current paragraph is blue Example:                 &lt;html&gt;                  &lt;body&gt;                 &lt;h1&gt;&lt;p style="color: blue"&gt; introduction to CSS &lt;/p&gt;&lt;/h1&gt;&lt;br&gt;                 &lt;h1&gt;&lt;p style="color: green"&gt; introduction to CSS &lt;/p&gt;&lt;/h1&gt;                  &lt;/body&gt;                  &lt;/html&gt;    </vt:lpstr>
      <vt:lpstr>Use of &lt;DIV&gt; tag  When we need to apply styles to a particular portion or block of text in an HTML document then we use &lt;DIV&gt; tag. The style attribute is used in the similar manner as used in the above case. Here is an example to show the use of the &lt;DIV&gt; tag. We can use other HTML tags within the &lt;DIV&gt; tag. Example:                   &lt;html&gt;                   &lt;head&gt; &lt;h1&gt;&lt;center&gt; CSS &lt;/center&gt;&lt;/h1&gt;&lt;/head&gt;                   &lt;body&gt;                   &lt;div style="color:blue;border:double;background:orange"&gt;                    &lt;p&gt;&lt;b&gt; CSS was First proposed by Hakon Wium Lie in October, 1994. &lt;Br&gt;&lt;/b&gt;                    By the end of 1996, CSS was ready to become official.                    &lt;/div&gt;                    &lt;/body&gt;                    &lt;/html&gt;      </vt:lpstr>
      <vt:lpstr>Use of &lt;span&gt; tag This tag is used to delimit an arbitrary piece of text. In other words, It is used to provide style to a part of text with an existing tag. Look at the given example. Example:                          &lt;html&gt;                           &lt;body&gt;                           &lt;h1 style="color: blue"&gt; "health is wealth"                           &lt;span style="color: orange"&gt; happiness comes from having good health.                           &lt;/Span&gt;&lt;/h1&gt;                           &lt;/body&gt;                           &lt;/html&gt;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Amer Shareef</dc:creator>
  <cp:lastModifiedBy>P SAYUF ALIKHAN</cp:lastModifiedBy>
  <cp:revision>28</cp:revision>
  <dcterms:created xsi:type="dcterms:W3CDTF">2024-07-13T08:50:11Z</dcterms:created>
  <dcterms:modified xsi:type="dcterms:W3CDTF">2026-08-13T07:21:06Z</dcterms:modified>
</cp:coreProperties>
</file>