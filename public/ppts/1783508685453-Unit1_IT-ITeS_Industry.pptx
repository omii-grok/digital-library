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13315C"/>
          </a:solidFill>
          <a:ln/>
        </p:spPr>
      </p:sp>
      <p:sp>
        <p:nvSpPr>
          <p:cNvPr id="3" name="Shape 1"/>
          <p:cNvSpPr/>
          <p:nvPr/>
        </p:nvSpPr>
        <p:spPr>
          <a:xfrm>
            <a:off x="-1463040" y="4206240"/>
            <a:ext cx="3840480" cy="3840480"/>
          </a:xfrm>
          <a:prstGeom prst="ellipse">
            <a:avLst/>
          </a:prstGeom>
          <a:solidFill>
            <a:srgbClr val="13315C"/>
          </a:solidFill>
          <a:ln/>
        </p:spPr>
      </p:sp>
      <p:sp>
        <p:nvSpPr>
          <p:cNvPr id="4" name="Shape 2"/>
          <p:cNvSpPr/>
          <p:nvPr/>
        </p:nvSpPr>
        <p:spPr>
          <a:xfrm>
            <a:off x="10607040" y="4480560"/>
            <a:ext cx="2194560" cy="2194560"/>
          </a:xfrm>
          <a:prstGeom prst="ellipse">
            <a:avLst/>
          </a:prstGeom>
          <a:solidFill>
            <a:srgbClr val="0E7C86"/>
          </a:solidFill>
          <a:ln/>
        </p:spPr>
      </p:sp>
      <p:sp>
        <p:nvSpPr>
          <p:cNvPr id="5" name="Shape 3"/>
          <p:cNvSpPr/>
          <p:nvPr/>
        </p:nvSpPr>
        <p:spPr>
          <a:xfrm>
            <a:off x="822960" y="914400"/>
            <a:ext cx="777240" cy="77724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24001" y="1015441"/>
            <a:ext cx="575158" cy="575158"/>
          </a:xfrm>
          <a:prstGeom prst="rect">
            <a:avLst/>
          </a:prstGeom>
        </p:spPr>
      </p:pic>
      <p:sp>
        <p:nvSpPr>
          <p:cNvPr id="7" name="Text 4"/>
          <p:cNvSpPr/>
          <p:nvPr/>
        </p:nvSpPr>
        <p:spPr>
          <a:xfrm>
            <a:off x="777240" y="1965960"/>
            <a:ext cx="5486400" cy="365760"/>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GRADE 10  •  IT 402</a:t>
            </a:r>
            <a:endParaRPr lang="en-US" sz="1400" dirty="0"/>
          </a:p>
        </p:txBody>
      </p:sp>
      <p:sp>
        <p:nvSpPr>
          <p:cNvPr id="8" name="Text 5"/>
          <p:cNvSpPr/>
          <p:nvPr/>
        </p:nvSpPr>
        <p:spPr>
          <a:xfrm>
            <a:off x="731520" y="2423160"/>
            <a:ext cx="91440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Introduction to</a:t>
            </a:r>
            <a:endParaRPr lang="en-US" sz="4000" dirty="0"/>
          </a:p>
        </p:txBody>
      </p:sp>
      <p:sp>
        <p:nvSpPr>
          <p:cNvPr id="9" name="Text 6"/>
          <p:cNvSpPr/>
          <p:nvPr/>
        </p:nvSpPr>
        <p:spPr>
          <a:xfrm>
            <a:off x="731520" y="3108960"/>
            <a:ext cx="9144000" cy="914400"/>
          </a:xfrm>
          <a:prstGeom prst="rect">
            <a:avLst/>
          </a:prstGeom>
          <a:noFill/>
          <a:ln/>
        </p:spPr>
        <p:txBody>
          <a:bodyPr wrap="square" lIns="0" tIns="0" rIns="0" bIns="0" rtlCol="0" anchor="ctr"/>
          <a:lstStyle/>
          <a:p>
            <a:pPr indent="0" marL="0">
              <a:buNone/>
            </a:pPr>
            <a:r>
              <a:rPr lang="en-US" sz="5200" b="1" dirty="0">
                <a:solidFill>
                  <a:srgbClr val="0E7C86"/>
                </a:solidFill>
                <a:latin typeface="Cambria" pitchFamily="34" charset="0"/>
                <a:ea typeface="Cambria" pitchFamily="34" charset="-122"/>
                <a:cs typeface="Cambria" pitchFamily="34" charset="-120"/>
              </a:rPr>
              <a:t>IT–ITeS Industry</a:t>
            </a:r>
            <a:endParaRPr lang="en-US" sz="5200" dirty="0"/>
          </a:p>
        </p:txBody>
      </p:sp>
      <p:sp>
        <p:nvSpPr>
          <p:cNvPr id="10" name="Shape 7"/>
          <p:cNvSpPr/>
          <p:nvPr/>
        </p:nvSpPr>
        <p:spPr>
          <a:xfrm>
            <a:off x="777240" y="4343400"/>
            <a:ext cx="2926080" cy="0"/>
          </a:xfrm>
          <a:prstGeom prst="line">
            <a:avLst/>
          </a:prstGeom>
          <a:noFill/>
          <a:ln w="12700">
            <a:solidFill>
              <a:srgbClr val="CADCFC">
                <a:alpha val="40000"/>
              </a:srgbClr>
            </a:solidFill>
            <a:prstDash val="solid"/>
          </a:ln>
        </p:spPr>
      </p:sp>
      <p:sp>
        <p:nvSpPr>
          <p:cNvPr id="11" name="Text 8"/>
          <p:cNvSpPr/>
          <p:nvPr/>
        </p:nvSpPr>
        <p:spPr>
          <a:xfrm>
            <a:off x="777240" y="4526280"/>
            <a:ext cx="6858000" cy="64008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Understanding Information &amp; Communication Technology and the IT-Enabled Services ecosystem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WHAT WE'LL COVER</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Learning Objectives</a:t>
            </a:r>
            <a:endParaRPr lang="en-US" sz="3200" dirty="0"/>
          </a:p>
        </p:txBody>
      </p:sp>
      <p:sp>
        <p:nvSpPr>
          <p:cNvPr id="4" name="Shape 2"/>
          <p:cNvSpPr/>
          <p:nvPr/>
        </p:nvSpPr>
        <p:spPr>
          <a:xfrm>
            <a:off x="640080" y="1920240"/>
            <a:ext cx="3383280" cy="356616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1005840" y="2286000"/>
            <a:ext cx="822960" cy="82296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112825" y="2392985"/>
            <a:ext cx="608990" cy="608990"/>
          </a:xfrm>
          <a:prstGeom prst="rect">
            <a:avLst/>
          </a:prstGeom>
        </p:spPr>
      </p:pic>
      <p:sp>
        <p:nvSpPr>
          <p:cNvPr id="7" name="Text 4"/>
          <p:cNvSpPr/>
          <p:nvPr/>
        </p:nvSpPr>
        <p:spPr>
          <a:xfrm>
            <a:off x="3017520" y="2194560"/>
            <a:ext cx="822960" cy="548640"/>
          </a:xfrm>
          <a:prstGeom prst="rect">
            <a:avLst/>
          </a:prstGeom>
          <a:noFill/>
          <a:ln/>
        </p:spPr>
        <p:txBody>
          <a:bodyPr wrap="square" lIns="0" tIns="0" rIns="0" bIns="0" rtlCol="0" anchor="ctr"/>
          <a:lstStyle/>
          <a:p>
            <a:pPr algn="r" indent="0" marL="0">
              <a:buNone/>
            </a:pPr>
            <a:r>
              <a:rPr lang="en-US" sz="2600" b="1" dirty="0">
                <a:solidFill>
                  <a:srgbClr val="BFD9D8"/>
                </a:solidFill>
                <a:latin typeface="Cambria" pitchFamily="34" charset="0"/>
                <a:ea typeface="Cambria" pitchFamily="34" charset="-122"/>
                <a:cs typeface="Cambria" pitchFamily="34" charset="-120"/>
              </a:rPr>
              <a:t>01</a:t>
            </a:r>
            <a:endParaRPr lang="en-US" sz="2600" dirty="0"/>
          </a:p>
        </p:txBody>
      </p:sp>
      <p:sp>
        <p:nvSpPr>
          <p:cNvPr id="8" name="Text 5"/>
          <p:cNvSpPr/>
          <p:nvPr/>
        </p:nvSpPr>
        <p:spPr>
          <a:xfrm>
            <a:off x="1005840" y="3337560"/>
            <a:ext cx="2651760" cy="50292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Introduction to IT</a:t>
            </a:r>
            <a:endParaRPr lang="en-US" sz="1800" dirty="0"/>
          </a:p>
        </p:txBody>
      </p:sp>
      <p:sp>
        <p:nvSpPr>
          <p:cNvPr id="9" name="Text 6"/>
          <p:cNvSpPr/>
          <p:nvPr/>
        </p:nvSpPr>
        <p:spPr>
          <a:xfrm>
            <a:off x="1005840" y="3886200"/>
            <a:ext cx="2651760" cy="13716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Understand the foundations of Information Technology and ICT.</a:t>
            </a:r>
            <a:endParaRPr lang="en-US" sz="1250" dirty="0"/>
          </a:p>
        </p:txBody>
      </p:sp>
      <p:sp>
        <p:nvSpPr>
          <p:cNvPr id="10" name="Shape 7"/>
          <p:cNvSpPr/>
          <p:nvPr/>
        </p:nvSpPr>
        <p:spPr>
          <a:xfrm>
            <a:off x="4343400" y="1920240"/>
            <a:ext cx="3383280" cy="356616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11" name="Shape 8"/>
          <p:cNvSpPr/>
          <p:nvPr/>
        </p:nvSpPr>
        <p:spPr>
          <a:xfrm>
            <a:off x="4709160" y="2286000"/>
            <a:ext cx="822960" cy="822960"/>
          </a:xfrm>
          <a:prstGeom prst="ellipse">
            <a:avLst/>
          </a:prstGeom>
          <a:solidFill>
            <a:srgbClr val="0E7C86"/>
          </a:solidFill>
          <a:ln/>
        </p:spPr>
      </p:sp>
      <p:pic>
        <p:nvPicPr>
          <p:cNvPr id="12" name="Image 1" descr="preencoded.png">    </p:cNvPr>
          <p:cNvPicPr>
            <a:picLocks noChangeAspect="1"/>
          </p:cNvPicPr>
          <p:nvPr/>
        </p:nvPicPr>
        <p:blipFill>
          <a:blip r:embed="rId2"/>
          <a:stretch>
            <a:fillRect/>
          </a:stretch>
        </p:blipFill>
        <p:spPr>
          <a:xfrm>
            <a:off x="4816145" y="2392985"/>
            <a:ext cx="608990" cy="608990"/>
          </a:xfrm>
          <a:prstGeom prst="rect">
            <a:avLst/>
          </a:prstGeom>
        </p:spPr>
      </p:pic>
      <p:sp>
        <p:nvSpPr>
          <p:cNvPr id="13" name="Text 9"/>
          <p:cNvSpPr/>
          <p:nvPr/>
        </p:nvSpPr>
        <p:spPr>
          <a:xfrm>
            <a:off x="6720840" y="2194560"/>
            <a:ext cx="822960" cy="548640"/>
          </a:xfrm>
          <a:prstGeom prst="rect">
            <a:avLst/>
          </a:prstGeom>
          <a:noFill/>
          <a:ln/>
        </p:spPr>
        <p:txBody>
          <a:bodyPr wrap="square" lIns="0" tIns="0" rIns="0" bIns="0" rtlCol="0" anchor="ctr"/>
          <a:lstStyle/>
          <a:p>
            <a:pPr algn="r" indent="0" marL="0">
              <a:buNone/>
            </a:pPr>
            <a:r>
              <a:rPr lang="en-US" sz="2600" b="1" dirty="0">
                <a:solidFill>
                  <a:srgbClr val="BFD9D8"/>
                </a:solidFill>
                <a:latin typeface="Cambria" pitchFamily="34" charset="0"/>
                <a:ea typeface="Cambria" pitchFamily="34" charset="-122"/>
                <a:cs typeface="Cambria" pitchFamily="34" charset="-120"/>
              </a:rPr>
              <a:t>02</a:t>
            </a:r>
            <a:endParaRPr lang="en-US" sz="2600" dirty="0"/>
          </a:p>
        </p:txBody>
      </p:sp>
      <p:sp>
        <p:nvSpPr>
          <p:cNvPr id="14" name="Text 10"/>
          <p:cNvSpPr/>
          <p:nvPr/>
        </p:nvSpPr>
        <p:spPr>
          <a:xfrm>
            <a:off x="4709160" y="3337560"/>
            <a:ext cx="2651760" cy="50292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Applications of IT</a:t>
            </a:r>
            <a:endParaRPr lang="en-US" sz="1800" dirty="0"/>
          </a:p>
        </p:txBody>
      </p:sp>
      <p:sp>
        <p:nvSpPr>
          <p:cNvPr id="15" name="Text 11"/>
          <p:cNvSpPr/>
          <p:nvPr/>
        </p:nvSpPr>
        <p:spPr>
          <a:xfrm>
            <a:off x="4709160" y="3886200"/>
            <a:ext cx="2651760" cy="13716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Explore how IT transforms homes, banking, healthcare &amp; more.</a:t>
            </a:r>
            <a:endParaRPr lang="en-US" sz="1250" dirty="0"/>
          </a:p>
        </p:txBody>
      </p:sp>
      <p:sp>
        <p:nvSpPr>
          <p:cNvPr id="16" name="Shape 12"/>
          <p:cNvSpPr/>
          <p:nvPr/>
        </p:nvSpPr>
        <p:spPr>
          <a:xfrm>
            <a:off x="8046720" y="1920240"/>
            <a:ext cx="3383280" cy="356616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17" name="Shape 13"/>
          <p:cNvSpPr/>
          <p:nvPr/>
        </p:nvSpPr>
        <p:spPr>
          <a:xfrm>
            <a:off x="8412480" y="2286000"/>
            <a:ext cx="822960" cy="822960"/>
          </a:xfrm>
          <a:prstGeom prst="ellipse">
            <a:avLst/>
          </a:prstGeom>
          <a:solidFill>
            <a:srgbClr val="0E7C86"/>
          </a:solidFill>
          <a:ln/>
        </p:spPr>
      </p:sp>
      <p:pic>
        <p:nvPicPr>
          <p:cNvPr id="18" name="Image 2" descr="preencoded.png">    </p:cNvPr>
          <p:cNvPicPr>
            <a:picLocks noChangeAspect="1"/>
          </p:cNvPicPr>
          <p:nvPr/>
        </p:nvPicPr>
        <p:blipFill>
          <a:blip r:embed="rId3"/>
          <a:stretch>
            <a:fillRect/>
          </a:stretch>
        </p:blipFill>
        <p:spPr>
          <a:xfrm>
            <a:off x="8519465" y="2392985"/>
            <a:ext cx="608990" cy="608990"/>
          </a:xfrm>
          <a:prstGeom prst="rect">
            <a:avLst/>
          </a:prstGeom>
        </p:spPr>
      </p:pic>
      <p:sp>
        <p:nvSpPr>
          <p:cNvPr id="19" name="Text 14"/>
          <p:cNvSpPr/>
          <p:nvPr/>
        </p:nvSpPr>
        <p:spPr>
          <a:xfrm>
            <a:off x="10424160" y="2194560"/>
            <a:ext cx="822960" cy="548640"/>
          </a:xfrm>
          <a:prstGeom prst="rect">
            <a:avLst/>
          </a:prstGeom>
          <a:noFill/>
          <a:ln/>
        </p:spPr>
        <p:txBody>
          <a:bodyPr wrap="square" lIns="0" tIns="0" rIns="0" bIns="0" rtlCol="0" anchor="ctr"/>
          <a:lstStyle/>
          <a:p>
            <a:pPr algn="r" indent="0" marL="0">
              <a:buNone/>
            </a:pPr>
            <a:r>
              <a:rPr lang="en-US" sz="2600" b="1" dirty="0">
                <a:solidFill>
                  <a:srgbClr val="BFD9D8"/>
                </a:solidFill>
                <a:latin typeface="Cambria" pitchFamily="34" charset="0"/>
                <a:ea typeface="Cambria" pitchFamily="34" charset="-122"/>
                <a:cs typeface="Cambria" pitchFamily="34" charset="-120"/>
              </a:rPr>
              <a:t>03</a:t>
            </a:r>
            <a:endParaRPr lang="en-US" sz="2600" dirty="0"/>
          </a:p>
        </p:txBody>
      </p:sp>
      <p:sp>
        <p:nvSpPr>
          <p:cNvPr id="20" name="Text 15"/>
          <p:cNvSpPr/>
          <p:nvPr/>
        </p:nvSpPr>
        <p:spPr>
          <a:xfrm>
            <a:off x="8412480" y="3337560"/>
            <a:ext cx="2651760" cy="50292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IT Enabled Services</a:t>
            </a:r>
            <a:endParaRPr lang="en-US" sz="1800" dirty="0"/>
          </a:p>
        </p:txBody>
      </p:sp>
      <p:sp>
        <p:nvSpPr>
          <p:cNvPr id="21" name="Text 16"/>
          <p:cNvSpPr/>
          <p:nvPr/>
        </p:nvSpPr>
        <p:spPr>
          <a:xfrm>
            <a:off x="8412480" y="3886200"/>
            <a:ext cx="2651760" cy="1371600"/>
          </a:xfrm>
          <a:prstGeom prst="rect">
            <a:avLst/>
          </a:prstGeom>
          <a:noFill/>
          <a:ln/>
        </p:spPr>
        <p:txBody>
          <a:bodyPr wrap="square" lIns="0" tIns="0" rIns="0" bIns="0" rtlCol="0" anchor="ctr"/>
          <a:lstStyle/>
          <a:p>
            <a:pPr indent="0" marL="0">
              <a:buNone/>
            </a:pPr>
            <a:r>
              <a:rPr lang="en-US" sz="1250" dirty="0">
                <a:solidFill>
                  <a:srgbClr val="5B6B7C"/>
                </a:solidFill>
                <a:latin typeface="Calibri" pitchFamily="34" charset="0"/>
                <a:ea typeface="Calibri" pitchFamily="34" charset="-122"/>
                <a:cs typeface="Calibri" pitchFamily="34" charset="-120"/>
              </a:rPr>
              <a:t>Learn the components, functions and business role of ITeS.</a:t>
            </a:r>
            <a:endParaRPr lang="en-US" sz="1250" dirty="0"/>
          </a:p>
        </p:txBody>
      </p:sp>
      <p:sp>
        <p:nvSpPr>
          <p:cNvPr id="22" name="Text 1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3"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1 · INTRODUCTION TO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What is ICT?</a:t>
            </a:r>
            <a:endParaRPr lang="en-US" sz="3200" dirty="0"/>
          </a:p>
        </p:txBody>
      </p:sp>
      <p:sp>
        <p:nvSpPr>
          <p:cNvPr id="4" name="Shape 2"/>
          <p:cNvSpPr/>
          <p:nvPr/>
        </p:nvSpPr>
        <p:spPr>
          <a:xfrm>
            <a:off x="640080" y="1600200"/>
            <a:ext cx="6492240" cy="4206240"/>
          </a:xfrm>
          <a:prstGeom prst="roundRect">
            <a:avLst>
              <a:gd name="adj" fmla="val 1739"/>
            </a:avLst>
          </a:prstGeom>
          <a:solidFill>
            <a:srgbClr val="E6F4F3"/>
          </a:solidFill>
          <a:ln/>
        </p:spPr>
      </p:sp>
      <p:sp>
        <p:nvSpPr>
          <p:cNvPr id="5" name="Text 3"/>
          <p:cNvSpPr/>
          <p:nvPr/>
        </p:nvSpPr>
        <p:spPr>
          <a:xfrm>
            <a:off x="960120" y="1874520"/>
            <a:ext cx="5852160" cy="1463040"/>
          </a:xfrm>
          <a:prstGeom prst="rect">
            <a:avLst/>
          </a:prstGeom>
          <a:noFill/>
          <a:ln/>
        </p:spPr>
        <p:txBody>
          <a:bodyPr wrap="square" lIns="0" tIns="0" rIns="0" bIns="0" rtlCol="0" anchor="ctr"/>
          <a:lstStyle/>
          <a:p>
            <a:pPr indent="0" marL="0">
              <a:lnSpc>
                <a:spcPct val="120000"/>
              </a:lnSpc>
              <a:buNone/>
            </a:pPr>
            <a:r>
              <a:rPr lang="en-US" sz="1400" b="1" dirty="0">
                <a:solidFill>
                  <a:srgbClr val="0B2545"/>
                </a:solidFill>
                <a:latin typeface="Calibri" pitchFamily="34" charset="0"/>
                <a:ea typeface="Calibri" pitchFamily="34" charset="-122"/>
                <a:cs typeface="Calibri" pitchFamily="34" charset="-120"/>
              </a:rPr>
              <a:t>Information and Communication Technology (ICT) </a:t>
            </a:r>
            <a:pPr indent="0" marL="0">
              <a:lnSpc>
                <a:spcPct val="120000"/>
              </a:lnSpc>
              <a:buNone/>
            </a:pPr>
            <a:r>
              <a:rPr lang="en-US" sz="1400" dirty="0">
                <a:solidFill>
                  <a:srgbClr val="1E293B"/>
                </a:solidFill>
                <a:latin typeface="Calibri" pitchFamily="34" charset="0"/>
                <a:ea typeface="Calibri" pitchFamily="34" charset="-122"/>
                <a:cs typeface="Calibri" pitchFamily="34" charset="-120"/>
              </a:rPr>
              <a:t>is a broad field that uses technology to manage and process information — playing a crucial role in our modern, interconnected world.</a:t>
            </a:r>
            <a:endParaRPr lang="en-US" sz="1400" dirty="0"/>
          </a:p>
        </p:txBody>
      </p:sp>
      <p:sp>
        <p:nvSpPr>
          <p:cNvPr id="6" name="Text 4"/>
          <p:cNvSpPr/>
          <p:nvPr/>
        </p:nvSpPr>
        <p:spPr>
          <a:xfrm>
            <a:off x="960120" y="3337560"/>
            <a:ext cx="5852160" cy="1005840"/>
          </a:xfrm>
          <a:prstGeom prst="rect">
            <a:avLst/>
          </a:prstGeom>
          <a:noFill/>
          <a:ln/>
        </p:spPr>
        <p:txBody>
          <a:bodyPr wrap="square" lIns="0" tIns="0" rIns="0" bIns="0" rtlCol="0" anchor="ctr"/>
          <a:lstStyle/>
          <a:p>
            <a:pPr indent="0" marL="0">
              <a:lnSpc>
                <a:spcPct val="120000"/>
              </a:lnSpc>
              <a:buNone/>
            </a:pPr>
            <a:r>
              <a:rPr lang="en-US" sz="1400" dirty="0">
                <a:solidFill>
                  <a:srgbClr val="1E293B"/>
                </a:solidFill>
                <a:latin typeface="Calibri" pitchFamily="34" charset="0"/>
                <a:ea typeface="Calibri" pitchFamily="34" charset="-122"/>
                <a:cs typeface="Calibri" pitchFamily="34" charset="-120"/>
              </a:rPr>
              <a:t>It covers the technologies used for </a:t>
            </a:r>
            <a:pPr indent="0" marL="0">
              <a:lnSpc>
                <a:spcPct val="120000"/>
              </a:lnSpc>
              <a:buNone/>
            </a:pPr>
            <a:r>
              <a:rPr lang="en-US" sz="1400" b="1" dirty="0">
                <a:solidFill>
                  <a:srgbClr val="0B2545"/>
                </a:solidFill>
                <a:latin typeface="Calibri" pitchFamily="34" charset="0"/>
                <a:ea typeface="Calibri" pitchFamily="34" charset="-122"/>
                <a:cs typeface="Calibri" pitchFamily="34" charset="-120"/>
              </a:rPr>
              <a:t>telecommunications, broadcast media, audio-visual processing,</a:t>
            </a:r>
            <a:pPr indent="0" marL="0">
              <a:lnSpc>
                <a:spcPct val="120000"/>
              </a:lnSpc>
              <a:buNone/>
            </a:pPr>
            <a:r>
              <a:rPr lang="en-US" sz="1400" dirty="0">
                <a:solidFill>
                  <a:srgbClr val="1E293B"/>
                </a:solidFill>
                <a:latin typeface="Calibri" pitchFamily="34" charset="0"/>
                <a:ea typeface="Calibri" pitchFamily="34" charset="-122"/>
                <a:cs typeface="Calibri" pitchFamily="34" charset="-120"/>
              </a:rPr>
              <a:t> and network-based control &amp; monitoring functions.</a:t>
            </a:r>
            <a:endParaRPr lang="en-US" sz="1400" dirty="0"/>
          </a:p>
        </p:txBody>
      </p:sp>
      <p:sp>
        <p:nvSpPr>
          <p:cNvPr id="7" name="Text 5"/>
          <p:cNvSpPr/>
          <p:nvPr/>
        </p:nvSpPr>
        <p:spPr>
          <a:xfrm>
            <a:off x="960120" y="4434840"/>
            <a:ext cx="5852160" cy="1188720"/>
          </a:xfrm>
          <a:prstGeom prst="rect">
            <a:avLst/>
          </a:prstGeom>
          <a:noFill/>
          <a:ln/>
        </p:spPr>
        <p:txBody>
          <a:bodyPr wrap="square" lIns="0" tIns="0" rIns="0" bIns="0" rtlCol="0" anchor="ctr"/>
          <a:lstStyle/>
          <a:p>
            <a:pPr indent="0" marL="0">
              <a:lnSpc>
                <a:spcPct val="120000"/>
              </a:lnSpc>
              <a:buNone/>
            </a:pPr>
            <a:r>
              <a:rPr lang="en-US" sz="1300" i="1" dirty="0">
                <a:solidFill>
                  <a:srgbClr val="0E7C86"/>
                </a:solidFill>
                <a:latin typeface="Calibri" pitchFamily="34" charset="0"/>
                <a:ea typeface="Calibri" pitchFamily="34" charset="-122"/>
                <a:cs typeface="Calibri" pitchFamily="34" charset="-120"/>
              </a:rPr>
              <a:t>Students are encouraged to stay informed about emerging trends and adapt to the ever-evolving ICT landscape.</a:t>
            </a:r>
            <a:endParaRPr lang="en-US" sz="1300" dirty="0"/>
          </a:p>
        </p:txBody>
      </p:sp>
      <p:sp>
        <p:nvSpPr>
          <p:cNvPr id="8" name="Shape 6"/>
          <p:cNvSpPr/>
          <p:nvPr/>
        </p:nvSpPr>
        <p:spPr>
          <a:xfrm>
            <a:off x="7635240" y="1828800"/>
            <a:ext cx="1280160" cy="1280160"/>
          </a:xfrm>
          <a:prstGeom prst="ellipse">
            <a:avLst/>
          </a:prstGeom>
          <a:solidFill>
            <a:srgbClr val="0B2545"/>
          </a:solidFill>
          <a:ln/>
        </p:spPr>
      </p:sp>
      <p:pic>
        <p:nvPicPr>
          <p:cNvPr id="9" name="Image 0" descr="preencoded.png">    </p:cNvPr>
          <p:cNvPicPr>
            <a:picLocks noChangeAspect="1"/>
          </p:cNvPicPr>
          <p:nvPr/>
        </p:nvPicPr>
        <p:blipFill>
          <a:blip r:embed="rId1"/>
          <a:stretch>
            <a:fillRect/>
          </a:stretch>
        </p:blipFill>
        <p:spPr>
          <a:xfrm>
            <a:off x="7801661" y="1995221"/>
            <a:ext cx="947318" cy="947318"/>
          </a:xfrm>
          <a:prstGeom prst="rect">
            <a:avLst/>
          </a:prstGeom>
        </p:spPr>
      </p:pic>
      <p:sp>
        <p:nvSpPr>
          <p:cNvPr id="10" name="Shape 7"/>
          <p:cNvSpPr/>
          <p:nvPr/>
        </p:nvSpPr>
        <p:spPr>
          <a:xfrm>
            <a:off x="7360920" y="3383280"/>
            <a:ext cx="4160520" cy="2331720"/>
          </a:xfrm>
          <a:prstGeom prst="roundRect">
            <a:avLst>
              <a:gd name="adj" fmla="val 3137"/>
            </a:avLst>
          </a:prstGeom>
          <a:solidFill>
            <a:srgbClr val="0B2545"/>
          </a:solidFill>
          <a:ln/>
          <a:effectLst>
            <a:outerShdw sx="100000" sy="100000" kx="0" ky="0" algn="bl" rotWithShape="0" blurRad="101600" dist="38100" dir="2700000">
              <a:srgbClr val="0B2545">
                <a:alpha val="15000"/>
              </a:srgbClr>
            </a:outerShdw>
          </a:effectLst>
        </p:spPr>
      </p:sp>
      <p:sp>
        <p:nvSpPr>
          <p:cNvPr id="11" name="Text 8"/>
          <p:cNvSpPr/>
          <p:nvPr/>
        </p:nvSpPr>
        <p:spPr>
          <a:xfrm>
            <a:off x="7635240" y="3584448"/>
            <a:ext cx="3657600" cy="274320"/>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THE GOAL</a:t>
            </a:r>
            <a:endParaRPr lang="en-US" sz="1100" dirty="0"/>
          </a:p>
        </p:txBody>
      </p:sp>
      <p:sp>
        <p:nvSpPr>
          <p:cNvPr id="12" name="Text 9"/>
          <p:cNvSpPr/>
          <p:nvPr/>
        </p:nvSpPr>
        <p:spPr>
          <a:xfrm>
            <a:off x="7635240" y="3886200"/>
            <a:ext cx="3657600" cy="1691640"/>
          </a:xfrm>
          <a:prstGeom prst="rect">
            <a:avLst/>
          </a:prstGeom>
          <a:noFill/>
          <a:ln/>
        </p:spPr>
        <p:txBody>
          <a:bodyPr wrap="square" lIns="0" tIns="0" rIns="0" bIns="0" rtlCol="0" anchor="ctr"/>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Equip students with essential skills and knowledge to navigate and contribute effectively to the digital age.</a:t>
            </a:r>
            <a:endParaRPr lang="en-US" sz="1350" dirty="0"/>
          </a:p>
        </p:txBody>
      </p:sp>
      <p:sp>
        <p:nvSpPr>
          <p:cNvPr id="13" name="Text 10"/>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14"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1 · INTRODUCTION TO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ICT — Skills, Applications &amp; Components</a:t>
            </a:r>
            <a:endParaRPr lang="en-US" sz="3200" dirty="0"/>
          </a:p>
        </p:txBody>
      </p:sp>
      <p:sp>
        <p:nvSpPr>
          <p:cNvPr id="4" name="Shape 2"/>
          <p:cNvSpPr/>
          <p:nvPr/>
        </p:nvSpPr>
        <p:spPr>
          <a:xfrm>
            <a:off x="640080" y="1691640"/>
            <a:ext cx="3520440" cy="4206240"/>
          </a:xfrm>
          <a:prstGeom prst="roundRect">
            <a:avLst>
              <a:gd name="adj" fmla="val 2078"/>
            </a:avLst>
          </a:prstGeom>
          <a:solidFill>
            <a:srgbClr val="FFFFFF"/>
          </a:solidFill>
          <a:ln w="12700">
            <a:solidFill>
              <a:srgbClr val="DCE7E6"/>
            </a:solidFill>
            <a:prstDash val="solid"/>
          </a:ln>
          <a:effectLst>
            <a:outerShdw sx="100000" sy="100000" kx="0" ky="0" algn="bl" rotWithShape="0" blurRad="101600" dist="38100" dir="2700000">
              <a:srgbClr val="0B2545">
                <a:alpha val="15000"/>
              </a:srgbClr>
            </a:outerShdw>
          </a:effectLst>
        </p:spPr>
      </p:sp>
      <p:sp>
        <p:nvSpPr>
          <p:cNvPr id="5" name="Shape 3"/>
          <p:cNvSpPr/>
          <p:nvPr/>
        </p:nvSpPr>
        <p:spPr>
          <a:xfrm>
            <a:off x="640080" y="1691640"/>
            <a:ext cx="3520440" cy="822960"/>
          </a:xfrm>
          <a:prstGeom prst="rect">
            <a:avLst/>
          </a:prstGeom>
          <a:solidFill>
            <a:srgbClr val="0B2545"/>
          </a:solidFill>
          <a:ln/>
        </p:spPr>
      </p:sp>
      <p:sp>
        <p:nvSpPr>
          <p:cNvPr id="6" name="Shape 4"/>
          <p:cNvSpPr/>
          <p:nvPr/>
        </p:nvSpPr>
        <p:spPr>
          <a:xfrm>
            <a:off x="868680" y="1856232"/>
            <a:ext cx="502920" cy="502920"/>
          </a:xfrm>
          <a:prstGeom prst="ellipse">
            <a:avLst/>
          </a:prstGeom>
          <a:solidFill>
            <a:srgbClr val="0A1D3A"/>
          </a:solidFill>
          <a:ln/>
        </p:spPr>
      </p:sp>
      <p:pic>
        <p:nvPicPr>
          <p:cNvPr id="7" name="Image 0" descr="preencoded.png">    </p:cNvPr>
          <p:cNvPicPr>
            <a:picLocks noChangeAspect="1"/>
          </p:cNvPicPr>
          <p:nvPr/>
        </p:nvPicPr>
        <p:blipFill>
          <a:blip r:embed="rId1"/>
          <a:stretch>
            <a:fillRect/>
          </a:stretch>
        </p:blipFill>
        <p:spPr>
          <a:xfrm>
            <a:off x="934060" y="1921612"/>
            <a:ext cx="372161" cy="372161"/>
          </a:xfrm>
          <a:prstGeom prst="rect">
            <a:avLst/>
          </a:prstGeom>
        </p:spPr>
      </p:pic>
      <p:sp>
        <p:nvSpPr>
          <p:cNvPr id="8" name="Text 5"/>
          <p:cNvSpPr/>
          <p:nvPr/>
        </p:nvSpPr>
        <p:spPr>
          <a:xfrm>
            <a:off x="1508760" y="1837944"/>
            <a:ext cx="2514600" cy="5486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Basic ICT Skills</a:t>
            </a:r>
            <a:endParaRPr lang="en-US" sz="1550" dirty="0"/>
          </a:p>
        </p:txBody>
      </p:sp>
      <p:sp>
        <p:nvSpPr>
          <p:cNvPr id="9" name="Text 6"/>
          <p:cNvSpPr/>
          <p:nvPr/>
        </p:nvSpPr>
        <p:spPr>
          <a:xfrm>
            <a:off x="914400" y="2697480"/>
            <a:ext cx="2971800" cy="30632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Computer Literacy</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Internet Skills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Typing &amp; Keyboard Skills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Digital Citizenship</a:t>
            </a:r>
            <a:endParaRPr lang="en-US" sz="1300" dirty="0"/>
          </a:p>
        </p:txBody>
      </p:sp>
      <p:sp>
        <p:nvSpPr>
          <p:cNvPr id="10" name="Shape 7"/>
          <p:cNvSpPr/>
          <p:nvPr/>
        </p:nvSpPr>
        <p:spPr>
          <a:xfrm>
            <a:off x="4416552" y="1691640"/>
            <a:ext cx="3520440" cy="4206240"/>
          </a:xfrm>
          <a:prstGeom prst="roundRect">
            <a:avLst>
              <a:gd name="adj" fmla="val 2078"/>
            </a:avLst>
          </a:prstGeom>
          <a:solidFill>
            <a:srgbClr val="FFFFFF"/>
          </a:solidFill>
          <a:ln w="12700">
            <a:solidFill>
              <a:srgbClr val="DCE7E6"/>
            </a:solidFill>
            <a:prstDash val="solid"/>
          </a:ln>
          <a:effectLst>
            <a:outerShdw sx="100000" sy="100000" kx="0" ky="0" algn="bl" rotWithShape="0" blurRad="101600" dist="38100" dir="2700000">
              <a:srgbClr val="0B2545">
                <a:alpha val="15000"/>
              </a:srgbClr>
            </a:outerShdw>
          </a:effectLst>
        </p:spPr>
      </p:sp>
      <p:sp>
        <p:nvSpPr>
          <p:cNvPr id="11" name="Shape 8"/>
          <p:cNvSpPr/>
          <p:nvPr/>
        </p:nvSpPr>
        <p:spPr>
          <a:xfrm>
            <a:off x="4416552" y="1691640"/>
            <a:ext cx="3520440" cy="822960"/>
          </a:xfrm>
          <a:prstGeom prst="rect">
            <a:avLst/>
          </a:prstGeom>
          <a:solidFill>
            <a:srgbClr val="0E7C86"/>
          </a:solidFill>
          <a:ln/>
        </p:spPr>
      </p:sp>
      <p:sp>
        <p:nvSpPr>
          <p:cNvPr id="12" name="Shape 9"/>
          <p:cNvSpPr/>
          <p:nvPr/>
        </p:nvSpPr>
        <p:spPr>
          <a:xfrm>
            <a:off x="4645152" y="1856232"/>
            <a:ext cx="502920" cy="502920"/>
          </a:xfrm>
          <a:prstGeom prst="ellipse">
            <a:avLst/>
          </a:prstGeom>
          <a:solidFill>
            <a:srgbClr val="0B6870"/>
          </a:solidFill>
          <a:ln/>
        </p:spPr>
      </p:sp>
      <p:pic>
        <p:nvPicPr>
          <p:cNvPr id="13" name="Image 1" descr="preencoded.png">    </p:cNvPr>
          <p:cNvPicPr>
            <a:picLocks noChangeAspect="1"/>
          </p:cNvPicPr>
          <p:nvPr/>
        </p:nvPicPr>
        <p:blipFill>
          <a:blip r:embed="rId2"/>
          <a:stretch>
            <a:fillRect/>
          </a:stretch>
        </p:blipFill>
        <p:spPr>
          <a:xfrm>
            <a:off x="4710532" y="1921612"/>
            <a:ext cx="372161" cy="372161"/>
          </a:xfrm>
          <a:prstGeom prst="rect">
            <a:avLst/>
          </a:prstGeom>
        </p:spPr>
      </p:pic>
      <p:sp>
        <p:nvSpPr>
          <p:cNvPr id="14" name="Text 10"/>
          <p:cNvSpPr/>
          <p:nvPr/>
        </p:nvSpPr>
        <p:spPr>
          <a:xfrm>
            <a:off x="5285232" y="1837944"/>
            <a:ext cx="2514600" cy="5486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Applications of ICT</a:t>
            </a:r>
            <a:endParaRPr lang="en-US" sz="1550" dirty="0"/>
          </a:p>
        </p:txBody>
      </p:sp>
      <p:sp>
        <p:nvSpPr>
          <p:cNvPr id="15" name="Text 11"/>
          <p:cNvSpPr/>
          <p:nvPr/>
        </p:nvSpPr>
        <p:spPr>
          <a:xfrm>
            <a:off x="4690872" y="2697480"/>
            <a:ext cx="2971800" cy="30632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Communications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Productivity Tools</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Research &amp; Info Retrieval</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Creativity &amp; Multimedia</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Programming &amp; Coding</a:t>
            </a:r>
            <a:endParaRPr lang="en-US" sz="1300" dirty="0"/>
          </a:p>
        </p:txBody>
      </p:sp>
      <p:sp>
        <p:nvSpPr>
          <p:cNvPr id="16" name="Shape 12"/>
          <p:cNvSpPr/>
          <p:nvPr/>
        </p:nvSpPr>
        <p:spPr>
          <a:xfrm>
            <a:off x="8193024" y="1691640"/>
            <a:ext cx="3520440" cy="4206240"/>
          </a:xfrm>
          <a:prstGeom prst="roundRect">
            <a:avLst>
              <a:gd name="adj" fmla="val 2078"/>
            </a:avLst>
          </a:prstGeom>
          <a:solidFill>
            <a:srgbClr val="FFFFFF"/>
          </a:solidFill>
          <a:ln w="12700">
            <a:solidFill>
              <a:srgbClr val="DCE7E6"/>
            </a:solidFill>
            <a:prstDash val="solid"/>
          </a:ln>
          <a:effectLst>
            <a:outerShdw sx="100000" sy="100000" kx="0" ky="0" algn="bl" rotWithShape="0" blurRad="101600" dist="38100" dir="2700000">
              <a:srgbClr val="0B2545">
                <a:alpha val="15000"/>
              </a:srgbClr>
            </a:outerShdw>
          </a:effectLst>
        </p:spPr>
      </p:sp>
      <p:sp>
        <p:nvSpPr>
          <p:cNvPr id="17" name="Shape 13"/>
          <p:cNvSpPr/>
          <p:nvPr/>
        </p:nvSpPr>
        <p:spPr>
          <a:xfrm>
            <a:off x="8193024" y="1691640"/>
            <a:ext cx="3520440" cy="822960"/>
          </a:xfrm>
          <a:prstGeom prst="rect">
            <a:avLst/>
          </a:prstGeom>
          <a:solidFill>
            <a:srgbClr val="0B2545"/>
          </a:solidFill>
          <a:ln/>
        </p:spPr>
      </p:sp>
      <p:sp>
        <p:nvSpPr>
          <p:cNvPr id="18" name="Shape 14"/>
          <p:cNvSpPr/>
          <p:nvPr/>
        </p:nvSpPr>
        <p:spPr>
          <a:xfrm>
            <a:off x="8421624" y="1856232"/>
            <a:ext cx="502920" cy="502920"/>
          </a:xfrm>
          <a:prstGeom prst="ellipse">
            <a:avLst/>
          </a:prstGeom>
          <a:solidFill>
            <a:srgbClr val="0A1D3A"/>
          </a:solidFill>
          <a:ln/>
        </p:spPr>
      </p:sp>
      <p:pic>
        <p:nvPicPr>
          <p:cNvPr id="19" name="Image 2" descr="preencoded.png">    </p:cNvPr>
          <p:cNvPicPr>
            <a:picLocks noChangeAspect="1"/>
          </p:cNvPicPr>
          <p:nvPr/>
        </p:nvPicPr>
        <p:blipFill>
          <a:blip r:embed="rId3"/>
          <a:stretch>
            <a:fillRect/>
          </a:stretch>
        </p:blipFill>
        <p:spPr>
          <a:xfrm>
            <a:off x="8487004" y="1921612"/>
            <a:ext cx="372161" cy="372161"/>
          </a:xfrm>
          <a:prstGeom prst="rect">
            <a:avLst/>
          </a:prstGeom>
        </p:spPr>
      </p:pic>
      <p:sp>
        <p:nvSpPr>
          <p:cNvPr id="20" name="Text 15"/>
          <p:cNvSpPr/>
          <p:nvPr/>
        </p:nvSpPr>
        <p:spPr>
          <a:xfrm>
            <a:off x="9061704" y="1837944"/>
            <a:ext cx="2514600" cy="54864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Key Components</a:t>
            </a:r>
            <a:endParaRPr lang="en-US" sz="1550" dirty="0"/>
          </a:p>
        </p:txBody>
      </p:sp>
      <p:sp>
        <p:nvSpPr>
          <p:cNvPr id="21" name="Text 16"/>
          <p:cNvSpPr/>
          <p:nvPr/>
        </p:nvSpPr>
        <p:spPr>
          <a:xfrm>
            <a:off x="8467344" y="2697480"/>
            <a:ext cx="2971800" cy="306324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Hardware</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Software</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Networking</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Data</a:t>
            </a:r>
            <a:endParaRPr lang="en-US" sz="1300" dirty="0"/>
          </a:p>
          <a:p>
            <a:pPr marL="342900" indent="-342900">
              <a:spcAft>
                <a:spcPts val="1000"/>
              </a:spcAft>
              <a:buSzPct val="100000"/>
              <a:buChar char="•"/>
            </a:pPr>
            <a:r>
              <a:rPr lang="en-US" sz="1300" dirty="0">
                <a:solidFill>
                  <a:srgbClr val="1E293B"/>
                </a:solidFill>
                <a:latin typeface="Calibri" pitchFamily="34" charset="0"/>
                <a:ea typeface="Calibri" pitchFamily="34" charset="-122"/>
                <a:cs typeface="Calibri" pitchFamily="34" charset="-120"/>
              </a:rPr>
              <a:t>People</a:t>
            </a:r>
            <a:endParaRPr lang="en-US" sz="1300" dirty="0"/>
          </a:p>
        </p:txBody>
      </p:sp>
      <p:sp>
        <p:nvSpPr>
          <p:cNvPr id="22" name="Text 1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3"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1 · INTRODUCTION TO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Advantages of Learning ICT Skills</a:t>
            </a:r>
            <a:endParaRPr lang="en-US" sz="3200" dirty="0"/>
          </a:p>
        </p:txBody>
      </p:sp>
      <p:sp>
        <p:nvSpPr>
          <p:cNvPr id="4" name="Shape 2"/>
          <p:cNvSpPr/>
          <p:nvPr/>
        </p:nvSpPr>
        <p:spPr>
          <a:xfrm>
            <a:off x="640080" y="169164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914400" y="2148840"/>
            <a:ext cx="914400" cy="91440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033272" y="2267712"/>
            <a:ext cx="676656" cy="676656"/>
          </a:xfrm>
          <a:prstGeom prst="rect">
            <a:avLst/>
          </a:prstGeom>
        </p:spPr>
      </p:pic>
      <p:sp>
        <p:nvSpPr>
          <p:cNvPr id="7" name="Text 4"/>
          <p:cNvSpPr/>
          <p:nvPr/>
        </p:nvSpPr>
        <p:spPr>
          <a:xfrm>
            <a:off x="2011680" y="1947672"/>
            <a:ext cx="3703320" cy="41148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Enhanced Creativity</a:t>
            </a:r>
            <a:endParaRPr lang="en-US" sz="1500" dirty="0"/>
          </a:p>
        </p:txBody>
      </p:sp>
      <p:sp>
        <p:nvSpPr>
          <p:cNvPr id="8" name="Text 5"/>
          <p:cNvSpPr/>
          <p:nvPr/>
        </p:nvSpPr>
        <p:spPr>
          <a:xfrm>
            <a:off x="2011680" y="2377440"/>
            <a:ext cx="3703320" cy="10972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Graphic design software and music production apps let us express ourselves in new, exciting ways.</a:t>
            </a:r>
            <a:endParaRPr lang="en-US" sz="1200" dirty="0"/>
          </a:p>
        </p:txBody>
      </p:sp>
      <p:sp>
        <p:nvSpPr>
          <p:cNvPr id="9" name="Shape 6"/>
          <p:cNvSpPr/>
          <p:nvPr/>
        </p:nvSpPr>
        <p:spPr>
          <a:xfrm>
            <a:off x="6309360" y="169164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10" name="Shape 7"/>
          <p:cNvSpPr/>
          <p:nvPr/>
        </p:nvSpPr>
        <p:spPr>
          <a:xfrm>
            <a:off x="6583680" y="2148840"/>
            <a:ext cx="914400" cy="91440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6702552" y="2267712"/>
            <a:ext cx="676656" cy="676656"/>
          </a:xfrm>
          <a:prstGeom prst="rect">
            <a:avLst/>
          </a:prstGeom>
        </p:spPr>
      </p:pic>
      <p:sp>
        <p:nvSpPr>
          <p:cNvPr id="12" name="Text 8"/>
          <p:cNvSpPr/>
          <p:nvPr/>
        </p:nvSpPr>
        <p:spPr>
          <a:xfrm>
            <a:off x="7680960" y="1947672"/>
            <a:ext cx="3703320" cy="41148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Better Career Opportunities</a:t>
            </a:r>
            <a:endParaRPr lang="en-US" sz="1500" dirty="0"/>
          </a:p>
        </p:txBody>
      </p:sp>
      <p:sp>
        <p:nvSpPr>
          <p:cNvPr id="13" name="Text 9"/>
          <p:cNvSpPr/>
          <p:nvPr/>
        </p:nvSpPr>
        <p:spPr>
          <a:xfrm>
            <a:off x="7680960" y="2377440"/>
            <a:ext cx="3703320" cy="10972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Many jobs today require ICT skills, opening doors to a wider range of career paths.</a:t>
            </a:r>
            <a:endParaRPr lang="en-US" sz="1200" dirty="0"/>
          </a:p>
        </p:txBody>
      </p:sp>
      <p:sp>
        <p:nvSpPr>
          <p:cNvPr id="14" name="Shape 10"/>
          <p:cNvSpPr/>
          <p:nvPr/>
        </p:nvSpPr>
        <p:spPr>
          <a:xfrm>
            <a:off x="640080" y="384048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15" name="Shape 11"/>
          <p:cNvSpPr/>
          <p:nvPr/>
        </p:nvSpPr>
        <p:spPr>
          <a:xfrm>
            <a:off x="914400" y="4297680"/>
            <a:ext cx="914400" cy="91440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1033272" y="4416552"/>
            <a:ext cx="676656" cy="676656"/>
          </a:xfrm>
          <a:prstGeom prst="rect">
            <a:avLst/>
          </a:prstGeom>
        </p:spPr>
      </p:pic>
      <p:sp>
        <p:nvSpPr>
          <p:cNvPr id="17" name="Text 12"/>
          <p:cNvSpPr/>
          <p:nvPr/>
        </p:nvSpPr>
        <p:spPr>
          <a:xfrm>
            <a:off x="2011680" y="4096512"/>
            <a:ext cx="3703320" cy="41148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Lifelong Learning</a:t>
            </a:r>
            <a:endParaRPr lang="en-US" sz="1500" dirty="0"/>
          </a:p>
        </p:txBody>
      </p:sp>
      <p:sp>
        <p:nvSpPr>
          <p:cNvPr id="18" name="Text 13"/>
          <p:cNvSpPr/>
          <p:nvPr/>
        </p:nvSpPr>
        <p:spPr>
          <a:xfrm>
            <a:off x="2011680" y="4526280"/>
            <a:ext cx="3703320" cy="10972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Online resources and educational platforms make learning possible anytime, anywhere.</a:t>
            </a:r>
            <a:endParaRPr lang="en-US" sz="1200" dirty="0"/>
          </a:p>
        </p:txBody>
      </p:sp>
      <p:sp>
        <p:nvSpPr>
          <p:cNvPr id="19" name="Shape 14"/>
          <p:cNvSpPr/>
          <p:nvPr/>
        </p:nvSpPr>
        <p:spPr>
          <a:xfrm>
            <a:off x="6309360" y="384048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20" name="Shape 15"/>
          <p:cNvSpPr/>
          <p:nvPr/>
        </p:nvSpPr>
        <p:spPr>
          <a:xfrm>
            <a:off x="6583680" y="4297680"/>
            <a:ext cx="914400" cy="914400"/>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6702552" y="4416552"/>
            <a:ext cx="676656" cy="676656"/>
          </a:xfrm>
          <a:prstGeom prst="rect">
            <a:avLst/>
          </a:prstGeom>
        </p:spPr>
      </p:pic>
      <p:sp>
        <p:nvSpPr>
          <p:cNvPr id="22" name="Text 16"/>
          <p:cNvSpPr/>
          <p:nvPr/>
        </p:nvSpPr>
        <p:spPr>
          <a:xfrm>
            <a:off x="7680960" y="4096512"/>
            <a:ext cx="3703320" cy="41148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Improved Communication</a:t>
            </a:r>
            <a:endParaRPr lang="en-US" sz="1500" dirty="0"/>
          </a:p>
        </p:txBody>
      </p:sp>
      <p:sp>
        <p:nvSpPr>
          <p:cNvPr id="23" name="Text 17"/>
          <p:cNvSpPr/>
          <p:nvPr/>
        </p:nvSpPr>
        <p:spPr>
          <a:xfrm>
            <a:off x="7680960" y="4526280"/>
            <a:ext cx="3703320" cy="10972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ICT makes it easy to stay in touch with people near and far, fostering collaboration.</a:t>
            </a:r>
            <a:endParaRPr lang="en-US" sz="120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1 · INTRODUCTION TO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Information Technology (IT)</a:t>
            </a:r>
            <a:endParaRPr lang="en-US" sz="3200" dirty="0"/>
          </a:p>
        </p:txBody>
      </p:sp>
      <p:sp>
        <p:nvSpPr>
          <p:cNvPr id="4" name="Shape 2"/>
          <p:cNvSpPr/>
          <p:nvPr/>
        </p:nvSpPr>
        <p:spPr>
          <a:xfrm>
            <a:off x="640080" y="1600200"/>
            <a:ext cx="10881360" cy="1051560"/>
          </a:xfrm>
          <a:prstGeom prst="roundRect">
            <a:avLst>
              <a:gd name="adj" fmla="val 6957"/>
            </a:avLst>
          </a:prstGeom>
          <a:solidFill>
            <a:srgbClr val="13315C"/>
          </a:solidFill>
          <a:ln/>
        </p:spPr>
      </p:sp>
      <p:sp>
        <p:nvSpPr>
          <p:cNvPr id="5" name="Text 3"/>
          <p:cNvSpPr/>
          <p:nvPr/>
        </p:nvSpPr>
        <p:spPr>
          <a:xfrm>
            <a:off x="914400" y="1783080"/>
            <a:ext cx="10332720" cy="731520"/>
          </a:xfrm>
          <a:prstGeom prst="rect">
            <a:avLst/>
          </a:prstGeom>
          <a:noFill/>
          <a:ln/>
        </p:spPr>
        <p:txBody>
          <a:bodyPr wrap="square" lIns="0" tIns="0" rIns="0" bIns="0" rtlCol="0" anchor="ctr"/>
          <a:lstStyle/>
          <a:p>
            <a:pPr indent="0" marL="0">
              <a:lnSpc>
                <a:spcPct val="120000"/>
              </a:lnSpc>
              <a:buNone/>
            </a:pPr>
            <a:r>
              <a:rPr lang="en-US" sz="1500" b="1" dirty="0">
                <a:solidFill>
                  <a:srgbClr val="0E7C86"/>
                </a:solidFill>
                <a:latin typeface="Calibri" pitchFamily="34" charset="0"/>
                <a:ea typeface="Calibri" pitchFamily="34" charset="-122"/>
                <a:cs typeface="Calibri" pitchFamily="34" charset="-120"/>
              </a:rPr>
              <a:t>IT is the subset of ICT </a:t>
            </a:r>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that involves the use of computers, networks and software to process, transmit and retrieve information.</a:t>
            </a:r>
            <a:endParaRPr lang="en-US" sz="1500" dirty="0"/>
          </a:p>
        </p:txBody>
      </p:sp>
      <p:sp>
        <p:nvSpPr>
          <p:cNvPr id="6" name="Text 4"/>
          <p:cNvSpPr/>
          <p:nvPr/>
        </p:nvSpPr>
        <p:spPr>
          <a:xfrm>
            <a:off x="640080" y="2880360"/>
            <a:ext cx="5486400" cy="320040"/>
          </a:xfrm>
          <a:prstGeom prst="rect">
            <a:avLst/>
          </a:prstGeom>
          <a:noFill/>
          <a:ln/>
        </p:spPr>
        <p:txBody>
          <a:bodyPr wrap="square" lIns="0" tIns="0" rIns="0" bIns="0" rtlCol="0" anchor="ctr"/>
          <a:lstStyle/>
          <a:p>
            <a:pPr indent="0" marL="0">
              <a:buNone/>
            </a:pPr>
            <a:r>
              <a:rPr lang="en-US" sz="1250" b="1" spc="200" kern="0" dirty="0">
                <a:solidFill>
                  <a:srgbClr val="CADCFC"/>
                </a:solidFill>
                <a:latin typeface="Calibri" pitchFamily="34" charset="0"/>
                <a:ea typeface="Calibri" pitchFamily="34" charset="-122"/>
                <a:cs typeface="Calibri" pitchFamily="34" charset="-120"/>
              </a:rPr>
              <a:t>KEY FEATURES OF IT</a:t>
            </a:r>
            <a:endParaRPr lang="en-US" sz="1250" dirty="0"/>
          </a:p>
        </p:txBody>
      </p:sp>
      <p:sp>
        <p:nvSpPr>
          <p:cNvPr id="7" name="Shape 5"/>
          <p:cNvSpPr/>
          <p:nvPr/>
        </p:nvSpPr>
        <p:spPr>
          <a:xfrm>
            <a:off x="640080" y="3291840"/>
            <a:ext cx="2615184" cy="2606040"/>
          </a:xfrm>
          <a:prstGeom prst="roundRect">
            <a:avLst>
              <a:gd name="adj" fmla="val 2807"/>
            </a:avLst>
          </a:prstGeom>
          <a:solidFill>
            <a:srgbClr val="FFFFFF"/>
          </a:solidFill>
          <a:ln/>
          <a:effectLst>
            <a:outerShdw sx="100000" sy="100000" kx="0" ky="0" algn="bl" rotWithShape="0" blurRad="101600" dist="38100" dir="2700000">
              <a:srgbClr val="0B2545">
                <a:alpha val="15000"/>
              </a:srgbClr>
            </a:outerShdw>
          </a:effectLst>
        </p:spPr>
      </p:sp>
      <p:sp>
        <p:nvSpPr>
          <p:cNvPr id="8" name="Shape 6"/>
          <p:cNvSpPr/>
          <p:nvPr/>
        </p:nvSpPr>
        <p:spPr>
          <a:xfrm>
            <a:off x="1536192" y="3566160"/>
            <a:ext cx="822960" cy="822960"/>
          </a:xfrm>
          <a:prstGeom prst="ellipse">
            <a:avLst/>
          </a:prstGeom>
          <a:solidFill>
            <a:srgbClr val="0E7C86"/>
          </a:solidFill>
          <a:ln/>
        </p:spPr>
      </p:sp>
      <p:pic>
        <p:nvPicPr>
          <p:cNvPr id="9" name="Image 0" descr="preencoded.png">    </p:cNvPr>
          <p:cNvPicPr>
            <a:picLocks noChangeAspect="1"/>
          </p:cNvPicPr>
          <p:nvPr/>
        </p:nvPicPr>
        <p:blipFill>
          <a:blip r:embed="rId1"/>
          <a:stretch>
            <a:fillRect/>
          </a:stretch>
        </p:blipFill>
        <p:spPr>
          <a:xfrm>
            <a:off x="1643177" y="3673145"/>
            <a:ext cx="608990" cy="608990"/>
          </a:xfrm>
          <a:prstGeom prst="rect">
            <a:avLst/>
          </a:prstGeom>
        </p:spPr>
      </p:pic>
      <p:sp>
        <p:nvSpPr>
          <p:cNvPr id="10" name="Text 7"/>
          <p:cNvSpPr/>
          <p:nvPr/>
        </p:nvSpPr>
        <p:spPr>
          <a:xfrm>
            <a:off x="822960" y="4526280"/>
            <a:ext cx="2249424"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mbria" pitchFamily="34" charset="0"/>
                <a:ea typeface="Cambria" pitchFamily="34" charset="-122"/>
                <a:cs typeface="Cambria" pitchFamily="34" charset="-120"/>
              </a:rPr>
              <a:t>Hardware</a:t>
            </a:r>
            <a:endParaRPr lang="en-US" sz="1500" dirty="0"/>
          </a:p>
        </p:txBody>
      </p:sp>
      <p:sp>
        <p:nvSpPr>
          <p:cNvPr id="11" name="Text 8"/>
          <p:cNvSpPr/>
          <p:nvPr/>
        </p:nvSpPr>
        <p:spPr>
          <a:xfrm>
            <a:off x="841248" y="4919472"/>
            <a:ext cx="2212848" cy="868680"/>
          </a:xfrm>
          <a:prstGeom prst="rect">
            <a:avLst/>
          </a:prstGeom>
          <a:noFill/>
          <a:ln/>
        </p:spPr>
        <p:txBody>
          <a:bodyPr wrap="square" lIns="0" tIns="0" rIns="0" bIns="0" rtlCol="0" anchor="ctr"/>
          <a:lstStyle/>
          <a:p>
            <a:pPr algn="ctr" indent="0" marL="0">
              <a:lnSpc>
                <a:spcPct val="110000"/>
              </a:lnSpc>
              <a:buNone/>
            </a:pPr>
            <a:r>
              <a:rPr lang="en-US" sz="1100" dirty="0">
                <a:solidFill>
                  <a:srgbClr val="5B6B7C"/>
                </a:solidFill>
                <a:latin typeface="Calibri" pitchFamily="34" charset="0"/>
                <a:ea typeface="Calibri" pitchFamily="34" charset="-122"/>
                <a:cs typeface="Calibri" pitchFamily="34" charset="-120"/>
              </a:rPr>
              <a:t>Computers, servers, networking devices &amp; other physical equipment.</a:t>
            </a:r>
            <a:endParaRPr lang="en-US" sz="1100" dirty="0"/>
          </a:p>
        </p:txBody>
      </p:sp>
      <p:sp>
        <p:nvSpPr>
          <p:cNvPr id="12" name="Shape 9"/>
          <p:cNvSpPr/>
          <p:nvPr/>
        </p:nvSpPr>
        <p:spPr>
          <a:xfrm>
            <a:off x="3474720" y="3291840"/>
            <a:ext cx="2615184" cy="2606040"/>
          </a:xfrm>
          <a:prstGeom prst="roundRect">
            <a:avLst>
              <a:gd name="adj" fmla="val 2807"/>
            </a:avLst>
          </a:prstGeom>
          <a:solidFill>
            <a:srgbClr val="FFFFFF"/>
          </a:solidFill>
          <a:ln/>
          <a:effectLst>
            <a:outerShdw sx="100000" sy="100000" kx="0" ky="0" algn="bl" rotWithShape="0" blurRad="101600" dist="38100" dir="2700000">
              <a:srgbClr val="0B2545">
                <a:alpha val="15000"/>
              </a:srgbClr>
            </a:outerShdw>
          </a:effectLst>
        </p:spPr>
      </p:sp>
      <p:sp>
        <p:nvSpPr>
          <p:cNvPr id="13" name="Shape 10"/>
          <p:cNvSpPr/>
          <p:nvPr/>
        </p:nvSpPr>
        <p:spPr>
          <a:xfrm>
            <a:off x="4370832" y="3566160"/>
            <a:ext cx="822960" cy="822960"/>
          </a:xfrm>
          <a:prstGeom prst="ellipse">
            <a:avLst/>
          </a:prstGeom>
          <a:solidFill>
            <a:srgbClr val="0E7C86"/>
          </a:solidFill>
          <a:ln/>
        </p:spPr>
      </p:sp>
      <p:pic>
        <p:nvPicPr>
          <p:cNvPr id="14" name="Image 1" descr="preencoded.png">    </p:cNvPr>
          <p:cNvPicPr>
            <a:picLocks noChangeAspect="1"/>
          </p:cNvPicPr>
          <p:nvPr/>
        </p:nvPicPr>
        <p:blipFill>
          <a:blip r:embed="rId2"/>
          <a:stretch>
            <a:fillRect/>
          </a:stretch>
        </p:blipFill>
        <p:spPr>
          <a:xfrm>
            <a:off x="4477817" y="3673145"/>
            <a:ext cx="608990" cy="608990"/>
          </a:xfrm>
          <a:prstGeom prst="rect">
            <a:avLst/>
          </a:prstGeom>
        </p:spPr>
      </p:pic>
      <p:sp>
        <p:nvSpPr>
          <p:cNvPr id="15" name="Text 11"/>
          <p:cNvSpPr/>
          <p:nvPr/>
        </p:nvSpPr>
        <p:spPr>
          <a:xfrm>
            <a:off x="3657600" y="4526280"/>
            <a:ext cx="2249424"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mbria" pitchFamily="34" charset="0"/>
                <a:ea typeface="Cambria" pitchFamily="34" charset="-122"/>
                <a:cs typeface="Cambria" pitchFamily="34" charset="-120"/>
              </a:rPr>
              <a:t>Software</a:t>
            </a:r>
            <a:endParaRPr lang="en-US" sz="1500" dirty="0"/>
          </a:p>
        </p:txBody>
      </p:sp>
      <p:sp>
        <p:nvSpPr>
          <p:cNvPr id="16" name="Text 12"/>
          <p:cNvSpPr/>
          <p:nvPr/>
        </p:nvSpPr>
        <p:spPr>
          <a:xfrm>
            <a:off x="3675888" y="4919472"/>
            <a:ext cx="2212848" cy="868680"/>
          </a:xfrm>
          <a:prstGeom prst="rect">
            <a:avLst/>
          </a:prstGeom>
          <a:noFill/>
          <a:ln/>
        </p:spPr>
        <p:txBody>
          <a:bodyPr wrap="square" lIns="0" tIns="0" rIns="0" bIns="0" rtlCol="0" anchor="ctr"/>
          <a:lstStyle/>
          <a:p>
            <a:pPr algn="ctr" indent="0" marL="0">
              <a:lnSpc>
                <a:spcPct val="110000"/>
              </a:lnSpc>
              <a:buNone/>
            </a:pPr>
            <a:r>
              <a:rPr lang="en-US" sz="1100" dirty="0">
                <a:solidFill>
                  <a:srgbClr val="5B6B7C"/>
                </a:solidFill>
                <a:latin typeface="Calibri" pitchFamily="34" charset="0"/>
                <a:ea typeface="Calibri" pitchFamily="34" charset="-122"/>
                <a:cs typeface="Calibri" pitchFamily="34" charset="-120"/>
              </a:rPr>
              <a:t>Applications, operating systems &amp; programming languages.</a:t>
            </a:r>
            <a:endParaRPr lang="en-US" sz="1100" dirty="0"/>
          </a:p>
        </p:txBody>
      </p:sp>
      <p:sp>
        <p:nvSpPr>
          <p:cNvPr id="17" name="Shape 13"/>
          <p:cNvSpPr/>
          <p:nvPr/>
        </p:nvSpPr>
        <p:spPr>
          <a:xfrm>
            <a:off x="6309360" y="3291840"/>
            <a:ext cx="2615184" cy="2606040"/>
          </a:xfrm>
          <a:prstGeom prst="roundRect">
            <a:avLst>
              <a:gd name="adj" fmla="val 2807"/>
            </a:avLst>
          </a:prstGeom>
          <a:solidFill>
            <a:srgbClr val="FFFFFF"/>
          </a:solidFill>
          <a:ln/>
          <a:effectLst>
            <a:outerShdw sx="100000" sy="100000" kx="0" ky="0" algn="bl" rotWithShape="0" blurRad="101600" dist="38100" dir="2700000">
              <a:srgbClr val="0B2545">
                <a:alpha val="15000"/>
              </a:srgbClr>
            </a:outerShdw>
          </a:effectLst>
        </p:spPr>
      </p:sp>
      <p:sp>
        <p:nvSpPr>
          <p:cNvPr id="18" name="Shape 14"/>
          <p:cNvSpPr/>
          <p:nvPr/>
        </p:nvSpPr>
        <p:spPr>
          <a:xfrm>
            <a:off x="7205472" y="3566160"/>
            <a:ext cx="822960" cy="822960"/>
          </a:xfrm>
          <a:prstGeom prst="ellipse">
            <a:avLst/>
          </a:prstGeom>
          <a:solidFill>
            <a:srgbClr val="0E7C86"/>
          </a:solidFill>
          <a:ln/>
        </p:spPr>
      </p:sp>
      <p:pic>
        <p:nvPicPr>
          <p:cNvPr id="19" name="Image 2" descr="preencoded.png">    </p:cNvPr>
          <p:cNvPicPr>
            <a:picLocks noChangeAspect="1"/>
          </p:cNvPicPr>
          <p:nvPr/>
        </p:nvPicPr>
        <p:blipFill>
          <a:blip r:embed="rId3"/>
          <a:stretch>
            <a:fillRect/>
          </a:stretch>
        </p:blipFill>
        <p:spPr>
          <a:xfrm>
            <a:off x="7312457" y="3673145"/>
            <a:ext cx="608990" cy="608990"/>
          </a:xfrm>
          <a:prstGeom prst="rect">
            <a:avLst/>
          </a:prstGeom>
        </p:spPr>
      </p:pic>
      <p:sp>
        <p:nvSpPr>
          <p:cNvPr id="20" name="Text 15"/>
          <p:cNvSpPr/>
          <p:nvPr/>
        </p:nvSpPr>
        <p:spPr>
          <a:xfrm>
            <a:off x="6492240" y="4526280"/>
            <a:ext cx="2249424"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mbria" pitchFamily="34" charset="0"/>
                <a:ea typeface="Cambria" pitchFamily="34" charset="-122"/>
                <a:cs typeface="Cambria" pitchFamily="34" charset="-120"/>
              </a:rPr>
              <a:t>Networks</a:t>
            </a:r>
            <a:endParaRPr lang="en-US" sz="1500" dirty="0"/>
          </a:p>
        </p:txBody>
      </p:sp>
      <p:sp>
        <p:nvSpPr>
          <p:cNvPr id="21" name="Text 16"/>
          <p:cNvSpPr/>
          <p:nvPr/>
        </p:nvSpPr>
        <p:spPr>
          <a:xfrm>
            <a:off x="6510528" y="4919472"/>
            <a:ext cx="2212848" cy="868680"/>
          </a:xfrm>
          <a:prstGeom prst="rect">
            <a:avLst/>
          </a:prstGeom>
          <a:noFill/>
          <a:ln/>
        </p:spPr>
        <p:txBody>
          <a:bodyPr wrap="square" lIns="0" tIns="0" rIns="0" bIns="0" rtlCol="0" anchor="ctr"/>
          <a:lstStyle/>
          <a:p>
            <a:pPr algn="ctr" indent="0" marL="0">
              <a:lnSpc>
                <a:spcPct val="110000"/>
              </a:lnSpc>
              <a:buNone/>
            </a:pPr>
            <a:r>
              <a:rPr lang="en-US" sz="1100" dirty="0">
                <a:solidFill>
                  <a:srgbClr val="5B6B7C"/>
                </a:solidFill>
                <a:latin typeface="Calibri" pitchFamily="34" charset="0"/>
                <a:ea typeface="Calibri" pitchFamily="34" charset="-122"/>
                <a:cs typeface="Calibri" pitchFamily="34" charset="-120"/>
              </a:rPr>
              <a:t>Infrastructure connecting and enabling communication between devices.</a:t>
            </a:r>
            <a:endParaRPr lang="en-US" sz="1100" dirty="0"/>
          </a:p>
        </p:txBody>
      </p:sp>
      <p:sp>
        <p:nvSpPr>
          <p:cNvPr id="22" name="Shape 17"/>
          <p:cNvSpPr/>
          <p:nvPr/>
        </p:nvSpPr>
        <p:spPr>
          <a:xfrm>
            <a:off x="9144000" y="3291840"/>
            <a:ext cx="2615184" cy="2606040"/>
          </a:xfrm>
          <a:prstGeom prst="roundRect">
            <a:avLst>
              <a:gd name="adj" fmla="val 2807"/>
            </a:avLst>
          </a:prstGeom>
          <a:solidFill>
            <a:srgbClr val="FFFFFF"/>
          </a:solidFill>
          <a:ln/>
          <a:effectLst>
            <a:outerShdw sx="100000" sy="100000" kx="0" ky="0" algn="bl" rotWithShape="0" blurRad="101600" dist="38100" dir="2700000">
              <a:srgbClr val="0B2545">
                <a:alpha val="15000"/>
              </a:srgbClr>
            </a:outerShdw>
          </a:effectLst>
        </p:spPr>
      </p:sp>
      <p:sp>
        <p:nvSpPr>
          <p:cNvPr id="23" name="Shape 18"/>
          <p:cNvSpPr/>
          <p:nvPr/>
        </p:nvSpPr>
        <p:spPr>
          <a:xfrm>
            <a:off x="10040112" y="3566160"/>
            <a:ext cx="822960" cy="822960"/>
          </a:xfrm>
          <a:prstGeom prst="ellipse">
            <a:avLst/>
          </a:prstGeom>
          <a:solidFill>
            <a:srgbClr val="0E7C86"/>
          </a:solidFill>
          <a:ln/>
        </p:spPr>
      </p:sp>
      <p:pic>
        <p:nvPicPr>
          <p:cNvPr id="24" name="Image 3" descr="preencoded.png">    </p:cNvPr>
          <p:cNvPicPr>
            <a:picLocks noChangeAspect="1"/>
          </p:cNvPicPr>
          <p:nvPr/>
        </p:nvPicPr>
        <p:blipFill>
          <a:blip r:embed="rId4"/>
          <a:stretch>
            <a:fillRect/>
          </a:stretch>
        </p:blipFill>
        <p:spPr>
          <a:xfrm>
            <a:off x="10147097" y="3673145"/>
            <a:ext cx="608990" cy="608990"/>
          </a:xfrm>
          <a:prstGeom prst="rect">
            <a:avLst/>
          </a:prstGeom>
        </p:spPr>
      </p:pic>
      <p:sp>
        <p:nvSpPr>
          <p:cNvPr id="25" name="Text 19"/>
          <p:cNvSpPr/>
          <p:nvPr/>
        </p:nvSpPr>
        <p:spPr>
          <a:xfrm>
            <a:off x="9326880" y="4526280"/>
            <a:ext cx="2249424" cy="365760"/>
          </a:xfrm>
          <a:prstGeom prst="rect">
            <a:avLst/>
          </a:prstGeom>
          <a:noFill/>
          <a:ln/>
        </p:spPr>
        <p:txBody>
          <a:bodyPr wrap="square" lIns="0" tIns="0" rIns="0" bIns="0" rtlCol="0" anchor="ctr"/>
          <a:lstStyle/>
          <a:p>
            <a:pPr algn="ctr" indent="0" marL="0">
              <a:buNone/>
            </a:pPr>
            <a:r>
              <a:rPr lang="en-US" sz="1500" b="1" dirty="0">
                <a:solidFill>
                  <a:srgbClr val="0B2545"/>
                </a:solidFill>
                <a:latin typeface="Cambria" pitchFamily="34" charset="0"/>
                <a:ea typeface="Cambria" pitchFamily="34" charset="-122"/>
                <a:cs typeface="Cambria" pitchFamily="34" charset="-120"/>
              </a:rPr>
              <a:t>Databases</a:t>
            </a:r>
            <a:endParaRPr lang="en-US" sz="1500" dirty="0"/>
          </a:p>
        </p:txBody>
      </p:sp>
      <p:sp>
        <p:nvSpPr>
          <p:cNvPr id="26" name="Text 20"/>
          <p:cNvSpPr/>
          <p:nvPr/>
        </p:nvSpPr>
        <p:spPr>
          <a:xfrm>
            <a:off x="9345168" y="4919472"/>
            <a:ext cx="2212848" cy="868680"/>
          </a:xfrm>
          <a:prstGeom prst="rect">
            <a:avLst/>
          </a:prstGeom>
          <a:noFill/>
          <a:ln/>
        </p:spPr>
        <p:txBody>
          <a:bodyPr wrap="square" lIns="0" tIns="0" rIns="0" bIns="0" rtlCol="0" anchor="ctr"/>
          <a:lstStyle/>
          <a:p>
            <a:pPr algn="ctr" indent="0" marL="0">
              <a:lnSpc>
                <a:spcPct val="110000"/>
              </a:lnSpc>
              <a:buNone/>
            </a:pPr>
            <a:r>
              <a:rPr lang="en-US" sz="1100" dirty="0">
                <a:solidFill>
                  <a:srgbClr val="5B6B7C"/>
                </a:solidFill>
                <a:latin typeface="Calibri" pitchFamily="34" charset="0"/>
                <a:ea typeface="Calibri" pitchFamily="34" charset="-122"/>
                <a:cs typeface="Calibri" pitchFamily="34" charset="-120"/>
              </a:rPr>
              <a:t>Storage systems for organizing and retrieving data efficiently.</a:t>
            </a:r>
            <a:endParaRPr lang="en-US" sz="1100" dirty="0"/>
          </a:p>
        </p:txBody>
      </p:sp>
      <p:sp>
        <p:nvSpPr>
          <p:cNvPr id="27" name="Text 2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8" name="Text 2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1 · INTRODUCTION TO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Basic IT Skills</a:t>
            </a:r>
            <a:endParaRPr lang="en-US" sz="3200" dirty="0"/>
          </a:p>
        </p:txBody>
      </p:sp>
      <p:sp>
        <p:nvSpPr>
          <p:cNvPr id="4" name="Shape 2"/>
          <p:cNvSpPr/>
          <p:nvPr/>
        </p:nvSpPr>
        <p:spPr>
          <a:xfrm>
            <a:off x="640080" y="1691640"/>
            <a:ext cx="10881360" cy="932688"/>
          </a:xfrm>
          <a:prstGeom prst="roundRect">
            <a:avLst>
              <a:gd name="adj" fmla="val 6863"/>
            </a:avLst>
          </a:prstGeom>
          <a:solidFill>
            <a:srgbClr val="E6F4F3"/>
          </a:solidFill>
          <a:ln/>
        </p:spPr>
      </p:sp>
      <p:sp>
        <p:nvSpPr>
          <p:cNvPr id="5" name="Shape 3"/>
          <p:cNvSpPr/>
          <p:nvPr/>
        </p:nvSpPr>
        <p:spPr>
          <a:xfrm>
            <a:off x="841248" y="1828800"/>
            <a:ext cx="658368" cy="658368"/>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26836" y="1914388"/>
            <a:ext cx="487192" cy="487192"/>
          </a:xfrm>
          <a:prstGeom prst="rect">
            <a:avLst/>
          </a:prstGeom>
        </p:spPr>
      </p:pic>
      <p:sp>
        <p:nvSpPr>
          <p:cNvPr id="7" name="Text 4"/>
          <p:cNvSpPr/>
          <p:nvPr/>
        </p:nvSpPr>
        <p:spPr>
          <a:xfrm>
            <a:off x="1691640" y="1764792"/>
            <a:ext cx="3291840" cy="77724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Computer Operations</a:t>
            </a:r>
            <a:endParaRPr lang="en-US" sz="1450" dirty="0"/>
          </a:p>
        </p:txBody>
      </p:sp>
      <p:sp>
        <p:nvSpPr>
          <p:cNvPr id="8" name="Text 5"/>
          <p:cNvSpPr/>
          <p:nvPr/>
        </p:nvSpPr>
        <p:spPr>
          <a:xfrm>
            <a:off x="5120640" y="1764792"/>
            <a:ext cx="6172200" cy="777240"/>
          </a:xfrm>
          <a:prstGeom prst="rect">
            <a:avLst/>
          </a:prstGeom>
          <a:noFill/>
          <a:ln/>
        </p:spPr>
        <p:txBody>
          <a:bodyPr wrap="square" lIns="0" tIns="0" rIns="0" bIns="0" rtlCol="0" anchor="ctr"/>
          <a:lstStyle/>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Turning devices on/off, using peripherals, and managing files &amp; folders.</a:t>
            </a:r>
            <a:endParaRPr lang="en-US" sz="1250" dirty="0"/>
          </a:p>
        </p:txBody>
      </p:sp>
      <p:sp>
        <p:nvSpPr>
          <p:cNvPr id="9" name="Shape 6"/>
          <p:cNvSpPr/>
          <p:nvPr/>
        </p:nvSpPr>
        <p:spPr>
          <a:xfrm>
            <a:off x="640080" y="2788920"/>
            <a:ext cx="10881360" cy="932688"/>
          </a:xfrm>
          <a:prstGeom prst="roundRect">
            <a:avLst>
              <a:gd name="adj" fmla="val 6863"/>
            </a:avLst>
          </a:prstGeom>
          <a:solidFill>
            <a:srgbClr val="E6F4F3"/>
          </a:solidFill>
          <a:ln/>
        </p:spPr>
      </p:sp>
      <p:sp>
        <p:nvSpPr>
          <p:cNvPr id="10" name="Shape 7"/>
          <p:cNvSpPr/>
          <p:nvPr/>
        </p:nvSpPr>
        <p:spPr>
          <a:xfrm>
            <a:off x="841248" y="2926080"/>
            <a:ext cx="658368" cy="658368"/>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926836" y="3011668"/>
            <a:ext cx="487192" cy="487192"/>
          </a:xfrm>
          <a:prstGeom prst="rect">
            <a:avLst/>
          </a:prstGeom>
        </p:spPr>
      </p:pic>
      <p:sp>
        <p:nvSpPr>
          <p:cNvPr id="12" name="Text 8"/>
          <p:cNvSpPr/>
          <p:nvPr/>
        </p:nvSpPr>
        <p:spPr>
          <a:xfrm>
            <a:off x="1691640" y="2862072"/>
            <a:ext cx="3291840" cy="77724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Software Applications</a:t>
            </a:r>
            <a:endParaRPr lang="en-US" sz="1450" dirty="0"/>
          </a:p>
        </p:txBody>
      </p:sp>
      <p:sp>
        <p:nvSpPr>
          <p:cNvPr id="13" name="Text 9"/>
          <p:cNvSpPr/>
          <p:nvPr/>
        </p:nvSpPr>
        <p:spPr>
          <a:xfrm>
            <a:off x="5120640" y="2862072"/>
            <a:ext cx="6172200" cy="777240"/>
          </a:xfrm>
          <a:prstGeom prst="rect">
            <a:avLst/>
          </a:prstGeom>
          <a:noFill/>
          <a:ln/>
        </p:spPr>
        <p:txBody>
          <a:bodyPr wrap="square" lIns="0" tIns="0" rIns="0" bIns="0" rtlCol="0" anchor="ctr"/>
          <a:lstStyle/>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Proficiency in word processors, spreadsheets, and presentation tools.</a:t>
            </a:r>
            <a:endParaRPr lang="en-US" sz="1250" dirty="0"/>
          </a:p>
        </p:txBody>
      </p:sp>
      <p:sp>
        <p:nvSpPr>
          <p:cNvPr id="14" name="Shape 10"/>
          <p:cNvSpPr/>
          <p:nvPr/>
        </p:nvSpPr>
        <p:spPr>
          <a:xfrm>
            <a:off x="640080" y="3886200"/>
            <a:ext cx="10881360" cy="932688"/>
          </a:xfrm>
          <a:prstGeom prst="roundRect">
            <a:avLst>
              <a:gd name="adj" fmla="val 6863"/>
            </a:avLst>
          </a:prstGeom>
          <a:solidFill>
            <a:srgbClr val="E6F4F3"/>
          </a:solidFill>
          <a:ln/>
        </p:spPr>
      </p:sp>
      <p:sp>
        <p:nvSpPr>
          <p:cNvPr id="15" name="Shape 11"/>
          <p:cNvSpPr/>
          <p:nvPr/>
        </p:nvSpPr>
        <p:spPr>
          <a:xfrm>
            <a:off x="841248" y="4023360"/>
            <a:ext cx="658368" cy="658368"/>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926836" y="4108948"/>
            <a:ext cx="487192" cy="487192"/>
          </a:xfrm>
          <a:prstGeom prst="rect">
            <a:avLst/>
          </a:prstGeom>
        </p:spPr>
      </p:pic>
      <p:sp>
        <p:nvSpPr>
          <p:cNvPr id="17" name="Text 12"/>
          <p:cNvSpPr/>
          <p:nvPr/>
        </p:nvSpPr>
        <p:spPr>
          <a:xfrm>
            <a:off x="1691640" y="3959352"/>
            <a:ext cx="3291840" cy="77724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Internet Navigation</a:t>
            </a:r>
            <a:endParaRPr lang="en-US" sz="1450" dirty="0"/>
          </a:p>
        </p:txBody>
      </p:sp>
      <p:sp>
        <p:nvSpPr>
          <p:cNvPr id="18" name="Text 13"/>
          <p:cNvSpPr/>
          <p:nvPr/>
        </p:nvSpPr>
        <p:spPr>
          <a:xfrm>
            <a:off x="5120640" y="3959352"/>
            <a:ext cx="6172200" cy="777240"/>
          </a:xfrm>
          <a:prstGeom prst="rect">
            <a:avLst/>
          </a:prstGeom>
          <a:noFill/>
          <a:ln/>
        </p:spPr>
        <p:txBody>
          <a:bodyPr wrap="square" lIns="0" tIns="0" rIns="0" bIns="0" rtlCol="0" anchor="ctr"/>
          <a:lstStyle/>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Efficient use of web browsers, search engines &amp; online resources.</a:t>
            </a:r>
            <a:endParaRPr lang="en-US" sz="1250" dirty="0"/>
          </a:p>
        </p:txBody>
      </p:sp>
      <p:sp>
        <p:nvSpPr>
          <p:cNvPr id="19" name="Shape 14"/>
          <p:cNvSpPr/>
          <p:nvPr/>
        </p:nvSpPr>
        <p:spPr>
          <a:xfrm>
            <a:off x="640080" y="4983480"/>
            <a:ext cx="10881360" cy="932688"/>
          </a:xfrm>
          <a:prstGeom prst="roundRect">
            <a:avLst>
              <a:gd name="adj" fmla="val 6863"/>
            </a:avLst>
          </a:prstGeom>
          <a:solidFill>
            <a:srgbClr val="E6F4F3"/>
          </a:solidFill>
          <a:ln/>
        </p:spPr>
      </p:sp>
      <p:sp>
        <p:nvSpPr>
          <p:cNvPr id="20" name="Shape 15"/>
          <p:cNvSpPr/>
          <p:nvPr/>
        </p:nvSpPr>
        <p:spPr>
          <a:xfrm>
            <a:off x="841248" y="5120640"/>
            <a:ext cx="658368" cy="658368"/>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926836" y="5206228"/>
            <a:ext cx="487192" cy="487192"/>
          </a:xfrm>
          <a:prstGeom prst="rect">
            <a:avLst/>
          </a:prstGeom>
        </p:spPr>
      </p:pic>
      <p:sp>
        <p:nvSpPr>
          <p:cNvPr id="22" name="Text 16"/>
          <p:cNvSpPr/>
          <p:nvPr/>
        </p:nvSpPr>
        <p:spPr>
          <a:xfrm>
            <a:off x="1691640" y="5056632"/>
            <a:ext cx="3291840" cy="77724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Troubleshooting</a:t>
            </a:r>
            <a:endParaRPr lang="en-US" sz="1450" dirty="0"/>
          </a:p>
        </p:txBody>
      </p:sp>
      <p:sp>
        <p:nvSpPr>
          <p:cNvPr id="23" name="Text 17"/>
          <p:cNvSpPr/>
          <p:nvPr/>
        </p:nvSpPr>
        <p:spPr>
          <a:xfrm>
            <a:off x="5120640" y="5056632"/>
            <a:ext cx="6172200" cy="777240"/>
          </a:xfrm>
          <a:prstGeom prst="rect">
            <a:avLst/>
          </a:prstGeom>
          <a:noFill/>
          <a:ln/>
        </p:spPr>
        <p:txBody>
          <a:bodyPr wrap="square" lIns="0" tIns="0" rIns="0" bIns="0" rtlCol="0" anchor="ctr"/>
          <a:lstStyle/>
          <a:p>
            <a:pPr indent="0" marL="0">
              <a:lnSpc>
                <a:spcPct val="110000"/>
              </a:lnSpc>
              <a:buNone/>
            </a:pPr>
            <a:r>
              <a:rPr lang="en-US" sz="1250" dirty="0">
                <a:solidFill>
                  <a:srgbClr val="1E293B"/>
                </a:solidFill>
                <a:latin typeface="Calibri" pitchFamily="34" charset="0"/>
                <a:ea typeface="Calibri" pitchFamily="34" charset="-122"/>
                <a:cs typeface="Calibri" pitchFamily="34" charset="-120"/>
              </a:rPr>
              <a:t>Basic problem-solving to identify and resolve hardware/software issues.</a:t>
            </a:r>
            <a:endParaRPr lang="en-US" sz="12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2 · APPLICATIONS OF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IT in Home &amp; Banking</a:t>
            </a:r>
            <a:endParaRPr lang="en-US" sz="3200" dirty="0"/>
          </a:p>
        </p:txBody>
      </p:sp>
      <p:sp>
        <p:nvSpPr>
          <p:cNvPr id="4" name="Shape 2"/>
          <p:cNvSpPr/>
          <p:nvPr/>
        </p:nvSpPr>
        <p:spPr>
          <a:xfrm>
            <a:off x="640080" y="1691640"/>
            <a:ext cx="5257800" cy="2286000"/>
          </a:xfrm>
          <a:prstGeom prst="roundRect">
            <a:avLst>
              <a:gd name="adj" fmla="val 3200"/>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896112" y="1947672"/>
            <a:ext cx="777240" cy="77724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97153" y="2048713"/>
            <a:ext cx="575158" cy="575158"/>
          </a:xfrm>
          <a:prstGeom prst="rect">
            <a:avLst/>
          </a:prstGeom>
        </p:spPr>
      </p:pic>
      <p:sp>
        <p:nvSpPr>
          <p:cNvPr id="7" name="Text 4"/>
          <p:cNvSpPr/>
          <p:nvPr/>
        </p:nvSpPr>
        <p:spPr>
          <a:xfrm>
            <a:off x="1828800" y="1965960"/>
            <a:ext cx="3840480" cy="41148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IT in Home</a:t>
            </a:r>
            <a:endParaRPr lang="en-US" sz="1600" dirty="0"/>
          </a:p>
        </p:txBody>
      </p:sp>
      <p:sp>
        <p:nvSpPr>
          <p:cNvPr id="8" name="Text 5"/>
          <p:cNvSpPr/>
          <p:nvPr/>
        </p:nvSpPr>
        <p:spPr>
          <a:xfrm>
            <a:off x="896112" y="2514600"/>
            <a:ext cx="4754880" cy="137160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IT has revolutionized home computing with more powerful, user-friendly devices, connectivity options, and services. Smart technologies and cloud computing further enhance the home computing experience.</a:t>
            </a:r>
            <a:endParaRPr lang="en-US" sz="1200" dirty="0"/>
          </a:p>
        </p:txBody>
      </p:sp>
      <p:sp>
        <p:nvSpPr>
          <p:cNvPr id="9" name="Shape 6"/>
          <p:cNvSpPr/>
          <p:nvPr/>
        </p:nvSpPr>
        <p:spPr>
          <a:xfrm>
            <a:off x="6172200" y="1691640"/>
            <a:ext cx="5349240" cy="2286000"/>
          </a:xfrm>
          <a:prstGeom prst="roundRect">
            <a:avLst>
              <a:gd name="adj" fmla="val 3200"/>
            </a:avLst>
          </a:prstGeom>
          <a:solidFill>
            <a:srgbClr val="0B2545"/>
          </a:solidFill>
          <a:ln/>
          <a:effectLst>
            <a:outerShdw sx="100000" sy="100000" kx="0" ky="0" algn="bl" rotWithShape="0" blurRad="101600" dist="38100" dir="2700000">
              <a:srgbClr val="0B2545">
                <a:alpha val="15000"/>
              </a:srgbClr>
            </a:outerShdw>
          </a:effectLst>
        </p:spPr>
      </p:sp>
      <p:sp>
        <p:nvSpPr>
          <p:cNvPr id="10" name="Shape 7"/>
          <p:cNvSpPr/>
          <p:nvPr/>
        </p:nvSpPr>
        <p:spPr>
          <a:xfrm>
            <a:off x="6428232" y="1947672"/>
            <a:ext cx="777240" cy="77724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6529273" y="2048713"/>
            <a:ext cx="575158" cy="575158"/>
          </a:xfrm>
          <a:prstGeom prst="rect">
            <a:avLst/>
          </a:prstGeom>
        </p:spPr>
      </p:pic>
      <p:sp>
        <p:nvSpPr>
          <p:cNvPr id="12" name="Text 8"/>
          <p:cNvSpPr/>
          <p:nvPr/>
        </p:nvSpPr>
        <p:spPr>
          <a:xfrm>
            <a:off x="7360920" y="1965960"/>
            <a:ext cx="384048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IT in Banking</a:t>
            </a:r>
            <a:endParaRPr lang="en-US" sz="1600" dirty="0"/>
          </a:p>
        </p:txBody>
      </p:sp>
      <p:sp>
        <p:nvSpPr>
          <p:cNvPr id="13" name="Text 9"/>
          <p:cNvSpPr/>
          <p:nvPr/>
        </p:nvSpPr>
        <p:spPr>
          <a:xfrm>
            <a:off x="6428232" y="2514600"/>
            <a:ext cx="4846320" cy="1371600"/>
          </a:xfrm>
          <a:prstGeom prst="rect">
            <a:avLst/>
          </a:prstGeom>
          <a:noFill/>
          <a:ln/>
        </p:spPr>
        <p:txBody>
          <a:bodyPr wrap="square" lIns="0" tIns="0" rIns="0" bIns="0" rtlCol="0" anchor="ctr"/>
          <a:lstStyle/>
          <a:p>
            <a:pPr indent="0" marL="0">
              <a:lnSpc>
                <a:spcPct val="115000"/>
              </a:lnSpc>
              <a:buNone/>
            </a:pPr>
            <a:r>
              <a:rPr lang="en-US" sz="1200" dirty="0">
                <a:solidFill>
                  <a:srgbClr val="CADCFC"/>
                </a:solidFill>
                <a:latin typeface="Calibri" pitchFamily="34" charset="0"/>
                <a:ea typeface="Calibri" pitchFamily="34" charset="-122"/>
                <a:cs typeface="Calibri" pitchFamily="34" charset="-120"/>
              </a:rPr>
              <a:t>IT is the backbone of modern banking — the technology that keeps operations running smoothly and helps banks thrive in today's fast-moving world.</a:t>
            </a:r>
            <a:endParaRPr lang="en-US" sz="1200" dirty="0"/>
          </a:p>
        </p:txBody>
      </p:sp>
      <p:sp>
        <p:nvSpPr>
          <p:cNvPr id="14" name="Text 10"/>
          <p:cNvSpPr/>
          <p:nvPr/>
        </p:nvSpPr>
        <p:spPr>
          <a:xfrm>
            <a:off x="640080" y="4251960"/>
            <a:ext cx="5486400" cy="292608"/>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IT ALSO POWERS</a:t>
            </a:r>
            <a:endParaRPr lang="en-US" sz="1200" dirty="0"/>
          </a:p>
        </p:txBody>
      </p:sp>
      <p:sp>
        <p:nvSpPr>
          <p:cNvPr id="15" name="Shape 11"/>
          <p:cNvSpPr/>
          <p:nvPr/>
        </p:nvSpPr>
        <p:spPr>
          <a:xfrm>
            <a:off x="640080" y="4617720"/>
            <a:ext cx="2854757" cy="384048"/>
          </a:xfrm>
          <a:prstGeom prst="roundRect">
            <a:avLst>
              <a:gd name="adj" fmla="val 50000"/>
            </a:avLst>
          </a:prstGeom>
          <a:solidFill>
            <a:srgbClr val="E6F4F3"/>
          </a:solidFill>
          <a:ln w="9525">
            <a:solidFill>
              <a:srgbClr val="0E7C86"/>
            </a:solidFill>
            <a:prstDash val="solid"/>
          </a:ln>
        </p:spPr>
      </p:sp>
      <p:sp>
        <p:nvSpPr>
          <p:cNvPr id="16" name="Text 12"/>
          <p:cNvSpPr/>
          <p:nvPr/>
        </p:nvSpPr>
        <p:spPr>
          <a:xfrm>
            <a:off x="640080" y="4617720"/>
            <a:ext cx="2854757"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Business &amp; Enterprise Systems</a:t>
            </a:r>
            <a:endParaRPr lang="en-US" sz="1050" dirty="0"/>
          </a:p>
        </p:txBody>
      </p:sp>
      <p:sp>
        <p:nvSpPr>
          <p:cNvPr id="17" name="Shape 13"/>
          <p:cNvSpPr/>
          <p:nvPr/>
        </p:nvSpPr>
        <p:spPr>
          <a:xfrm>
            <a:off x="3631997" y="4617720"/>
            <a:ext cx="2854757" cy="384048"/>
          </a:xfrm>
          <a:prstGeom prst="roundRect">
            <a:avLst>
              <a:gd name="adj" fmla="val 50000"/>
            </a:avLst>
          </a:prstGeom>
          <a:solidFill>
            <a:srgbClr val="E6F4F3"/>
          </a:solidFill>
          <a:ln w="9525">
            <a:solidFill>
              <a:srgbClr val="0E7C86"/>
            </a:solidFill>
            <a:prstDash val="solid"/>
          </a:ln>
        </p:spPr>
      </p:sp>
      <p:sp>
        <p:nvSpPr>
          <p:cNvPr id="18" name="Text 14"/>
          <p:cNvSpPr/>
          <p:nvPr/>
        </p:nvSpPr>
        <p:spPr>
          <a:xfrm>
            <a:off x="3631997" y="4617720"/>
            <a:ext cx="2854757"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Communication &amp; Collaboration</a:t>
            </a:r>
            <a:endParaRPr lang="en-US" sz="1050" dirty="0"/>
          </a:p>
        </p:txBody>
      </p:sp>
      <p:sp>
        <p:nvSpPr>
          <p:cNvPr id="19" name="Shape 15"/>
          <p:cNvSpPr/>
          <p:nvPr/>
        </p:nvSpPr>
        <p:spPr>
          <a:xfrm>
            <a:off x="6623914" y="4617720"/>
            <a:ext cx="2675534" cy="384048"/>
          </a:xfrm>
          <a:prstGeom prst="roundRect">
            <a:avLst>
              <a:gd name="adj" fmla="val 50000"/>
            </a:avLst>
          </a:prstGeom>
          <a:solidFill>
            <a:srgbClr val="E6F4F3"/>
          </a:solidFill>
          <a:ln w="9525">
            <a:solidFill>
              <a:srgbClr val="0E7C86"/>
            </a:solidFill>
            <a:prstDash val="solid"/>
          </a:ln>
        </p:spPr>
      </p:sp>
      <p:sp>
        <p:nvSpPr>
          <p:cNvPr id="20" name="Text 16"/>
          <p:cNvSpPr/>
          <p:nvPr/>
        </p:nvSpPr>
        <p:spPr>
          <a:xfrm>
            <a:off x="6623914" y="4617720"/>
            <a:ext cx="2675534"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Data Management &amp; Analytics</a:t>
            </a:r>
            <a:endParaRPr lang="en-US" sz="1050" dirty="0"/>
          </a:p>
        </p:txBody>
      </p:sp>
      <p:sp>
        <p:nvSpPr>
          <p:cNvPr id="21" name="Shape 17"/>
          <p:cNvSpPr/>
          <p:nvPr/>
        </p:nvSpPr>
        <p:spPr>
          <a:xfrm>
            <a:off x="9436608" y="4617720"/>
            <a:ext cx="1152144" cy="384048"/>
          </a:xfrm>
          <a:prstGeom prst="roundRect">
            <a:avLst>
              <a:gd name="adj" fmla="val 50000"/>
            </a:avLst>
          </a:prstGeom>
          <a:solidFill>
            <a:srgbClr val="E6F4F3"/>
          </a:solidFill>
          <a:ln w="9525">
            <a:solidFill>
              <a:srgbClr val="0E7C86"/>
            </a:solidFill>
            <a:prstDash val="solid"/>
          </a:ln>
        </p:spPr>
      </p:sp>
      <p:sp>
        <p:nvSpPr>
          <p:cNvPr id="22" name="Text 18"/>
          <p:cNvSpPr/>
          <p:nvPr/>
        </p:nvSpPr>
        <p:spPr>
          <a:xfrm>
            <a:off x="9436608" y="4617720"/>
            <a:ext cx="1152144"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E-Commerce</a:t>
            </a:r>
            <a:endParaRPr lang="en-US" sz="1050" dirty="0"/>
          </a:p>
        </p:txBody>
      </p:sp>
      <p:sp>
        <p:nvSpPr>
          <p:cNvPr id="23" name="Shape 19"/>
          <p:cNvSpPr/>
          <p:nvPr/>
        </p:nvSpPr>
        <p:spPr>
          <a:xfrm>
            <a:off x="640080" y="5074920"/>
            <a:ext cx="2227478" cy="384048"/>
          </a:xfrm>
          <a:prstGeom prst="roundRect">
            <a:avLst>
              <a:gd name="adj" fmla="val 50000"/>
            </a:avLst>
          </a:prstGeom>
          <a:solidFill>
            <a:srgbClr val="E6F4F3"/>
          </a:solidFill>
          <a:ln w="9525">
            <a:solidFill>
              <a:srgbClr val="0E7C86"/>
            </a:solidFill>
            <a:prstDash val="solid"/>
          </a:ln>
        </p:spPr>
      </p:sp>
      <p:sp>
        <p:nvSpPr>
          <p:cNvPr id="24" name="Text 20"/>
          <p:cNvSpPr/>
          <p:nvPr/>
        </p:nvSpPr>
        <p:spPr>
          <a:xfrm>
            <a:off x="640080" y="5074920"/>
            <a:ext cx="2227478"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Healthcare Informatics</a:t>
            </a:r>
            <a:endParaRPr lang="en-US" sz="1050" dirty="0"/>
          </a:p>
        </p:txBody>
      </p:sp>
      <p:sp>
        <p:nvSpPr>
          <p:cNvPr id="25" name="Shape 21"/>
          <p:cNvSpPr/>
          <p:nvPr/>
        </p:nvSpPr>
        <p:spPr>
          <a:xfrm>
            <a:off x="3004718" y="5074920"/>
            <a:ext cx="2048256" cy="384048"/>
          </a:xfrm>
          <a:prstGeom prst="roundRect">
            <a:avLst>
              <a:gd name="adj" fmla="val 50000"/>
            </a:avLst>
          </a:prstGeom>
          <a:solidFill>
            <a:srgbClr val="E6F4F3"/>
          </a:solidFill>
          <a:ln w="9525">
            <a:solidFill>
              <a:srgbClr val="0E7C86"/>
            </a:solidFill>
            <a:prstDash val="solid"/>
          </a:ln>
        </p:spPr>
      </p:sp>
      <p:sp>
        <p:nvSpPr>
          <p:cNvPr id="26" name="Text 22"/>
          <p:cNvSpPr/>
          <p:nvPr/>
        </p:nvSpPr>
        <p:spPr>
          <a:xfrm>
            <a:off x="3004718" y="5074920"/>
            <a:ext cx="2048256"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Education Technology</a:t>
            </a:r>
            <a:endParaRPr lang="en-US" sz="1050" dirty="0"/>
          </a:p>
        </p:txBody>
      </p:sp>
      <p:sp>
        <p:nvSpPr>
          <p:cNvPr id="27" name="Shape 23"/>
          <p:cNvSpPr/>
          <p:nvPr/>
        </p:nvSpPr>
        <p:spPr>
          <a:xfrm>
            <a:off x="5190134" y="5074920"/>
            <a:ext cx="2048256" cy="384048"/>
          </a:xfrm>
          <a:prstGeom prst="roundRect">
            <a:avLst>
              <a:gd name="adj" fmla="val 50000"/>
            </a:avLst>
          </a:prstGeom>
          <a:solidFill>
            <a:srgbClr val="E6F4F3"/>
          </a:solidFill>
          <a:ln w="9525">
            <a:solidFill>
              <a:srgbClr val="0E7C86"/>
            </a:solidFill>
            <a:prstDash val="solid"/>
          </a:ln>
        </p:spPr>
      </p:sp>
      <p:sp>
        <p:nvSpPr>
          <p:cNvPr id="28" name="Text 24"/>
          <p:cNvSpPr/>
          <p:nvPr/>
        </p:nvSpPr>
        <p:spPr>
          <a:xfrm>
            <a:off x="5190134" y="5074920"/>
            <a:ext cx="2048256"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Financial Technology</a:t>
            </a:r>
            <a:endParaRPr lang="en-US" sz="1050" dirty="0"/>
          </a:p>
        </p:txBody>
      </p:sp>
      <p:sp>
        <p:nvSpPr>
          <p:cNvPr id="29" name="Shape 25"/>
          <p:cNvSpPr/>
          <p:nvPr/>
        </p:nvSpPr>
        <p:spPr>
          <a:xfrm>
            <a:off x="7375550" y="5074920"/>
            <a:ext cx="2765146" cy="384048"/>
          </a:xfrm>
          <a:prstGeom prst="roundRect">
            <a:avLst>
              <a:gd name="adj" fmla="val 50000"/>
            </a:avLst>
          </a:prstGeom>
          <a:solidFill>
            <a:srgbClr val="E6F4F3"/>
          </a:solidFill>
          <a:ln w="9525">
            <a:solidFill>
              <a:srgbClr val="0E7C86"/>
            </a:solidFill>
            <a:prstDash val="solid"/>
          </a:ln>
        </p:spPr>
      </p:sp>
      <p:sp>
        <p:nvSpPr>
          <p:cNvPr id="30" name="Text 26"/>
          <p:cNvSpPr/>
          <p:nvPr/>
        </p:nvSpPr>
        <p:spPr>
          <a:xfrm>
            <a:off x="7375550" y="5074920"/>
            <a:ext cx="2765146"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Government &amp; Public Services</a:t>
            </a:r>
            <a:endParaRPr lang="en-US" sz="1050" dirty="0"/>
          </a:p>
        </p:txBody>
      </p:sp>
      <p:sp>
        <p:nvSpPr>
          <p:cNvPr id="31" name="Shape 27"/>
          <p:cNvSpPr/>
          <p:nvPr/>
        </p:nvSpPr>
        <p:spPr>
          <a:xfrm>
            <a:off x="640080" y="5532120"/>
            <a:ext cx="2137867" cy="384048"/>
          </a:xfrm>
          <a:prstGeom prst="roundRect">
            <a:avLst>
              <a:gd name="adj" fmla="val 50000"/>
            </a:avLst>
          </a:prstGeom>
          <a:solidFill>
            <a:srgbClr val="E6F4F3"/>
          </a:solidFill>
          <a:ln w="9525">
            <a:solidFill>
              <a:srgbClr val="0E7C86"/>
            </a:solidFill>
            <a:prstDash val="solid"/>
          </a:ln>
        </p:spPr>
      </p:sp>
      <p:sp>
        <p:nvSpPr>
          <p:cNvPr id="32" name="Text 28"/>
          <p:cNvSpPr/>
          <p:nvPr/>
        </p:nvSpPr>
        <p:spPr>
          <a:xfrm>
            <a:off x="640080" y="5532120"/>
            <a:ext cx="2137867"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Entertainment &amp; Media</a:t>
            </a:r>
            <a:endParaRPr lang="en-US" sz="1050" dirty="0"/>
          </a:p>
        </p:txBody>
      </p:sp>
      <p:sp>
        <p:nvSpPr>
          <p:cNvPr id="33" name="Shape 29"/>
          <p:cNvSpPr/>
          <p:nvPr/>
        </p:nvSpPr>
        <p:spPr>
          <a:xfrm>
            <a:off x="2915107" y="5532120"/>
            <a:ext cx="1420978" cy="384048"/>
          </a:xfrm>
          <a:prstGeom prst="roundRect">
            <a:avLst>
              <a:gd name="adj" fmla="val 50000"/>
            </a:avLst>
          </a:prstGeom>
          <a:solidFill>
            <a:srgbClr val="E6F4F3"/>
          </a:solidFill>
          <a:ln w="9525">
            <a:solidFill>
              <a:srgbClr val="0E7C86"/>
            </a:solidFill>
            <a:prstDash val="solid"/>
          </a:ln>
        </p:spPr>
      </p:sp>
      <p:sp>
        <p:nvSpPr>
          <p:cNvPr id="34" name="Text 30"/>
          <p:cNvSpPr/>
          <p:nvPr/>
        </p:nvSpPr>
        <p:spPr>
          <a:xfrm>
            <a:off x="2915107" y="5532120"/>
            <a:ext cx="1420978"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Cybersecurity</a:t>
            </a:r>
            <a:endParaRPr lang="en-US" sz="1050" dirty="0"/>
          </a:p>
        </p:txBody>
      </p:sp>
      <p:sp>
        <p:nvSpPr>
          <p:cNvPr id="35" name="Shape 31"/>
          <p:cNvSpPr/>
          <p:nvPr/>
        </p:nvSpPr>
        <p:spPr>
          <a:xfrm>
            <a:off x="4473245" y="5532120"/>
            <a:ext cx="2048256" cy="384048"/>
          </a:xfrm>
          <a:prstGeom prst="roundRect">
            <a:avLst>
              <a:gd name="adj" fmla="val 50000"/>
            </a:avLst>
          </a:prstGeom>
          <a:solidFill>
            <a:srgbClr val="E6F4F3"/>
          </a:solidFill>
          <a:ln w="9525">
            <a:solidFill>
              <a:srgbClr val="0E7C86"/>
            </a:solidFill>
            <a:prstDash val="solid"/>
          </a:ln>
        </p:spPr>
      </p:sp>
      <p:sp>
        <p:nvSpPr>
          <p:cNvPr id="36" name="Text 32"/>
          <p:cNvSpPr/>
          <p:nvPr/>
        </p:nvSpPr>
        <p:spPr>
          <a:xfrm>
            <a:off x="4473245" y="5532120"/>
            <a:ext cx="2048256" cy="384048"/>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Robotics &amp; Animation</a:t>
            </a:r>
            <a:endParaRPr lang="en-US" sz="1050" dirty="0"/>
          </a:p>
        </p:txBody>
      </p:sp>
      <p:sp>
        <p:nvSpPr>
          <p:cNvPr id="37" name="Text 3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38" name="Text 3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2 · APPLICATIONS OF IT</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IT in Healthcare, E-Governance &amp; ITeS</a:t>
            </a:r>
            <a:endParaRPr lang="en-US" sz="3200" dirty="0"/>
          </a:p>
        </p:txBody>
      </p:sp>
      <p:sp>
        <p:nvSpPr>
          <p:cNvPr id="4" name="Shape 2"/>
          <p:cNvSpPr/>
          <p:nvPr/>
        </p:nvSpPr>
        <p:spPr>
          <a:xfrm>
            <a:off x="640080" y="1691640"/>
            <a:ext cx="5303520" cy="1965960"/>
          </a:xfrm>
          <a:prstGeom prst="roundRect">
            <a:avLst>
              <a:gd name="adj" fmla="val 3721"/>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896112" y="1947672"/>
            <a:ext cx="731520" cy="73152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991210" y="2042770"/>
            <a:ext cx="541325" cy="541325"/>
          </a:xfrm>
          <a:prstGeom prst="rect">
            <a:avLst/>
          </a:prstGeom>
        </p:spPr>
      </p:pic>
      <p:sp>
        <p:nvSpPr>
          <p:cNvPr id="7" name="Text 4"/>
          <p:cNvSpPr/>
          <p:nvPr/>
        </p:nvSpPr>
        <p:spPr>
          <a:xfrm>
            <a:off x="1810512" y="1892808"/>
            <a:ext cx="3931920" cy="64008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Medical Science &amp; Health Care</a:t>
            </a:r>
            <a:endParaRPr lang="en-US" sz="1450" dirty="0"/>
          </a:p>
        </p:txBody>
      </p:sp>
      <p:sp>
        <p:nvSpPr>
          <p:cNvPr id="8" name="Text 5"/>
          <p:cNvSpPr/>
          <p:nvPr/>
        </p:nvSpPr>
        <p:spPr>
          <a:xfrm>
            <a:off x="914400" y="2606040"/>
            <a:ext cx="4754880" cy="96012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IT plays a tremendous role in medical science and healthcare — revolutionizing how we research, diagnose, treat and manage health.</a:t>
            </a:r>
            <a:endParaRPr lang="en-US" sz="1150" dirty="0"/>
          </a:p>
        </p:txBody>
      </p:sp>
      <p:sp>
        <p:nvSpPr>
          <p:cNvPr id="9" name="Shape 6"/>
          <p:cNvSpPr/>
          <p:nvPr/>
        </p:nvSpPr>
        <p:spPr>
          <a:xfrm>
            <a:off x="6217920" y="1691640"/>
            <a:ext cx="5303520" cy="1965960"/>
          </a:xfrm>
          <a:prstGeom prst="roundRect">
            <a:avLst>
              <a:gd name="adj" fmla="val 3721"/>
            </a:avLst>
          </a:prstGeom>
          <a:solidFill>
            <a:srgbClr val="E6F4F3"/>
          </a:solidFill>
          <a:ln/>
          <a:effectLst>
            <a:outerShdw sx="100000" sy="100000" kx="0" ky="0" algn="bl" rotWithShape="0" blurRad="101600" dist="38100" dir="2700000">
              <a:srgbClr val="0B2545">
                <a:alpha val="15000"/>
              </a:srgbClr>
            </a:outerShdw>
          </a:effectLst>
        </p:spPr>
      </p:sp>
      <p:sp>
        <p:nvSpPr>
          <p:cNvPr id="10" name="Shape 7"/>
          <p:cNvSpPr/>
          <p:nvPr/>
        </p:nvSpPr>
        <p:spPr>
          <a:xfrm>
            <a:off x="6473952" y="1947672"/>
            <a:ext cx="731520" cy="73152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6569050" y="2042770"/>
            <a:ext cx="541325" cy="541325"/>
          </a:xfrm>
          <a:prstGeom prst="rect">
            <a:avLst/>
          </a:prstGeom>
        </p:spPr>
      </p:pic>
      <p:sp>
        <p:nvSpPr>
          <p:cNvPr id="12" name="Text 8"/>
          <p:cNvSpPr/>
          <p:nvPr/>
        </p:nvSpPr>
        <p:spPr>
          <a:xfrm>
            <a:off x="7388352" y="1892808"/>
            <a:ext cx="3931920" cy="64008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E-Governance &amp; Public Sector</a:t>
            </a:r>
            <a:endParaRPr lang="en-US" sz="1450" dirty="0"/>
          </a:p>
        </p:txBody>
      </p:sp>
      <p:sp>
        <p:nvSpPr>
          <p:cNvPr id="13" name="Text 9"/>
          <p:cNvSpPr/>
          <p:nvPr/>
        </p:nvSpPr>
        <p:spPr>
          <a:xfrm>
            <a:off x="6492240" y="2606040"/>
            <a:ext cx="4754880" cy="96012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Digital India &amp; E-Governance initiatives brought many services online — linking PAN to bank accounts, tax collection, licences, passports, Voter ID and more.</a:t>
            </a:r>
            <a:endParaRPr lang="en-US" sz="1150" dirty="0"/>
          </a:p>
        </p:txBody>
      </p:sp>
      <p:sp>
        <p:nvSpPr>
          <p:cNvPr id="14" name="Shape 10"/>
          <p:cNvSpPr/>
          <p:nvPr/>
        </p:nvSpPr>
        <p:spPr>
          <a:xfrm>
            <a:off x="640080" y="3886200"/>
            <a:ext cx="10881360" cy="1920240"/>
          </a:xfrm>
          <a:prstGeom prst="roundRect">
            <a:avLst>
              <a:gd name="adj" fmla="val 3810"/>
            </a:avLst>
          </a:prstGeom>
          <a:solidFill>
            <a:srgbClr val="0B2545"/>
          </a:solidFill>
          <a:ln/>
          <a:effectLst>
            <a:outerShdw sx="100000" sy="100000" kx="0" ky="0" algn="bl" rotWithShape="0" blurRad="101600" dist="38100" dir="2700000">
              <a:srgbClr val="0B2545">
                <a:alpha val="15000"/>
              </a:srgbClr>
            </a:outerShdw>
          </a:effectLst>
        </p:spPr>
      </p:sp>
      <p:sp>
        <p:nvSpPr>
          <p:cNvPr id="15" name="Shape 11"/>
          <p:cNvSpPr/>
          <p:nvPr/>
        </p:nvSpPr>
        <p:spPr>
          <a:xfrm>
            <a:off x="896112" y="4114800"/>
            <a:ext cx="777240" cy="77724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997153" y="4215841"/>
            <a:ext cx="575158" cy="575158"/>
          </a:xfrm>
          <a:prstGeom prst="rect">
            <a:avLst/>
          </a:prstGeom>
        </p:spPr>
      </p:pic>
      <p:sp>
        <p:nvSpPr>
          <p:cNvPr id="17" name="Text 12"/>
          <p:cNvSpPr/>
          <p:nvPr/>
        </p:nvSpPr>
        <p:spPr>
          <a:xfrm>
            <a:off x="1828800" y="4114800"/>
            <a:ext cx="365760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What is ITeS?</a:t>
            </a:r>
            <a:endParaRPr lang="en-US" sz="1550" dirty="0"/>
          </a:p>
        </p:txBody>
      </p:sp>
      <p:sp>
        <p:nvSpPr>
          <p:cNvPr id="18" name="Text 13"/>
          <p:cNvSpPr/>
          <p:nvPr/>
        </p:nvSpPr>
        <p:spPr>
          <a:xfrm>
            <a:off x="1828800" y="4480560"/>
            <a:ext cx="8686800" cy="777240"/>
          </a:xfrm>
          <a:prstGeom prst="rect">
            <a:avLst/>
          </a:prstGeom>
          <a:noFill/>
          <a:ln/>
        </p:spPr>
        <p:txBody>
          <a:bodyPr wrap="square" lIns="0" tIns="0" rIns="0" bIns="0" rtlCol="0" anchor="ctr"/>
          <a:lstStyle/>
          <a:p>
            <a:pPr indent="0" marL="0">
              <a:lnSpc>
                <a:spcPct val="120000"/>
              </a:lnSpc>
              <a:buNone/>
            </a:pPr>
            <a:r>
              <a:rPr lang="en-US" sz="1200" dirty="0">
                <a:solidFill>
                  <a:srgbClr val="CADCFC"/>
                </a:solidFill>
                <a:latin typeface="Calibri" pitchFamily="34" charset="0"/>
                <a:ea typeface="Calibri" pitchFamily="34" charset="-122"/>
                <a:cs typeface="Calibri" pitchFamily="34" charset="-120"/>
              </a:rPr>
              <a:t>Information Technology enabled Services (ITeS) refer to the application of IT to deliver various services that support business processes and operations — often delivered remotely, playing a significant role in today's globalized economy.</a:t>
            </a:r>
            <a:endParaRPr lang="en-US" sz="1200" dirty="0"/>
          </a:p>
        </p:txBody>
      </p:sp>
      <p:sp>
        <p:nvSpPr>
          <p:cNvPr id="19" name="Text 14"/>
          <p:cNvSpPr/>
          <p:nvPr/>
        </p:nvSpPr>
        <p:spPr>
          <a:xfrm>
            <a:off x="1828800" y="5257800"/>
            <a:ext cx="8686800" cy="457200"/>
          </a:xfrm>
          <a:prstGeom prst="rect">
            <a:avLst/>
          </a:prstGeom>
          <a:noFill/>
          <a:ln/>
        </p:spPr>
        <p:txBody>
          <a:bodyPr wrap="square" lIns="0" tIns="0" rIns="0" bIns="0" rtlCol="0" anchor="ctr"/>
          <a:lstStyle/>
          <a:p>
            <a:pPr indent="0" marL="0">
              <a:buNone/>
            </a:pPr>
            <a:r>
              <a:rPr lang="en-US" sz="1200" b="1" dirty="0">
                <a:solidFill>
                  <a:srgbClr val="E7A335"/>
                </a:solidFill>
                <a:latin typeface="Calibri" pitchFamily="34" charset="0"/>
                <a:ea typeface="Calibri" pitchFamily="34" charset="-122"/>
                <a:cs typeface="Calibri" pitchFamily="34" charset="-120"/>
              </a:rPr>
              <a:t>Skills required: </a:t>
            </a:r>
            <a:pPr indent="0" marL="0">
              <a:buNone/>
            </a:pPr>
            <a:r>
              <a:rPr lang="en-US" sz="1200" dirty="0">
                <a:solidFill>
                  <a:srgbClr val="FFFFFF"/>
                </a:solidFill>
                <a:latin typeface="Calibri" pitchFamily="34" charset="0"/>
                <a:ea typeface="Calibri" pitchFamily="34" charset="-122"/>
                <a:cs typeface="Calibri" pitchFamily="34" charset="-120"/>
              </a:rPr>
              <a:t>Communication Skills, Technical Proficiency, Problem Solving, Data Management.</a:t>
            </a:r>
            <a:endParaRPr lang="en-US" sz="1200" dirty="0"/>
          </a:p>
        </p:txBody>
      </p:sp>
      <p:sp>
        <p:nvSpPr>
          <p:cNvPr id="20"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1" name="Text 1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3 · IT ENABLED SERVICES</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Key Components of ITeS</a:t>
            </a:r>
            <a:endParaRPr lang="en-US" sz="3200" dirty="0"/>
          </a:p>
        </p:txBody>
      </p:sp>
      <p:sp>
        <p:nvSpPr>
          <p:cNvPr id="4" name="Shape 2"/>
          <p:cNvSpPr/>
          <p:nvPr/>
        </p:nvSpPr>
        <p:spPr>
          <a:xfrm>
            <a:off x="640080" y="169164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914400" y="2148840"/>
            <a:ext cx="914400" cy="91440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033272" y="2267712"/>
            <a:ext cx="676656" cy="676656"/>
          </a:xfrm>
          <a:prstGeom prst="rect">
            <a:avLst/>
          </a:prstGeom>
        </p:spPr>
      </p:pic>
      <p:sp>
        <p:nvSpPr>
          <p:cNvPr id="7" name="Text 4"/>
          <p:cNvSpPr/>
          <p:nvPr/>
        </p:nvSpPr>
        <p:spPr>
          <a:xfrm>
            <a:off x="2011680" y="1920240"/>
            <a:ext cx="370332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Customer Support</a:t>
            </a:r>
            <a:endParaRPr lang="en-US" sz="1400" dirty="0"/>
          </a:p>
        </p:txBody>
      </p:sp>
      <p:sp>
        <p:nvSpPr>
          <p:cNvPr id="8" name="Text 5"/>
          <p:cNvSpPr/>
          <p:nvPr/>
        </p:nvSpPr>
        <p:spPr>
          <a:xfrm>
            <a:off x="2011680" y="2560320"/>
            <a:ext cx="3703320" cy="91440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Assisting customers via phone, email, chat or social media.</a:t>
            </a:r>
            <a:endParaRPr lang="en-US" sz="1150" dirty="0"/>
          </a:p>
        </p:txBody>
      </p:sp>
      <p:sp>
        <p:nvSpPr>
          <p:cNvPr id="9" name="Shape 6"/>
          <p:cNvSpPr/>
          <p:nvPr/>
        </p:nvSpPr>
        <p:spPr>
          <a:xfrm>
            <a:off x="6309360" y="169164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10" name="Shape 7"/>
          <p:cNvSpPr/>
          <p:nvPr/>
        </p:nvSpPr>
        <p:spPr>
          <a:xfrm>
            <a:off x="6583680" y="2148840"/>
            <a:ext cx="914400" cy="91440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6702552" y="2267712"/>
            <a:ext cx="676656" cy="676656"/>
          </a:xfrm>
          <a:prstGeom prst="rect">
            <a:avLst/>
          </a:prstGeom>
        </p:spPr>
      </p:pic>
      <p:sp>
        <p:nvSpPr>
          <p:cNvPr id="12" name="Text 8"/>
          <p:cNvSpPr/>
          <p:nvPr/>
        </p:nvSpPr>
        <p:spPr>
          <a:xfrm>
            <a:off x="7680960" y="1920240"/>
            <a:ext cx="370332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Data Entry &amp; Processing</a:t>
            </a:r>
            <a:endParaRPr lang="en-US" sz="1400" dirty="0"/>
          </a:p>
        </p:txBody>
      </p:sp>
      <p:sp>
        <p:nvSpPr>
          <p:cNvPr id="13" name="Text 9"/>
          <p:cNvSpPr/>
          <p:nvPr/>
        </p:nvSpPr>
        <p:spPr>
          <a:xfrm>
            <a:off x="7680960" y="2560320"/>
            <a:ext cx="3703320" cy="91440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Handling and processing data efficiently and accurately.</a:t>
            </a:r>
            <a:endParaRPr lang="en-US" sz="1150" dirty="0"/>
          </a:p>
        </p:txBody>
      </p:sp>
      <p:sp>
        <p:nvSpPr>
          <p:cNvPr id="14" name="Shape 10"/>
          <p:cNvSpPr/>
          <p:nvPr/>
        </p:nvSpPr>
        <p:spPr>
          <a:xfrm>
            <a:off x="640080" y="384048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15" name="Shape 11"/>
          <p:cNvSpPr/>
          <p:nvPr/>
        </p:nvSpPr>
        <p:spPr>
          <a:xfrm>
            <a:off x="914400" y="4297680"/>
            <a:ext cx="914400" cy="91440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1033272" y="4416552"/>
            <a:ext cx="676656" cy="676656"/>
          </a:xfrm>
          <a:prstGeom prst="rect">
            <a:avLst/>
          </a:prstGeom>
        </p:spPr>
      </p:pic>
      <p:sp>
        <p:nvSpPr>
          <p:cNvPr id="17" name="Text 12"/>
          <p:cNvSpPr/>
          <p:nvPr/>
        </p:nvSpPr>
        <p:spPr>
          <a:xfrm>
            <a:off x="2011680" y="4069080"/>
            <a:ext cx="370332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Technical Support</a:t>
            </a:r>
            <a:endParaRPr lang="en-US" sz="1400" dirty="0"/>
          </a:p>
        </p:txBody>
      </p:sp>
      <p:sp>
        <p:nvSpPr>
          <p:cNvPr id="18" name="Text 13"/>
          <p:cNvSpPr/>
          <p:nvPr/>
        </p:nvSpPr>
        <p:spPr>
          <a:xfrm>
            <a:off x="2011680" y="4709160"/>
            <a:ext cx="3703320" cy="91440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Helping users with issues related to software, hardware or IT products.</a:t>
            </a:r>
            <a:endParaRPr lang="en-US" sz="1150" dirty="0"/>
          </a:p>
        </p:txBody>
      </p:sp>
      <p:sp>
        <p:nvSpPr>
          <p:cNvPr id="19" name="Shape 14"/>
          <p:cNvSpPr/>
          <p:nvPr/>
        </p:nvSpPr>
        <p:spPr>
          <a:xfrm>
            <a:off x="6309360" y="3840480"/>
            <a:ext cx="5349240" cy="1874520"/>
          </a:xfrm>
          <a:prstGeom prst="roundRect">
            <a:avLst>
              <a:gd name="adj" fmla="val 3902"/>
            </a:avLst>
          </a:prstGeom>
          <a:solidFill>
            <a:srgbClr val="E6F4F3"/>
          </a:solidFill>
          <a:ln/>
          <a:effectLst>
            <a:outerShdw sx="100000" sy="100000" kx="0" ky="0" algn="bl" rotWithShape="0" blurRad="101600" dist="38100" dir="2700000">
              <a:srgbClr val="0B2545">
                <a:alpha val="15000"/>
              </a:srgbClr>
            </a:outerShdw>
          </a:effectLst>
        </p:spPr>
      </p:sp>
      <p:sp>
        <p:nvSpPr>
          <p:cNvPr id="20" name="Shape 15"/>
          <p:cNvSpPr/>
          <p:nvPr/>
        </p:nvSpPr>
        <p:spPr>
          <a:xfrm>
            <a:off x="6583680" y="4297680"/>
            <a:ext cx="914400" cy="914400"/>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6702552" y="4416552"/>
            <a:ext cx="676656" cy="676656"/>
          </a:xfrm>
          <a:prstGeom prst="rect">
            <a:avLst/>
          </a:prstGeom>
        </p:spPr>
      </p:pic>
      <p:sp>
        <p:nvSpPr>
          <p:cNvPr id="22" name="Text 16"/>
          <p:cNvSpPr/>
          <p:nvPr/>
        </p:nvSpPr>
        <p:spPr>
          <a:xfrm>
            <a:off x="7680960" y="4069080"/>
            <a:ext cx="370332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Business Process Outsourcing (BPO)</a:t>
            </a:r>
            <a:endParaRPr lang="en-US" sz="1400" dirty="0"/>
          </a:p>
        </p:txBody>
      </p:sp>
      <p:sp>
        <p:nvSpPr>
          <p:cNvPr id="23" name="Text 17"/>
          <p:cNvSpPr/>
          <p:nvPr/>
        </p:nvSpPr>
        <p:spPr>
          <a:xfrm>
            <a:off x="7680960" y="4709160"/>
            <a:ext cx="3703320" cy="914400"/>
          </a:xfrm>
          <a:prstGeom prst="rect">
            <a:avLst/>
          </a:prstGeom>
          <a:noFill/>
          <a:ln/>
        </p:spPr>
        <p:txBody>
          <a:bodyPr wrap="square" lIns="0" tIns="0" rIns="0" bIns="0" rtlCol="0" anchor="ctr"/>
          <a:lstStyle/>
          <a:p>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Outsourcing specific business processes to external service providers.</a:t>
            </a:r>
            <a:endParaRPr lang="en-US" sz="115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3 · IT ENABLED SERVICES</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Common ITeS Functions</a:t>
            </a:r>
            <a:endParaRPr lang="en-US" sz="3200" dirty="0"/>
          </a:p>
        </p:txBody>
      </p:sp>
      <p:sp>
        <p:nvSpPr>
          <p:cNvPr id="4" name="Shape 2"/>
          <p:cNvSpPr/>
          <p:nvPr/>
        </p:nvSpPr>
        <p:spPr>
          <a:xfrm>
            <a:off x="640080" y="1737360"/>
            <a:ext cx="2615184" cy="3566160"/>
          </a:xfrm>
          <a:prstGeom prst="roundRect">
            <a:avLst>
              <a:gd name="adj" fmla="val 2797"/>
            </a:avLst>
          </a:prstGeom>
          <a:solidFill>
            <a:srgbClr val="13315C"/>
          </a:solidFill>
          <a:ln/>
        </p:spPr>
      </p:sp>
      <p:sp>
        <p:nvSpPr>
          <p:cNvPr id="5" name="Shape 3"/>
          <p:cNvSpPr/>
          <p:nvPr/>
        </p:nvSpPr>
        <p:spPr>
          <a:xfrm>
            <a:off x="1536192" y="2057400"/>
            <a:ext cx="822960" cy="82296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643177" y="2164385"/>
            <a:ext cx="608990" cy="608990"/>
          </a:xfrm>
          <a:prstGeom prst="rect">
            <a:avLst/>
          </a:prstGeom>
        </p:spPr>
      </p:pic>
      <p:sp>
        <p:nvSpPr>
          <p:cNvPr id="7" name="Text 4"/>
          <p:cNvSpPr/>
          <p:nvPr/>
        </p:nvSpPr>
        <p:spPr>
          <a:xfrm>
            <a:off x="804672" y="30632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Call Centers</a:t>
            </a:r>
            <a:endParaRPr lang="en-US" sz="1400" dirty="0"/>
          </a:p>
        </p:txBody>
      </p:sp>
      <p:sp>
        <p:nvSpPr>
          <p:cNvPr id="8" name="Text 5"/>
          <p:cNvSpPr/>
          <p:nvPr/>
        </p:nvSpPr>
        <p:spPr>
          <a:xfrm>
            <a:off x="822960" y="3657600"/>
            <a:ext cx="2249424" cy="1463040"/>
          </a:xfrm>
          <a:prstGeom prst="rect">
            <a:avLst/>
          </a:prstGeom>
          <a:noFill/>
          <a:ln/>
        </p:spPr>
        <p:txBody>
          <a:bodyPr wrap="square" lIns="0" tIns="0" rIns="0" bIns="0"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Handling inbound &amp; outbound calls to address queries, provide info, or offer support.</a:t>
            </a:r>
            <a:endParaRPr lang="en-US" sz="1100" dirty="0"/>
          </a:p>
        </p:txBody>
      </p:sp>
      <p:sp>
        <p:nvSpPr>
          <p:cNvPr id="9" name="Shape 6"/>
          <p:cNvSpPr/>
          <p:nvPr/>
        </p:nvSpPr>
        <p:spPr>
          <a:xfrm>
            <a:off x="3474720" y="1737360"/>
            <a:ext cx="2615184" cy="3566160"/>
          </a:xfrm>
          <a:prstGeom prst="roundRect">
            <a:avLst>
              <a:gd name="adj" fmla="val 2797"/>
            </a:avLst>
          </a:prstGeom>
          <a:solidFill>
            <a:srgbClr val="13315C"/>
          </a:solidFill>
          <a:ln/>
        </p:spPr>
      </p:sp>
      <p:sp>
        <p:nvSpPr>
          <p:cNvPr id="10" name="Shape 7"/>
          <p:cNvSpPr/>
          <p:nvPr/>
        </p:nvSpPr>
        <p:spPr>
          <a:xfrm>
            <a:off x="4370832" y="2057400"/>
            <a:ext cx="822960" cy="82296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4477817" y="2164385"/>
            <a:ext cx="608990" cy="608990"/>
          </a:xfrm>
          <a:prstGeom prst="rect">
            <a:avLst/>
          </a:prstGeom>
        </p:spPr>
      </p:pic>
      <p:sp>
        <p:nvSpPr>
          <p:cNvPr id="12" name="Text 8"/>
          <p:cNvSpPr/>
          <p:nvPr/>
        </p:nvSpPr>
        <p:spPr>
          <a:xfrm>
            <a:off x="3639312" y="30632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 Entry Services</a:t>
            </a:r>
            <a:endParaRPr lang="en-US" sz="1400" dirty="0"/>
          </a:p>
        </p:txBody>
      </p:sp>
      <p:sp>
        <p:nvSpPr>
          <p:cNvPr id="13" name="Text 9"/>
          <p:cNvSpPr/>
          <p:nvPr/>
        </p:nvSpPr>
        <p:spPr>
          <a:xfrm>
            <a:off x="3657600" y="3657600"/>
            <a:ext cx="2249424" cy="1463040"/>
          </a:xfrm>
          <a:prstGeom prst="rect">
            <a:avLst/>
          </a:prstGeom>
          <a:noFill/>
          <a:ln/>
        </p:spPr>
        <p:txBody>
          <a:bodyPr wrap="square" lIns="0" tIns="0" rIns="0" bIns="0"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Inputting, processing and managing data in digital formats.</a:t>
            </a:r>
            <a:endParaRPr lang="en-US" sz="1100" dirty="0"/>
          </a:p>
        </p:txBody>
      </p:sp>
      <p:sp>
        <p:nvSpPr>
          <p:cNvPr id="14" name="Shape 10"/>
          <p:cNvSpPr/>
          <p:nvPr/>
        </p:nvSpPr>
        <p:spPr>
          <a:xfrm>
            <a:off x="6309360" y="1737360"/>
            <a:ext cx="2615184" cy="3566160"/>
          </a:xfrm>
          <a:prstGeom prst="roundRect">
            <a:avLst>
              <a:gd name="adj" fmla="val 2797"/>
            </a:avLst>
          </a:prstGeom>
          <a:solidFill>
            <a:srgbClr val="13315C"/>
          </a:solidFill>
          <a:ln/>
        </p:spPr>
      </p:sp>
      <p:sp>
        <p:nvSpPr>
          <p:cNvPr id="15" name="Shape 11"/>
          <p:cNvSpPr/>
          <p:nvPr/>
        </p:nvSpPr>
        <p:spPr>
          <a:xfrm>
            <a:off x="7205472" y="2057400"/>
            <a:ext cx="822960" cy="82296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7312457" y="2164385"/>
            <a:ext cx="608990" cy="608990"/>
          </a:xfrm>
          <a:prstGeom prst="rect">
            <a:avLst/>
          </a:prstGeom>
        </p:spPr>
      </p:pic>
      <p:sp>
        <p:nvSpPr>
          <p:cNvPr id="17" name="Text 12"/>
          <p:cNvSpPr/>
          <p:nvPr/>
        </p:nvSpPr>
        <p:spPr>
          <a:xfrm>
            <a:off x="6473952" y="30632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Tech Support Services</a:t>
            </a:r>
            <a:endParaRPr lang="en-US" sz="1400" dirty="0"/>
          </a:p>
        </p:txBody>
      </p:sp>
      <p:sp>
        <p:nvSpPr>
          <p:cNvPr id="18" name="Text 13"/>
          <p:cNvSpPr/>
          <p:nvPr/>
        </p:nvSpPr>
        <p:spPr>
          <a:xfrm>
            <a:off x="6492240" y="3657600"/>
            <a:ext cx="2249424" cy="1463040"/>
          </a:xfrm>
          <a:prstGeom prst="rect">
            <a:avLst/>
          </a:prstGeom>
          <a:noFill/>
          <a:ln/>
        </p:spPr>
        <p:txBody>
          <a:bodyPr wrap="square" lIns="0" tIns="0" rIns="0" bIns="0"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Resolving technical issues faced by customers or end-users.</a:t>
            </a:r>
            <a:endParaRPr lang="en-US" sz="1100" dirty="0"/>
          </a:p>
        </p:txBody>
      </p:sp>
      <p:sp>
        <p:nvSpPr>
          <p:cNvPr id="19" name="Shape 14"/>
          <p:cNvSpPr/>
          <p:nvPr/>
        </p:nvSpPr>
        <p:spPr>
          <a:xfrm>
            <a:off x="9144000" y="1737360"/>
            <a:ext cx="2615184" cy="3566160"/>
          </a:xfrm>
          <a:prstGeom prst="roundRect">
            <a:avLst>
              <a:gd name="adj" fmla="val 2797"/>
            </a:avLst>
          </a:prstGeom>
          <a:solidFill>
            <a:srgbClr val="13315C"/>
          </a:solidFill>
          <a:ln/>
        </p:spPr>
      </p:sp>
      <p:sp>
        <p:nvSpPr>
          <p:cNvPr id="20" name="Shape 15"/>
          <p:cNvSpPr/>
          <p:nvPr/>
        </p:nvSpPr>
        <p:spPr>
          <a:xfrm>
            <a:off x="10040112" y="2057400"/>
            <a:ext cx="822960" cy="822960"/>
          </a:xfrm>
          <a:prstGeom prst="ellipse">
            <a:avLst/>
          </a:prstGeom>
          <a:solidFill>
            <a:srgbClr val="0E7C86"/>
          </a:solidFill>
          <a:ln/>
        </p:spPr>
      </p:sp>
      <p:pic>
        <p:nvPicPr>
          <p:cNvPr id="21" name="Image 3" descr="preencoded.png">    </p:cNvPr>
          <p:cNvPicPr>
            <a:picLocks noChangeAspect="1"/>
          </p:cNvPicPr>
          <p:nvPr/>
        </p:nvPicPr>
        <p:blipFill>
          <a:blip r:embed="rId4"/>
          <a:stretch>
            <a:fillRect/>
          </a:stretch>
        </p:blipFill>
        <p:spPr>
          <a:xfrm>
            <a:off x="10147097" y="2164385"/>
            <a:ext cx="608990" cy="608990"/>
          </a:xfrm>
          <a:prstGeom prst="rect">
            <a:avLst/>
          </a:prstGeom>
        </p:spPr>
      </p:pic>
      <p:sp>
        <p:nvSpPr>
          <p:cNvPr id="22" name="Text 16"/>
          <p:cNvSpPr/>
          <p:nvPr/>
        </p:nvSpPr>
        <p:spPr>
          <a:xfrm>
            <a:off x="9308592" y="3063240"/>
            <a:ext cx="22860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Back Office Operations</a:t>
            </a:r>
            <a:endParaRPr lang="en-US" sz="1400" dirty="0"/>
          </a:p>
        </p:txBody>
      </p:sp>
      <p:sp>
        <p:nvSpPr>
          <p:cNvPr id="23" name="Text 17"/>
          <p:cNvSpPr/>
          <p:nvPr/>
        </p:nvSpPr>
        <p:spPr>
          <a:xfrm>
            <a:off x="9326880" y="3657600"/>
            <a:ext cx="2249424" cy="1463040"/>
          </a:xfrm>
          <a:prstGeom prst="rect">
            <a:avLst/>
          </a:prstGeom>
          <a:noFill/>
          <a:ln/>
        </p:spPr>
        <p:txBody>
          <a:bodyPr wrap="square" lIns="0" tIns="0" rIns="0" bIns="0" rtlCol="0" anchor="ctr"/>
          <a:lstStyle/>
          <a:p>
            <a:pPr algn="ctr" indent="0" marL="0">
              <a:lnSpc>
                <a:spcPct val="115000"/>
              </a:lnSpc>
              <a:buNone/>
            </a:pPr>
            <a:r>
              <a:rPr lang="en-US" sz="1100" dirty="0">
                <a:solidFill>
                  <a:srgbClr val="CADCFC"/>
                </a:solidFill>
                <a:latin typeface="Calibri" pitchFamily="34" charset="0"/>
                <a:ea typeface="Calibri" pitchFamily="34" charset="-122"/>
                <a:cs typeface="Calibri" pitchFamily="34" charset="-120"/>
              </a:rPr>
              <a:t>Supporting internal processes such as finance, HR &amp; admin tasks.</a:t>
            </a:r>
            <a:endParaRPr lang="en-US" sz="110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PART 3 · IT ENABLED SERVICES</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Role of ITeS in Business</a:t>
            </a:r>
            <a:endParaRPr lang="en-US" sz="3200" dirty="0"/>
          </a:p>
        </p:txBody>
      </p:sp>
      <p:sp>
        <p:nvSpPr>
          <p:cNvPr id="4" name="Shape 2"/>
          <p:cNvSpPr/>
          <p:nvPr/>
        </p:nvSpPr>
        <p:spPr>
          <a:xfrm>
            <a:off x="640080" y="1874520"/>
            <a:ext cx="3383280" cy="361188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5" name="Shape 3"/>
          <p:cNvSpPr/>
          <p:nvPr/>
        </p:nvSpPr>
        <p:spPr>
          <a:xfrm>
            <a:off x="1874520" y="2240280"/>
            <a:ext cx="914400" cy="914400"/>
          </a:xfrm>
          <a:prstGeom prst="ellipse">
            <a:avLst/>
          </a:prstGeom>
          <a:solidFill>
            <a:srgbClr val="0E7C86"/>
          </a:solidFill>
          <a:ln/>
        </p:spPr>
      </p:sp>
      <p:pic>
        <p:nvPicPr>
          <p:cNvPr id="6" name="Image 0" descr="preencoded.png">    </p:cNvPr>
          <p:cNvPicPr>
            <a:picLocks noChangeAspect="1"/>
          </p:cNvPicPr>
          <p:nvPr/>
        </p:nvPicPr>
        <p:blipFill>
          <a:blip r:embed="rId1"/>
          <a:stretch>
            <a:fillRect/>
          </a:stretch>
        </p:blipFill>
        <p:spPr>
          <a:xfrm>
            <a:off x="1993392" y="2359152"/>
            <a:ext cx="676656" cy="676656"/>
          </a:xfrm>
          <a:prstGeom prst="rect">
            <a:avLst/>
          </a:prstGeom>
        </p:spPr>
      </p:pic>
      <p:sp>
        <p:nvSpPr>
          <p:cNvPr id="7" name="Text 4"/>
          <p:cNvSpPr/>
          <p:nvPr/>
        </p:nvSpPr>
        <p:spPr>
          <a:xfrm>
            <a:off x="914400" y="3291840"/>
            <a:ext cx="2834640" cy="457200"/>
          </a:xfrm>
          <a:prstGeom prst="rect">
            <a:avLst/>
          </a:prstGeom>
          <a:noFill/>
          <a:ln/>
        </p:spPr>
        <p:txBody>
          <a:bodyPr wrap="square" lIns="0" tIns="0" rIns="0" bIns="0" rtlCol="0" anchor="ctr"/>
          <a:lstStyle/>
          <a:p>
            <a:pPr algn="ctr" indent="0" marL="0">
              <a:buNone/>
            </a:pPr>
            <a:r>
              <a:rPr lang="en-US" sz="1700" b="1" dirty="0">
                <a:solidFill>
                  <a:srgbClr val="0B2545"/>
                </a:solidFill>
                <a:latin typeface="Cambria" pitchFamily="34" charset="0"/>
                <a:ea typeface="Cambria" pitchFamily="34" charset="-122"/>
                <a:cs typeface="Cambria" pitchFamily="34" charset="-120"/>
              </a:rPr>
              <a:t>Efficiency</a:t>
            </a:r>
            <a:endParaRPr lang="en-US" sz="1700" dirty="0"/>
          </a:p>
        </p:txBody>
      </p:sp>
      <p:sp>
        <p:nvSpPr>
          <p:cNvPr id="8" name="Text 5"/>
          <p:cNvSpPr/>
          <p:nvPr/>
        </p:nvSpPr>
        <p:spPr>
          <a:xfrm>
            <a:off x="960120" y="3840480"/>
            <a:ext cx="2743200" cy="146304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Improves the efficiency of business operations by outsourcing non-core functions — letting companies focus on core competencies.</a:t>
            </a:r>
            <a:endParaRPr lang="en-US" sz="1250" dirty="0"/>
          </a:p>
        </p:txBody>
      </p:sp>
      <p:sp>
        <p:nvSpPr>
          <p:cNvPr id="9" name="Shape 6"/>
          <p:cNvSpPr/>
          <p:nvPr/>
        </p:nvSpPr>
        <p:spPr>
          <a:xfrm>
            <a:off x="4343400" y="1874520"/>
            <a:ext cx="3383280" cy="361188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10" name="Shape 7"/>
          <p:cNvSpPr/>
          <p:nvPr/>
        </p:nvSpPr>
        <p:spPr>
          <a:xfrm>
            <a:off x="5577840" y="2240280"/>
            <a:ext cx="914400" cy="914400"/>
          </a:xfrm>
          <a:prstGeom prst="ellipse">
            <a:avLst/>
          </a:prstGeom>
          <a:solidFill>
            <a:srgbClr val="0E7C86"/>
          </a:solidFill>
          <a:ln/>
        </p:spPr>
      </p:sp>
      <p:pic>
        <p:nvPicPr>
          <p:cNvPr id="11" name="Image 1" descr="preencoded.png">    </p:cNvPr>
          <p:cNvPicPr>
            <a:picLocks noChangeAspect="1"/>
          </p:cNvPicPr>
          <p:nvPr/>
        </p:nvPicPr>
        <p:blipFill>
          <a:blip r:embed="rId2"/>
          <a:stretch>
            <a:fillRect/>
          </a:stretch>
        </p:blipFill>
        <p:spPr>
          <a:xfrm>
            <a:off x="5696712" y="2359152"/>
            <a:ext cx="676656" cy="676656"/>
          </a:xfrm>
          <a:prstGeom prst="rect">
            <a:avLst/>
          </a:prstGeom>
        </p:spPr>
      </p:pic>
      <p:sp>
        <p:nvSpPr>
          <p:cNvPr id="12" name="Text 8"/>
          <p:cNvSpPr/>
          <p:nvPr/>
        </p:nvSpPr>
        <p:spPr>
          <a:xfrm>
            <a:off x="4617720" y="3291840"/>
            <a:ext cx="2834640" cy="457200"/>
          </a:xfrm>
          <a:prstGeom prst="rect">
            <a:avLst/>
          </a:prstGeom>
          <a:noFill/>
          <a:ln/>
        </p:spPr>
        <p:txBody>
          <a:bodyPr wrap="square" lIns="0" tIns="0" rIns="0" bIns="0" rtlCol="0" anchor="ctr"/>
          <a:lstStyle/>
          <a:p>
            <a:pPr algn="ctr" indent="0" marL="0">
              <a:buNone/>
            </a:pPr>
            <a:r>
              <a:rPr lang="en-US" sz="1700" b="1" dirty="0">
                <a:solidFill>
                  <a:srgbClr val="0B2545"/>
                </a:solidFill>
                <a:latin typeface="Cambria" pitchFamily="34" charset="0"/>
                <a:ea typeface="Cambria" pitchFamily="34" charset="-122"/>
                <a:cs typeface="Cambria" pitchFamily="34" charset="-120"/>
              </a:rPr>
              <a:t>Cost Savings</a:t>
            </a:r>
            <a:endParaRPr lang="en-US" sz="1700" dirty="0"/>
          </a:p>
        </p:txBody>
      </p:sp>
      <p:sp>
        <p:nvSpPr>
          <p:cNvPr id="13" name="Text 9"/>
          <p:cNvSpPr/>
          <p:nvPr/>
        </p:nvSpPr>
        <p:spPr>
          <a:xfrm>
            <a:off x="4663440" y="3840480"/>
            <a:ext cx="2743200" cy="146304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Outsourcing ITeS functions leads to significant cost savings for businesses.</a:t>
            </a:r>
            <a:endParaRPr lang="en-US" sz="1250" dirty="0"/>
          </a:p>
        </p:txBody>
      </p:sp>
      <p:sp>
        <p:nvSpPr>
          <p:cNvPr id="14" name="Shape 10"/>
          <p:cNvSpPr/>
          <p:nvPr/>
        </p:nvSpPr>
        <p:spPr>
          <a:xfrm>
            <a:off x="8046720" y="1874520"/>
            <a:ext cx="3383280" cy="3611880"/>
          </a:xfrm>
          <a:prstGeom prst="roundRect">
            <a:avLst>
              <a:gd name="adj" fmla="val 2162"/>
            </a:avLst>
          </a:prstGeom>
          <a:solidFill>
            <a:srgbClr val="E6F4F3"/>
          </a:solidFill>
          <a:ln/>
          <a:effectLst>
            <a:outerShdw sx="100000" sy="100000" kx="0" ky="0" algn="bl" rotWithShape="0" blurRad="101600" dist="38100" dir="2700000">
              <a:srgbClr val="0B2545">
                <a:alpha val="15000"/>
              </a:srgbClr>
            </a:outerShdw>
          </a:effectLst>
        </p:spPr>
      </p:sp>
      <p:sp>
        <p:nvSpPr>
          <p:cNvPr id="15" name="Shape 11"/>
          <p:cNvSpPr/>
          <p:nvPr/>
        </p:nvSpPr>
        <p:spPr>
          <a:xfrm>
            <a:off x="9281160" y="2240280"/>
            <a:ext cx="914400" cy="914400"/>
          </a:xfrm>
          <a:prstGeom prst="ellipse">
            <a:avLst/>
          </a:prstGeom>
          <a:solidFill>
            <a:srgbClr val="0E7C86"/>
          </a:solidFill>
          <a:ln/>
        </p:spPr>
      </p:sp>
      <p:pic>
        <p:nvPicPr>
          <p:cNvPr id="16" name="Image 2" descr="preencoded.png">    </p:cNvPr>
          <p:cNvPicPr>
            <a:picLocks noChangeAspect="1"/>
          </p:cNvPicPr>
          <p:nvPr/>
        </p:nvPicPr>
        <p:blipFill>
          <a:blip r:embed="rId3"/>
          <a:stretch>
            <a:fillRect/>
          </a:stretch>
        </p:blipFill>
        <p:spPr>
          <a:xfrm>
            <a:off x="9400032" y="2359152"/>
            <a:ext cx="676656" cy="676656"/>
          </a:xfrm>
          <a:prstGeom prst="rect">
            <a:avLst/>
          </a:prstGeom>
        </p:spPr>
      </p:pic>
      <p:sp>
        <p:nvSpPr>
          <p:cNvPr id="17" name="Text 12"/>
          <p:cNvSpPr/>
          <p:nvPr/>
        </p:nvSpPr>
        <p:spPr>
          <a:xfrm>
            <a:off x="8321040" y="3291840"/>
            <a:ext cx="2834640" cy="457200"/>
          </a:xfrm>
          <a:prstGeom prst="rect">
            <a:avLst/>
          </a:prstGeom>
          <a:noFill/>
          <a:ln/>
        </p:spPr>
        <p:txBody>
          <a:bodyPr wrap="square" lIns="0" tIns="0" rIns="0" bIns="0" rtlCol="0" anchor="ctr"/>
          <a:lstStyle/>
          <a:p>
            <a:pPr algn="ctr" indent="0" marL="0">
              <a:buNone/>
            </a:pPr>
            <a:r>
              <a:rPr lang="en-US" sz="1700" b="1" dirty="0">
                <a:solidFill>
                  <a:srgbClr val="0B2545"/>
                </a:solidFill>
                <a:latin typeface="Cambria" pitchFamily="34" charset="0"/>
                <a:ea typeface="Cambria" pitchFamily="34" charset="-122"/>
                <a:cs typeface="Cambria" pitchFamily="34" charset="-120"/>
              </a:rPr>
              <a:t>Globalization</a:t>
            </a:r>
            <a:endParaRPr lang="en-US" sz="1700" dirty="0"/>
          </a:p>
        </p:txBody>
      </p:sp>
      <p:sp>
        <p:nvSpPr>
          <p:cNvPr id="18" name="Text 13"/>
          <p:cNvSpPr/>
          <p:nvPr/>
        </p:nvSpPr>
        <p:spPr>
          <a:xfrm>
            <a:off x="8366760" y="3840480"/>
            <a:ext cx="2743200" cy="146304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Allows companies to access a global talent pool, enabling them to operate at a larger scale.</a:t>
            </a:r>
            <a:endParaRPr lang="en-US" sz="1250" dirty="0"/>
          </a:p>
        </p:txBody>
      </p:sp>
      <p:sp>
        <p:nvSpPr>
          <p:cNvPr id="19" name="Text 14"/>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0" name="Text 1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13315C"/>
          </a:solidFill>
          <a:ln/>
        </p:spPr>
      </p:sp>
      <p:sp>
        <p:nvSpPr>
          <p:cNvPr id="3" name="Shape 1"/>
          <p:cNvSpPr/>
          <p:nvPr/>
        </p:nvSpPr>
        <p:spPr>
          <a:xfrm>
            <a:off x="-1645920" y="4572000"/>
            <a:ext cx="4114800" cy="4114800"/>
          </a:xfrm>
          <a:prstGeom prst="ellipse">
            <a:avLst/>
          </a:prstGeom>
          <a:solidFill>
            <a:srgbClr val="13315C"/>
          </a:solidFill>
          <a:ln/>
        </p:spPr>
      </p:sp>
      <p:sp>
        <p:nvSpPr>
          <p:cNvPr id="4" name="Shape 2"/>
          <p:cNvSpPr/>
          <p:nvPr/>
        </p:nvSpPr>
        <p:spPr>
          <a:xfrm>
            <a:off x="5532120" y="1965960"/>
            <a:ext cx="1097280" cy="1097280"/>
          </a:xfrm>
          <a:prstGeom prst="ellipse">
            <a:avLst/>
          </a:prstGeom>
          <a:solidFill>
            <a:srgbClr val="0E7C86"/>
          </a:solidFill>
          <a:ln/>
        </p:spPr>
      </p:sp>
      <p:pic>
        <p:nvPicPr>
          <p:cNvPr id="5" name="Image 0" descr="preencoded.png">    </p:cNvPr>
          <p:cNvPicPr>
            <a:picLocks noChangeAspect="1"/>
          </p:cNvPicPr>
          <p:nvPr/>
        </p:nvPicPr>
        <p:blipFill>
          <a:blip r:embed="rId1"/>
          <a:stretch>
            <a:fillRect/>
          </a:stretch>
        </p:blipFill>
        <p:spPr>
          <a:xfrm>
            <a:off x="5674766" y="2108606"/>
            <a:ext cx="811987" cy="811987"/>
          </a:xfrm>
          <a:prstGeom prst="rect">
            <a:avLst/>
          </a:prstGeom>
        </p:spPr>
      </p:pic>
      <p:sp>
        <p:nvSpPr>
          <p:cNvPr id="6" name="Text 3"/>
          <p:cNvSpPr/>
          <p:nvPr/>
        </p:nvSpPr>
        <p:spPr>
          <a:xfrm>
            <a:off x="0" y="3246120"/>
            <a:ext cx="12161520" cy="365760"/>
          </a:xfrm>
          <a:prstGeom prst="rect">
            <a:avLst/>
          </a:prstGeom>
          <a:noFill/>
          <a:ln/>
        </p:spPr>
        <p:txBody>
          <a:bodyPr wrap="square" lIns="0" tIns="0" rIns="0" bIns="0" rtlCol="0" anchor="ctr"/>
          <a:lstStyle/>
          <a:p>
            <a:pPr algn="ctr" indent="0" marL="0">
              <a:buNone/>
            </a:pPr>
            <a:r>
              <a:rPr lang="en-US" sz="1300" b="1" spc="300" kern="0" dirty="0">
                <a:solidFill>
                  <a:srgbClr val="CADCFC"/>
                </a:solidFill>
                <a:latin typeface="Calibri" pitchFamily="34" charset="0"/>
                <a:ea typeface="Calibri" pitchFamily="34" charset="-122"/>
                <a:cs typeface="Calibri" pitchFamily="34" charset="-120"/>
              </a:rPr>
              <a:t>PRACTICE &amp; ASSESSMENT</a:t>
            </a:r>
            <a:endParaRPr lang="en-US" sz="1300" dirty="0"/>
          </a:p>
        </p:txBody>
      </p:sp>
      <p:sp>
        <p:nvSpPr>
          <p:cNvPr id="7" name="Text 4"/>
          <p:cNvSpPr/>
          <p:nvPr/>
        </p:nvSpPr>
        <p:spPr>
          <a:xfrm>
            <a:off x="0" y="3611880"/>
            <a:ext cx="1216152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Intellectual Skill Sheet</a:t>
            </a:r>
            <a:endParaRPr lang="en-US" sz="4000" dirty="0"/>
          </a:p>
        </p:txBody>
      </p:sp>
      <p:sp>
        <p:nvSpPr>
          <p:cNvPr id="8" name="Text 5"/>
          <p:cNvSpPr/>
          <p:nvPr/>
        </p:nvSpPr>
        <p:spPr>
          <a:xfrm>
            <a:off x="1508760" y="4526280"/>
            <a:ext cx="9144000" cy="457200"/>
          </a:xfrm>
          <a:prstGeom prst="rect">
            <a:avLst/>
          </a:prstGeom>
          <a:noFill/>
          <a:ln/>
        </p:spPr>
        <p:txBody>
          <a:bodyPr wrap="square" lIns="0" tIns="0" rIns="0" bIns="0" rtlCol="0" anchor="ctr"/>
          <a:lstStyle/>
          <a:p>
            <a:pPr algn="ctr" indent="0" marL="0">
              <a:buNone/>
            </a:pPr>
            <a:r>
              <a:rPr lang="en-US" sz="1350" i="1" dirty="0">
                <a:solidFill>
                  <a:srgbClr val="0E7C86"/>
                </a:solidFill>
                <a:latin typeface="Calibri" pitchFamily="34" charset="0"/>
                <a:ea typeface="Calibri" pitchFamily="34" charset="-122"/>
                <a:cs typeface="Calibri" pitchFamily="34" charset="-120"/>
              </a:rPr>
              <a:t>Multiple Choice · Fill in the Blanks · True or False · Short Answers — with complete answer keys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SKILL SHEET · SECTION A</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Multiple Choice Questions</a:t>
            </a:r>
            <a:endParaRPr lang="en-US" sz="3200" dirty="0"/>
          </a:p>
        </p:txBody>
      </p:sp>
      <p:sp>
        <p:nvSpPr>
          <p:cNvPr id="4" name="Shape 2"/>
          <p:cNvSpPr/>
          <p:nvPr/>
        </p:nvSpPr>
        <p:spPr>
          <a:xfrm>
            <a:off x="640080" y="1645920"/>
            <a:ext cx="10881360" cy="896112"/>
          </a:xfrm>
          <a:prstGeom prst="roundRect">
            <a:avLst>
              <a:gd name="adj" fmla="val 6122"/>
            </a:avLst>
          </a:prstGeom>
          <a:solidFill>
            <a:srgbClr val="E6F4F3"/>
          </a:solidFill>
          <a:ln/>
        </p:spPr>
      </p:sp>
      <p:sp>
        <p:nvSpPr>
          <p:cNvPr id="5" name="Text 3"/>
          <p:cNvSpPr/>
          <p:nvPr/>
        </p:nvSpPr>
        <p:spPr>
          <a:xfrm>
            <a:off x="868680" y="1719072"/>
            <a:ext cx="10424160"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1. The Key Components of ICT are __________.</a:t>
            </a:r>
            <a:endParaRPr lang="en-US" sz="1250" dirty="0"/>
          </a:p>
        </p:txBody>
      </p:sp>
      <p:sp>
        <p:nvSpPr>
          <p:cNvPr id="6" name="Text 4"/>
          <p:cNvSpPr/>
          <p:nvPr/>
        </p:nvSpPr>
        <p:spPr>
          <a:xfrm>
            <a:off x="868680" y="2103120"/>
            <a:ext cx="10424160" cy="347472"/>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 Hardware   b. Software   c. Networking   d. All of these</a:t>
            </a:r>
            <a:endParaRPr lang="en-US" sz="1150" dirty="0"/>
          </a:p>
        </p:txBody>
      </p:sp>
      <p:sp>
        <p:nvSpPr>
          <p:cNvPr id="7" name="Shape 5"/>
          <p:cNvSpPr/>
          <p:nvPr/>
        </p:nvSpPr>
        <p:spPr>
          <a:xfrm>
            <a:off x="640080" y="2651760"/>
            <a:ext cx="10881360" cy="896112"/>
          </a:xfrm>
          <a:prstGeom prst="roundRect">
            <a:avLst>
              <a:gd name="adj" fmla="val 6122"/>
            </a:avLst>
          </a:prstGeom>
          <a:solidFill>
            <a:srgbClr val="E6F4F3"/>
          </a:solidFill>
          <a:ln/>
        </p:spPr>
      </p:sp>
      <p:sp>
        <p:nvSpPr>
          <p:cNvPr id="8" name="Text 6"/>
          <p:cNvSpPr/>
          <p:nvPr/>
        </p:nvSpPr>
        <p:spPr>
          <a:xfrm>
            <a:off x="868680" y="2724912"/>
            <a:ext cx="10424160"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2. Information Technology is used in _____________.</a:t>
            </a:r>
            <a:endParaRPr lang="en-US" sz="1250" dirty="0"/>
          </a:p>
        </p:txBody>
      </p:sp>
      <p:sp>
        <p:nvSpPr>
          <p:cNvPr id="9" name="Text 7"/>
          <p:cNvSpPr/>
          <p:nvPr/>
        </p:nvSpPr>
        <p:spPr>
          <a:xfrm>
            <a:off x="868680" y="3108960"/>
            <a:ext cx="10424160" cy="347472"/>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 Cyber Security   b. E-Commerce   c. Health Care   d. All of these</a:t>
            </a:r>
            <a:endParaRPr lang="en-US" sz="1150" dirty="0"/>
          </a:p>
        </p:txBody>
      </p:sp>
      <p:sp>
        <p:nvSpPr>
          <p:cNvPr id="10" name="Shape 8"/>
          <p:cNvSpPr/>
          <p:nvPr/>
        </p:nvSpPr>
        <p:spPr>
          <a:xfrm>
            <a:off x="640080" y="3657600"/>
            <a:ext cx="10881360" cy="896112"/>
          </a:xfrm>
          <a:prstGeom prst="roundRect">
            <a:avLst>
              <a:gd name="adj" fmla="val 6122"/>
            </a:avLst>
          </a:prstGeom>
          <a:solidFill>
            <a:srgbClr val="E6F4F3"/>
          </a:solidFill>
          <a:ln/>
        </p:spPr>
      </p:sp>
      <p:sp>
        <p:nvSpPr>
          <p:cNvPr id="11" name="Text 9"/>
          <p:cNvSpPr/>
          <p:nvPr/>
        </p:nvSpPr>
        <p:spPr>
          <a:xfrm>
            <a:off x="868680" y="3730752"/>
            <a:ext cx="10424160"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3. Which of the following are the categories of ITeS?</a:t>
            </a:r>
            <a:endParaRPr lang="en-US" sz="1250" dirty="0"/>
          </a:p>
        </p:txBody>
      </p:sp>
      <p:sp>
        <p:nvSpPr>
          <p:cNvPr id="12" name="Text 10"/>
          <p:cNvSpPr/>
          <p:nvPr/>
        </p:nvSpPr>
        <p:spPr>
          <a:xfrm>
            <a:off x="868680" y="4114800"/>
            <a:ext cx="10424160" cy="347472"/>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 BPO   b. BPM   c. MNC   d. ISP</a:t>
            </a:r>
            <a:endParaRPr lang="en-US" sz="1150" dirty="0"/>
          </a:p>
        </p:txBody>
      </p:sp>
      <p:sp>
        <p:nvSpPr>
          <p:cNvPr id="13" name="Shape 11"/>
          <p:cNvSpPr/>
          <p:nvPr/>
        </p:nvSpPr>
        <p:spPr>
          <a:xfrm>
            <a:off x="640080" y="4663440"/>
            <a:ext cx="10881360" cy="896112"/>
          </a:xfrm>
          <a:prstGeom prst="roundRect">
            <a:avLst>
              <a:gd name="adj" fmla="val 6122"/>
            </a:avLst>
          </a:prstGeom>
          <a:solidFill>
            <a:srgbClr val="E6F4F3"/>
          </a:solidFill>
          <a:ln/>
        </p:spPr>
      </p:sp>
      <p:sp>
        <p:nvSpPr>
          <p:cNvPr id="14" name="Text 12"/>
          <p:cNvSpPr/>
          <p:nvPr/>
        </p:nvSpPr>
        <p:spPr>
          <a:xfrm>
            <a:off x="868680" y="4736592"/>
            <a:ext cx="10424160"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4. The skills required in ITeS are ___________.</a:t>
            </a:r>
            <a:endParaRPr lang="en-US" sz="1250" dirty="0"/>
          </a:p>
        </p:txBody>
      </p:sp>
      <p:sp>
        <p:nvSpPr>
          <p:cNvPr id="15" name="Text 13"/>
          <p:cNvSpPr/>
          <p:nvPr/>
        </p:nvSpPr>
        <p:spPr>
          <a:xfrm>
            <a:off x="868680" y="5120640"/>
            <a:ext cx="10424160" cy="347472"/>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 Problem Solving   b. Technical Proficiency   c. Communication Skills   d. All of these</a:t>
            </a:r>
            <a:endParaRPr lang="en-US" sz="1150" dirty="0"/>
          </a:p>
        </p:txBody>
      </p:sp>
      <p:sp>
        <p:nvSpPr>
          <p:cNvPr id="16" name="Shape 14"/>
          <p:cNvSpPr/>
          <p:nvPr/>
        </p:nvSpPr>
        <p:spPr>
          <a:xfrm>
            <a:off x="640080" y="5669280"/>
            <a:ext cx="10881360" cy="896112"/>
          </a:xfrm>
          <a:prstGeom prst="roundRect">
            <a:avLst>
              <a:gd name="adj" fmla="val 6122"/>
            </a:avLst>
          </a:prstGeom>
          <a:solidFill>
            <a:srgbClr val="E6F4F3"/>
          </a:solidFill>
          <a:ln/>
        </p:spPr>
      </p:sp>
      <p:sp>
        <p:nvSpPr>
          <p:cNvPr id="17" name="Text 15"/>
          <p:cNvSpPr/>
          <p:nvPr/>
        </p:nvSpPr>
        <p:spPr>
          <a:xfrm>
            <a:off x="868680" y="5742432"/>
            <a:ext cx="10424160" cy="36576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5. Outsourced services focusing on knowledge-based activities like data analytics, marketing research etc. are known as</a:t>
            </a:r>
            <a:endParaRPr lang="en-US" sz="1250" dirty="0"/>
          </a:p>
        </p:txBody>
      </p:sp>
      <p:sp>
        <p:nvSpPr>
          <p:cNvPr id="18" name="Text 16"/>
          <p:cNvSpPr/>
          <p:nvPr/>
        </p:nvSpPr>
        <p:spPr>
          <a:xfrm>
            <a:off x="868680" y="6126480"/>
            <a:ext cx="10424160" cy="347472"/>
          </a:xfrm>
          <a:prstGeom prst="rect">
            <a:avLst/>
          </a:prstGeom>
          <a:noFill/>
          <a:ln/>
        </p:spPr>
        <p:txBody>
          <a:bodyPr wrap="square" lIns="0" tIns="0" rIns="0" bIns="0" rtlCol="0" anchor="ctr"/>
          <a:lstStyle/>
          <a:p>
            <a:pPr indent="0" marL="0">
              <a:buNone/>
            </a:pPr>
            <a:r>
              <a:rPr lang="en-US" sz="1150" dirty="0">
                <a:solidFill>
                  <a:srgbClr val="5B6B7C"/>
                </a:solidFill>
                <a:latin typeface="Calibri" pitchFamily="34" charset="0"/>
                <a:ea typeface="Calibri" pitchFamily="34" charset="-122"/>
                <a:cs typeface="Calibri" pitchFamily="34" charset="-120"/>
              </a:rPr>
              <a:t>a. BPO   b. RPO   c. KPO   d. CRM</a:t>
            </a:r>
            <a:endParaRPr lang="en-US" sz="115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0"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SKILL SHEET · SECTION B &amp; C</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Fill in the Blanks  &amp;  True or False</a:t>
            </a:r>
            <a:endParaRPr lang="en-US" sz="3200" dirty="0"/>
          </a:p>
        </p:txBody>
      </p:sp>
      <p:sp>
        <p:nvSpPr>
          <p:cNvPr id="4" name="Text 2"/>
          <p:cNvSpPr/>
          <p:nvPr/>
        </p:nvSpPr>
        <p:spPr>
          <a:xfrm>
            <a:off x="640080" y="1600200"/>
            <a:ext cx="5486400" cy="292608"/>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FILL IN THE BLANKS</a:t>
            </a:r>
            <a:endParaRPr lang="en-US" sz="1200" dirty="0"/>
          </a:p>
        </p:txBody>
      </p:sp>
      <p:sp>
        <p:nvSpPr>
          <p:cNvPr id="5" name="Text 3"/>
          <p:cNvSpPr/>
          <p:nvPr/>
        </p:nvSpPr>
        <p:spPr>
          <a:xfrm>
            <a:off x="640080" y="1938528"/>
            <a:ext cx="5577840" cy="2011680"/>
          </a:xfrm>
          <a:prstGeom prst="rect">
            <a:avLst/>
          </a:prstGeom>
          <a:noFill/>
          <a:ln/>
        </p:spPr>
        <p:txBody>
          <a:bodyPr wrap="square" lIns="0" tIns="0" rIns="0" bIns="0" rtlCol="0" anchor="ctr"/>
          <a:lstStyle/>
          <a:p>
            <a:pPr indent="0" marL="0">
              <a:lnSpc>
                <a:spcPct val="115000"/>
              </a:lnSpc>
              <a:spcAft>
                <a:spcPts val="1000"/>
              </a:spcAft>
              <a:buNone/>
            </a:pPr>
            <a:r>
              <a:rPr lang="en-US" sz="1200" dirty="0">
                <a:solidFill>
                  <a:srgbClr val="1E293B"/>
                </a:solidFill>
                <a:latin typeface="Calibri" pitchFamily="34" charset="0"/>
                <a:ea typeface="Calibri" pitchFamily="34" charset="-122"/>
                <a:cs typeface="Calibri" pitchFamily="34" charset="-120"/>
              </a:rPr>
              <a:t>1. The full form of ITeS is _____________________________.</a:t>
            </a:r>
            <a:endParaRPr lang="en-US" sz="1200" dirty="0"/>
          </a:p>
          <a:p>
            <a:pPr indent="0" marL="0">
              <a:lnSpc>
                <a:spcPct val="115000"/>
              </a:lnSpc>
              <a:spcAft>
                <a:spcPts val="1000"/>
              </a:spcAft>
              <a:buNone/>
            </a:pPr>
            <a:r>
              <a:rPr lang="en-US" sz="1200" dirty="0">
                <a:solidFill>
                  <a:srgbClr val="1E293B"/>
                </a:solidFill>
                <a:latin typeface="Calibri" pitchFamily="34" charset="0"/>
                <a:ea typeface="Calibri" pitchFamily="34" charset="-122"/>
                <a:cs typeface="Calibri" pitchFamily="34" charset="-120"/>
              </a:rPr>
              <a:t>2. _________________ plays an important role in both medical sciences and Health Care.</a:t>
            </a:r>
            <a:endParaRPr lang="en-US" sz="1200" dirty="0"/>
          </a:p>
          <a:p>
            <a:pPr indent="0" marL="0">
              <a:lnSpc>
                <a:spcPct val="115000"/>
              </a:lnSpc>
              <a:spcAft>
                <a:spcPts val="1000"/>
              </a:spcAft>
              <a:buNone/>
            </a:pPr>
            <a:r>
              <a:rPr lang="en-US" sz="1200" dirty="0">
                <a:solidFill>
                  <a:srgbClr val="1E293B"/>
                </a:solidFill>
                <a:latin typeface="Calibri" pitchFamily="34" charset="0"/>
                <a:ea typeface="Calibri" pitchFamily="34" charset="-122"/>
                <a:cs typeface="Calibri" pitchFamily="34" charset="-120"/>
              </a:rPr>
              <a:t>3. _________________ equips students with essential skills to contribute efficiently to the digital age.</a:t>
            </a:r>
            <a:endParaRPr lang="en-US" sz="1200" dirty="0"/>
          </a:p>
          <a:p>
            <a:pPr indent="0" marL="0">
              <a:lnSpc>
                <a:spcPct val="115000"/>
              </a:lnSpc>
              <a:spcAft>
                <a:spcPts val="1000"/>
              </a:spcAft>
              <a:buNone/>
            </a:pPr>
            <a:r>
              <a:rPr lang="en-US" sz="1200" dirty="0">
                <a:solidFill>
                  <a:srgbClr val="1E293B"/>
                </a:solidFill>
                <a:latin typeface="Calibri" pitchFamily="34" charset="0"/>
                <a:ea typeface="Calibri" pitchFamily="34" charset="-122"/>
                <a:cs typeface="Calibri" pitchFamily="34" charset="-120"/>
              </a:rPr>
              <a:t>4. The full form of BPO is ______________________________.</a:t>
            </a:r>
            <a:endParaRPr lang="en-US" sz="1200" dirty="0"/>
          </a:p>
          <a:p>
            <a:pPr indent="0" marL="0">
              <a:lnSpc>
                <a:spcPct val="115000"/>
              </a:lnSpc>
              <a:spcAft>
                <a:spcPts val="1000"/>
              </a:spcAft>
              <a:buNone/>
            </a:pPr>
            <a:r>
              <a:rPr lang="en-US" sz="1200" dirty="0">
                <a:solidFill>
                  <a:srgbClr val="1E293B"/>
                </a:solidFill>
                <a:latin typeface="Calibri" pitchFamily="34" charset="0"/>
                <a:ea typeface="Calibri" pitchFamily="34" charset="-122"/>
                <a:cs typeface="Calibri" pitchFamily="34" charset="-120"/>
              </a:rPr>
              <a:t>5. ______________________ is the backbone of modern banking.</a:t>
            </a:r>
            <a:endParaRPr lang="en-US" sz="1200" dirty="0"/>
          </a:p>
        </p:txBody>
      </p:sp>
      <p:sp>
        <p:nvSpPr>
          <p:cNvPr id="6" name="Shape 4"/>
          <p:cNvSpPr/>
          <p:nvPr/>
        </p:nvSpPr>
        <p:spPr>
          <a:xfrm>
            <a:off x="6537960" y="1691640"/>
            <a:ext cx="0" cy="4480560"/>
          </a:xfrm>
          <a:prstGeom prst="line">
            <a:avLst/>
          </a:prstGeom>
          <a:noFill/>
          <a:ln w="15875">
            <a:solidFill>
              <a:srgbClr val="DCE7E6"/>
            </a:solidFill>
            <a:prstDash val="solid"/>
          </a:ln>
        </p:spPr>
      </p:sp>
      <p:sp>
        <p:nvSpPr>
          <p:cNvPr id="7" name="Text 5"/>
          <p:cNvSpPr/>
          <p:nvPr/>
        </p:nvSpPr>
        <p:spPr>
          <a:xfrm>
            <a:off x="6858000" y="1600200"/>
            <a:ext cx="4572000" cy="292608"/>
          </a:xfrm>
          <a:prstGeom prst="rect">
            <a:avLst/>
          </a:prstGeom>
          <a:noFill/>
          <a:ln/>
        </p:spPr>
        <p:txBody>
          <a:bodyPr wrap="square" lIns="0" tIns="0" rIns="0" bIns="0" rtlCol="0" anchor="ctr"/>
          <a:lstStyle/>
          <a:p>
            <a:pPr indent="0" marL="0">
              <a:buNone/>
            </a:pPr>
            <a:r>
              <a:rPr lang="en-US" sz="1200" b="1" spc="150" kern="0" dirty="0">
                <a:solidFill>
                  <a:srgbClr val="0E7C86"/>
                </a:solidFill>
                <a:latin typeface="Calibri" pitchFamily="34" charset="0"/>
                <a:ea typeface="Calibri" pitchFamily="34" charset="-122"/>
                <a:cs typeface="Calibri" pitchFamily="34" charset="-120"/>
              </a:rPr>
              <a:t>TRUE OR FALSE</a:t>
            </a:r>
            <a:endParaRPr lang="en-US" sz="1200" dirty="0"/>
          </a:p>
        </p:txBody>
      </p:sp>
      <p:sp>
        <p:nvSpPr>
          <p:cNvPr id="8" name="Text 6"/>
          <p:cNvSpPr/>
          <p:nvPr/>
        </p:nvSpPr>
        <p:spPr>
          <a:xfrm>
            <a:off x="6858000" y="1938528"/>
            <a:ext cx="4663440" cy="2743200"/>
          </a:xfrm>
          <a:prstGeom prst="rect">
            <a:avLst/>
          </a:prstGeom>
          <a:noFill/>
          <a:ln/>
        </p:spPr>
        <p:txBody>
          <a:bodyPr wrap="square" lIns="0" tIns="0" rIns="0" bIns="0" rtlCol="0" anchor="ctr"/>
          <a:lstStyle/>
          <a:p>
            <a:pPr indent="0" marL="0">
              <a:lnSpc>
                <a:spcPct val="115000"/>
              </a:lnSpc>
              <a:spcAft>
                <a:spcPts val="1600"/>
              </a:spcAft>
              <a:buNone/>
            </a:pPr>
            <a:r>
              <a:rPr lang="en-US" sz="1200" dirty="0">
                <a:solidFill>
                  <a:srgbClr val="1E293B"/>
                </a:solidFill>
                <a:latin typeface="Calibri" pitchFamily="34" charset="0"/>
                <a:ea typeface="Calibri" pitchFamily="34" charset="-122"/>
                <a:cs typeface="Calibri" pitchFamily="34" charset="-120"/>
              </a:rPr>
              <a:t>1. Information Technology (IT) means creating, managing, storing and exchanging information.</a:t>
            </a:r>
            <a:endParaRPr lang="en-US" sz="1200" dirty="0"/>
          </a:p>
          <a:p>
            <a:pPr indent="0" marL="0">
              <a:lnSpc>
                <a:spcPct val="115000"/>
              </a:lnSpc>
              <a:spcAft>
                <a:spcPts val="1600"/>
              </a:spcAft>
              <a:buNone/>
            </a:pPr>
            <a:r>
              <a:rPr lang="en-US" sz="1200" dirty="0">
                <a:solidFill>
                  <a:srgbClr val="1E293B"/>
                </a:solidFill>
                <a:latin typeface="Calibri" pitchFamily="34" charset="0"/>
                <a:ea typeface="Calibri" pitchFamily="34" charset="-122"/>
                <a:cs typeface="Calibri" pitchFamily="34" charset="-120"/>
              </a:rPr>
              <a:t>2. ICT stands for Information Communication and Technology.</a:t>
            </a:r>
            <a:endParaRPr lang="en-US" sz="1200" dirty="0"/>
          </a:p>
          <a:p>
            <a:pPr indent="0" marL="0">
              <a:lnSpc>
                <a:spcPct val="115000"/>
              </a:lnSpc>
              <a:spcAft>
                <a:spcPts val="1600"/>
              </a:spcAft>
              <a:buNone/>
            </a:pPr>
            <a:r>
              <a:rPr lang="en-US" sz="1200" dirty="0">
                <a:solidFill>
                  <a:srgbClr val="1E293B"/>
                </a:solidFill>
                <a:latin typeface="Calibri" pitchFamily="34" charset="0"/>
                <a:ea typeface="Calibri" pitchFamily="34" charset="-122"/>
                <a:cs typeface="Calibri" pitchFamily="34" charset="-120"/>
              </a:rPr>
              <a:t>3. Information Technology is not a subset of ICT.</a:t>
            </a:r>
            <a:endParaRPr lang="en-US" sz="1200" dirty="0"/>
          </a:p>
        </p:txBody>
      </p:sp>
      <p:sp>
        <p:nvSpPr>
          <p:cNvPr id="9" name="Shape 7"/>
          <p:cNvSpPr/>
          <p:nvPr/>
        </p:nvSpPr>
        <p:spPr>
          <a:xfrm>
            <a:off x="640080" y="4251960"/>
            <a:ext cx="5577840" cy="1920240"/>
          </a:xfrm>
          <a:prstGeom prst="roundRect">
            <a:avLst>
              <a:gd name="adj" fmla="val 3333"/>
            </a:avLst>
          </a:prstGeom>
          <a:solidFill>
            <a:srgbClr val="E6F4F3"/>
          </a:solidFill>
          <a:ln/>
        </p:spPr>
      </p:sp>
      <p:sp>
        <p:nvSpPr>
          <p:cNvPr id="10" name="Text 8"/>
          <p:cNvSpPr/>
          <p:nvPr/>
        </p:nvSpPr>
        <p:spPr>
          <a:xfrm>
            <a:off x="868680" y="4434840"/>
            <a:ext cx="5120640" cy="1554480"/>
          </a:xfrm>
          <a:prstGeom prst="rect">
            <a:avLst/>
          </a:prstGeom>
          <a:noFill/>
          <a:ln/>
        </p:spPr>
        <p:txBody>
          <a:bodyPr wrap="square" lIns="0" tIns="0" rIns="0" bIns="0" rtlCol="0" anchor="ctr"/>
          <a:lstStyle/>
          <a:p>
            <a:pPr indent="0" marL="0">
              <a:lnSpc>
                <a:spcPct val="120000"/>
              </a:lnSpc>
              <a:buNone/>
            </a:pPr>
            <a:r>
              <a:rPr lang="en-US" sz="1150" i="1" dirty="0">
                <a:solidFill>
                  <a:srgbClr val="0B2545"/>
                </a:solidFill>
                <a:latin typeface="Calibri" pitchFamily="34" charset="0"/>
                <a:ea typeface="Calibri" pitchFamily="34" charset="-122"/>
                <a:cs typeface="Calibri" pitchFamily="34" charset="-120"/>
              </a:rPr>
              <a:t>Tip: read each ICT / IT / ITeS definition from the earlier slides carefully — every blank maps directly back to a definition you've already seen.</a:t>
            </a:r>
            <a:endParaRPr lang="en-US" sz="1150" dirty="0"/>
          </a:p>
        </p:txBody>
      </p:sp>
      <p:sp>
        <p:nvSpPr>
          <p:cNvPr id="11" name="Text 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12" name="Text 10"/>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SKILL SHEET · SECTION D</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Answer the Following Questions</a:t>
            </a:r>
            <a:endParaRPr lang="en-US" sz="3200" dirty="0"/>
          </a:p>
        </p:txBody>
      </p:sp>
      <p:sp>
        <p:nvSpPr>
          <p:cNvPr id="4" name="Shape 2"/>
          <p:cNvSpPr/>
          <p:nvPr/>
        </p:nvSpPr>
        <p:spPr>
          <a:xfrm>
            <a:off x="640080" y="1828800"/>
            <a:ext cx="457200" cy="457200"/>
          </a:xfrm>
          <a:prstGeom prst="ellipse">
            <a:avLst/>
          </a:prstGeom>
          <a:solidFill>
            <a:srgbClr val="0E7C86"/>
          </a:solidFill>
          <a:ln/>
        </p:spPr>
      </p:sp>
      <p:sp>
        <p:nvSpPr>
          <p:cNvPr id="5" name="Text 3"/>
          <p:cNvSpPr/>
          <p:nvPr/>
        </p:nvSpPr>
        <p:spPr>
          <a:xfrm>
            <a:off x="640080" y="1828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280160" y="1783080"/>
            <a:ext cx="98755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is ITeS?</a:t>
            </a:r>
            <a:endParaRPr lang="en-US" sz="1500" dirty="0"/>
          </a:p>
        </p:txBody>
      </p:sp>
      <p:sp>
        <p:nvSpPr>
          <p:cNvPr id="7" name="Shape 5"/>
          <p:cNvSpPr/>
          <p:nvPr/>
        </p:nvSpPr>
        <p:spPr>
          <a:xfrm>
            <a:off x="640080" y="2606040"/>
            <a:ext cx="457200" cy="457200"/>
          </a:xfrm>
          <a:prstGeom prst="ellipse">
            <a:avLst/>
          </a:prstGeom>
          <a:solidFill>
            <a:srgbClr val="0E7C86"/>
          </a:solidFill>
          <a:ln/>
        </p:spPr>
      </p:sp>
      <p:sp>
        <p:nvSpPr>
          <p:cNvPr id="8" name="Text 6"/>
          <p:cNvSpPr/>
          <p:nvPr/>
        </p:nvSpPr>
        <p:spPr>
          <a:xfrm>
            <a:off x="640080" y="2606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1280160" y="2560320"/>
            <a:ext cx="98755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List some applications of IT.</a:t>
            </a:r>
            <a:endParaRPr lang="en-US" sz="1500" dirty="0"/>
          </a:p>
        </p:txBody>
      </p:sp>
      <p:sp>
        <p:nvSpPr>
          <p:cNvPr id="10" name="Shape 8"/>
          <p:cNvSpPr/>
          <p:nvPr/>
        </p:nvSpPr>
        <p:spPr>
          <a:xfrm>
            <a:off x="640080" y="3383280"/>
            <a:ext cx="457200" cy="457200"/>
          </a:xfrm>
          <a:prstGeom prst="ellipse">
            <a:avLst/>
          </a:prstGeom>
          <a:solidFill>
            <a:srgbClr val="0E7C86"/>
          </a:solidFill>
          <a:ln/>
        </p:spPr>
      </p:sp>
      <p:sp>
        <p:nvSpPr>
          <p:cNvPr id="11" name="Text 9"/>
          <p:cNvSpPr/>
          <p:nvPr/>
        </p:nvSpPr>
        <p:spPr>
          <a:xfrm>
            <a:off x="640080" y="3383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1280160" y="3337560"/>
            <a:ext cx="98755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How is IT useful in home computing?</a:t>
            </a:r>
            <a:endParaRPr lang="en-US" sz="1500" dirty="0"/>
          </a:p>
        </p:txBody>
      </p:sp>
      <p:sp>
        <p:nvSpPr>
          <p:cNvPr id="13" name="Shape 11"/>
          <p:cNvSpPr/>
          <p:nvPr/>
        </p:nvSpPr>
        <p:spPr>
          <a:xfrm>
            <a:off x="640080" y="4160520"/>
            <a:ext cx="457200" cy="457200"/>
          </a:xfrm>
          <a:prstGeom prst="ellipse">
            <a:avLst/>
          </a:prstGeom>
          <a:solidFill>
            <a:srgbClr val="0E7C86"/>
          </a:solidFill>
          <a:ln/>
        </p:spPr>
      </p:sp>
      <p:sp>
        <p:nvSpPr>
          <p:cNvPr id="14" name="Text 12"/>
          <p:cNvSpPr/>
          <p:nvPr/>
        </p:nvSpPr>
        <p:spPr>
          <a:xfrm>
            <a:off x="640080" y="4160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1280160" y="4114800"/>
            <a:ext cx="98755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What is the role of ITeS in business?</a:t>
            </a:r>
            <a:endParaRPr lang="en-US" sz="1500" dirty="0"/>
          </a:p>
        </p:txBody>
      </p:sp>
      <p:sp>
        <p:nvSpPr>
          <p:cNvPr id="16" name="Shape 14"/>
          <p:cNvSpPr/>
          <p:nvPr/>
        </p:nvSpPr>
        <p:spPr>
          <a:xfrm>
            <a:off x="640080" y="4937760"/>
            <a:ext cx="457200" cy="457200"/>
          </a:xfrm>
          <a:prstGeom prst="ellipse">
            <a:avLst/>
          </a:prstGeom>
          <a:solidFill>
            <a:srgbClr val="0E7C86"/>
          </a:solidFill>
          <a:ln/>
        </p:spPr>
      </p:sp>
      <p:sp>
        <p:nvSpPr>
          <p:cNvPr id="17" name="Text 15"/>
          <p:cNvSpPr/>
          <p:nvPr/>
        </p:nvSpPr>
        <p:spPr>
          <a:xfrm>
            <a:off x="640080" y="4937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p:nvPr/>
        </p:nvSpPr>
        <p:spPr>
          <a:xfrm>
            <a:off x="1280160" y="4892040"/>
            <a:ext cx="9875520" cy="54864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How are IT and ITeS interrelated?</a:t>
            </a:r>
            <a:endParaRPr lang="en-US" sz="150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0"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E7A335"/>
                </a:solidFill>
                <a:latin typeface="Calibri" pitchFamily="34" charset="0"/>
                <a:ea typeface="Calibri" pitchFamily="34" charset="-122"/>
                <a:cs typeface="Calibri" pitchFamily="34" charset="-120"/>
              </a:rPr>
              <a:t>SKILL SHEET KEY · SECTION A</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 Key — Multiple Choice</a:t>
            </a:r>
            <a:endParaRPr lang="en-US" sz="3000" dirty="0"/>
          </a:p>
        </p:txBody>
      </p:sp>
      <p:sp>
        <p:nvSpPr>
          <p:cNvPr id="4" name="Shape 2"/>
          <p:cNvSpPr/>
          <p:nvPr/>
        </p:nvSpPr>
        <p:spPr>
          <a:xfrm>
            <a:off x="640080" y="1691640"/>
            <a:ext cx="10881360" cy="822960"/>
          </a:xfrm>
          <a:prstGeom prst="roundRect">
            <a:avLst>
              <a:gd name="adj" fmla="val 6667"/>
            </a:avLst>
          </a:prstGeom>
          <a:solidFill>
            <a:srgbClr val="13315C"/>
          </a:solidFill>
          <a:ln/>
        </p:spPr>
      </p:sp>
      <p:sp>
        <p:nvSpPr>
          <p:cNvPr id="5" name="Text 3"/>
          <p:cNvSpPr/>
          <p:nvPr/>
        </p:nvSpPr>
        <p:spPr>
          <a:xfrm>
            <a:off x="868680" y="1691640"/>
            <a:ext cx="740664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1. Key Components of ICT are __________.</a:t>
            </a:r>
            <a:endParaRPr lang="en-US" sz="1300" dirty="0"/>
          </a:p>
        </p:txBody>
      </p:sp>
      <p:sp>
        <p:nvSpPr>
          <p:cNvPr id="6" name="Shape 4"/>
          <p:cNvSpPr/>
          <p:nvPr/>
        </p:nvSpPr>
        <p:spPr>
          <a:xfrm>
            <a:off x="8503920" y="1828800"/>
            <a:ext cx="2834640" cy="548640"/>
          </a:xfrm>
          <a:prstGeom prst="roundRect">
            <a:avLst>
              <a:gd name="adj" fmla="val 50000"/>
            </a:avLst>
          </a:prstGeom>
          <a:solidFill>
            <a:srgbClr val="E7A335"/>
          </a:solidFill>
          <a:ln/>
        </p:spPr>
      </p:sp>
      <p:sp>
        <p:nvSpPr>
          <p:cNvPr id="7" name="Text 5"/>
          <p:cNvSpPr/>
          <p:nvPr/>
        </p:nvSpPr>
        <p:spPr>
          <a:xfrm>
            <a:off x="8503920" y="1828800"/>
            <a:ext cx="283464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d.  All of these</a:t>
            </a:r>
            <a:endParaRPr lang="en-US" sz="1300" dirty="0"/>
          </a:p>
        </p:txBody>
      </p:sp>
      <p:sp>
        <p:nvSpPr>
          <p:cNvPr id="8" name="Shape 6"/>
          <p:cNvSpPr/>
          <p:nvPr/>
        </p:nvSpPr>
        <p:spPr>
          <a:xfrm>
            <a:off x="640080" y="2624328"/>
            <a:ext cx="10881360" cy="822960"/>
          </a:xfrm>
          <a:prstGeom prst="roundRect">
            <a:avLst>
              <a:gd name="adj" fmla="val 6667"/>
            </a:avLst>
          </a:prstGeom>
          <a:solidFill>
            <a:srgbClr val="13315C"/>
          </a:solidFill>
          <a:ln/>
        </p:spPr>
      </p:sp>
      <p:sp>
        <p:nvSpPr>
          <p:cNvPr id="9" name="Text 7"/>
          <p:cNvSpPr/>
          <p:nvPr/>
        </p:nvSpPr>
        <p:spPr>
          <a:xfrm>
            <a:off x="868680" y="2624328"/>
            <a:ext cx="740664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2. Information Technology is used in _____________.</a:t>
            </a:r>
            <a:endParaRPr lang="en-US" sz="1300" dirty="0"/>
          </a:p>
        </p:txBody>
      </p:sp>
      <p:sp>
        <p:nvSpPr>
          <p:cNvPr id="10" name="Shape 8"/>
          <p:cNvSpPr/>
          <p:nvPr/>
        </p:nvSpPr>
        <p:spPr>
          <a:xfrm>
            <a:off x="8503920" y="2761488"/>
            <a:ext cx="2834640" cy="548640"/>
          </a:xfrm>
          <a:prstGeom prst="roundRect">
            <a:avLst>
              <a:gd name="adj" fmla="val 50000"/>
            </a:avLst>
          </a:prstGeom>
          <a:solidFill>
            <a:srgbClr val="E7A335"/>
          </a:solidFill>
          <a:ln/>
        </p:spPr>
      </p:sp>
      <p:sp>
        <p:nvSpPr>
          <p:cNvPr id="11" name="Text 9"/>
          <p:cNvSpPr/>
          <p:nvPr/>
        </p:nvSpPr>
        <p:spPr>
          <a:xfrm>
            <a:off x="8503920" y="2761488"/>
            <a:ext cx="283464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d.  All of these</a:t>
            </a:r>
            <a:endParaRPr lang="en-US" sz="1300" dirty="0"/>
          </a:p>
        </p:txBody>
      </p:sp>
      <p:sp>
        <p:nvSpPr>
          <p:cNvPr id="12" name="Shape 10"/>
          <p:cNvSpPr/>
          <p:nvPr/>
        </p:nvSpPr>
        <p:spPr>
          <a:xfrm>
            <a:off x="640080" y="3557016"/>
            <a:ext cx="10881360" cy="822960"/>
          </a:xfrm>
          <a:prstGeom prst="roundRect">
            <a:avLst>
              <a:gd name="adj" fmla="val 6667"/>
            </a:avLst>
          </a:prstGeom>
          <a:solidFill>
            <a:srgbClr val="13315C"/>
          </a:solidFill>
          <a:ln/>
        </p:spPr>
      </p:sp>
      <p:sp>
        <p:nvSpPr>
          <p:cNvPr id="13" name="Text 11"/>
          <p:cNvSpPr/>
          <p:nvPr/>
        </p:nvSpPr>
        <p:spPr>
          <a:xfrm>
            <a:off x="868680" y="3557016"/>
            <a:ext cx="740664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3. Categories of ITeS include</a:t>
            </a:r>
            <a:endParaRPr lang="en-US" sz="1300" dirty="0"/>
          </a:p>
        </p:txBody>
      </p:sp>
      <p:sp>
        <p:nvSpPr>
          <p:cNvPr id="14" name="Shape 12"/>
          <p:cNvSpPr/>
          <p:nvPr/>
        </p:nvSpPr>
        <p:spPr>
          <a:xfrm>
            <a:off x="8503920" y="3694176"/>
            <a:ext cx="2834640" cy="548640"/>
          </a:xfrm>
          <a:prstGeom prst="roundRect">
            <a:avLst>
              <a:gd name="adj" fmla="val 50000"/>
            </a:avLst>
          </a:prstGeom>
          <a:solidFill>
            <a:srgbClr val="E7A335"/>
          </a:solidFill>
          <a:ln/>
        </p:spPr>
      </p:sp>
      <p:sp>
        <p:nvSpPr>
          <p:cNvPr id="15" name="Text 13"/>
          <p:cNvSpPr/>
          <p:nvPr/>
        </p:nvSpPr>
        <p:spPr>
          <a:xfrm>
            <a:off x="8503920" y="3694176"/>
            <a:ext cx="283464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a.  BPO</a:t>
            </a:r>
            <a:endParaRPr lang="en-US" sz="1300" dirty="0"/>
          </a:p>
        </p:txBody>
      </p:sp>
      <p:sp>
        <p:nvSpPr>
          <p:cNvPr id="16" name="Shape 14"/>
          <p:cNvSpPr/>
          <p:nvPr/>
        </p:nvSpPr>
        <p:spPr>
          <a:xfrm>
            <a:off x="640080" y="4489704"/>
            <a:ext cx="10881360" cy="822960"/>
          </a:xfrm>
          <a:prstGeom prst="roundRect">
            <a:avLst>
              <a:gd name="adj" fmla="val 6667"/>
            </a:avLst>
          </a:prstGeom>
          <a:solidFill>
            <a:srgbClr val="13315C"/>
          </a:solidFill>
          <a:ln/>
        </p:spPr>
      </p:sp>
      <p:sp>
        <p:nvSpPr>
          <p:cNvPr id="17" name="Text 15"/>
          <p:cNvSpPr/>
          <p:nvPr/>
        </p:nvSpPr>
        <p:spPr>
          <a:xfrm>
            <a:off x="868680" y="4489704"/>
            <a:ext cx="740664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4. Skills required in ITeS are ___________.</a:t>
            </a:r>
            <a:endParaRPr lang="en-US" sz="1300" dirty="0"/>
          </a:p>
        </p:txBody>
      </p:sp>
      <p:sp>
        <p:nvSpPr>
          <p:cNvPr id="18" name="Shape 16"/>
          <p:cNvSpPr/>
          <p:nvPr/>
        </p:nvSpPr>
        <p:spPr>
          <a:xfrm>
            <a:off x="8503920" y="4626864"/>
            <a:ext cx="2834640" cy="548640"/>
          </a:xfrm>
          <a:prstGeom prst="roundRect">
            <a:avLst>
              <a:gd name="adj" fmla="val 50000"/>
            </a:avLst>
          </a:prstGeom>
          <a:solidFill>
            <a:srgbClr val="E7A335"/>
          </a:solidFill>
          <a:ln/>
        </p:spPr>
      </p:sp>
      <p:sp>
        <p:nvSpPr>
          <p:cNvPr id="19" name="Text 17"/>
          <p:cNvSpPr/>
          <p:nvPr/>
        </p:nvSpPr>
        <p:spPr>
          <a:xfrm>
            <a:off x="8503920" y="4626864"/>
            <a:ext cx="283464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d.  All of these</a:t>
            </a:r>
            <a:endParaRPr lang="en-US" sz="1300" dirty="0"/>
          </a:p>
        </p:txBody>
      </p:sp>
      <p:sp>
        <p:nvSpPr>
          <p:cNvPr id="20" name="Shape 18"/>
          <p:cNvSpPr/>
          <p:nvPr/>
        </p:nvSpPr>
        <p:spPr>
          <a:xfrm>
            <a:off x="640080" y="5422392"/>
            <a:ext cx="10881360" cy="822960"/>
          </a:xfrm>
          <a:prstGeom prst="roundRect">
            <a:avLst>
              <a:gd name="adj" fmla="val 6667"/>
            </a:avLst>
          </a:prstGeom>
          <a:solidFill>
            <a:srgbClr val="13315C"/>
          </a:solidFill>
          <a:ln/>
        </p:spPr>
      </p:sp>
      <p:sp>
        <p:nvSpPr>
          <p:cNvPr id="21" name="Text 19"/>
          <p:cNvSpPr/>
          <p:nvPr/>
        </p:nvSpPr>
        <p:spPr>
          <a:xfrm>
            <a:off x="868680" y="5422392"/>
            <a:ext cx="7406640" cy="8229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5. Knowledge-based outsourced services (data analytics, market research) are known as</a:t>
            </a:r>
            <a:endParaRPr lang="en-US" sz="1300" dirty="0"/>
          </a:p>
        </p:txBody>
      </p:sp>
      <p:sp>
        <p:nvSpPr>
          <p:cNvPr id="22" name="Shape 20"/>
          <p:cNvSpPr/>
          <p:nvPr/>
        </p:nvSpPr>
        <p:spPr>
          <a:xfrm>
            <a:off x="8503920" y="5559552"/>
            <a:ext cx="2834640" cy="548640"/>
          </a:xfrm>
          <a:prstGeom prst="roundRect">
            <a:avLst>
              <a:gd name="adj" fmla="val 50000"/>
            </a:avLst>
          </a:prstGeom>
          <a:solidFill>
            <a:srgbClr val="E7A335"/>
          </a:solidFill>
          <a:ln/>
        </p:spPr>
      </p:sp>
      <p:sp>
        <p:nvSpPr>
          <p:cNvPr id="23" name="Text 21"/>
          <p:cNvSpPr/>
          <p:nvPr/>
        </p:nvSpPr>
        <p:spPr>
          <a:xfrm>
            <a:off x="8503920" y="5559552"/>
            <a:ext cx="2834640" cy="54864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c.  KPO</a:t>
            </a:r>
            <a:endParaRPr lang="en-US" sz="130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25" name="Text 2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E7A335"/>
                </a:solidFill>
                <a:latin typeface="Calibri" pitchFamily="34" charset="0"/>
                <a:ea typeface="Calibri" pitchFamily="34" charset="-122"/>
                <a:cs typeface="Calibri" pitchFamily="34" charset="-120"/>
              </a:rPr>
              <a:t>SKILL SHEET KEY · SECTION B &amp; C</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Answer Key — Blanks &amp; True/False</a:t>
            </a:r>
            <a:endParaRPr lang="en-US" sz="2800" dirty="0"/>
          </a:p>
        </p:txBody>
      </p:sp>
      <p:sp>
        <p:nvSpPr>
          <p:cNvPr id="4" name="Text 2"/>
          <p:cNvSpPr/>
          <p:nvPr/>
        </p:nvSpPr>
        <p:spPr>
          <a:xfrm>
            <a:off x="640080" y="1554480"/>
            <a:ext cx="5486400" cy="274320"/>
          </a:xfrm>
          <a:prstGeom prst="rect">
            <a:avLst/>
          </a:prstGeom>
          <a:noFill/>
          <a:ln/>
        </p:spPr>
        <p:txBody>
          <a:bodyPr wrap="square" lIns="0" tIns="0" rIns="0" bIns="0" rtlCol="0" anchor="ctr"/>
          <a:lstStyle/>
          <a:p>
            <a:pPr indent="0" marL="0">
              <a:buNone/>
            </a:pPr>
            <a:r>
              <a:rPr lang="en-US" sz="1200" b="1" spc="150" kern="0" dirty="0">
                <a:solidFill>
                  <a:srgbClr val="E7A335"/>
                </a:solidFill>
                <a:latin typeface="Calibri" pitchFamily="34" charset="0"/>
                <a:ea typeface="Calibri" pitchFamily="34" charset="-122"/>
                <a:cs typeface="Calibri" pitchFamily="34" charset="-120"/>
              </a:rPr>
              <a:t>FILL IN THE BLANKS</a:t>
            </a:r>
            <a:endParaRPr lang="en-US" sz="1200" dirty="0"/>
          </a:p>
        </p:txBody>
      </p:sp>
      <p:sp>
        <p:nvSpPr>
          <p:cNvPr id="5" name="Text 3"/>
          <p:cNvSpPr/>
          <p:nvPr/>
        </p:nvSpPr>
        <p:spPr>
          <a:xfrm>
            <a:off x="640080" y="1901952"/>
            <a:ext cx="5577840" cy="265176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1. Information Technology enabled Services</a:t>
            </a:r>
            <a:endParaRPr lang="en-US" sz="1250" dirty="0"/>
          </a:p>
          <a:p>
            <a:pPr marL="342900" indent="-342900">
              <a:lnSpc>
                <a:spcPct val="115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2. Information Technology (IT)</a:t>
            </a:r>
            <a:endParaRPr lang="en-US" sz="1250" dirty="0"/>
          </a:p>
          <a:p>
            <a:pPr marL="342900" indent="-342900">
              <a:lnSpc>
                <a:spcPct val="115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3. ICT (Information &amp; Communication Technology)</a:t>
            </a:r>
            <a:endParaRPr lang="en-US" sz="1250" dirty="0"/>
          </a:p>
          <a:p>
            <a:pPr marL="342900" indent="-342900">
              <a:lnSpc>
                <a:spcPct val="115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4. Business Process Outsourcing</a:t>
            </a:r>
            <a:endParaRPr lang="en-US" sz="1250" dirty="0"/>
          </a:p>
          <a:p>
            <a:pPr marL="342900" indent="-342900">
              <a:lnSpc>
                <a:spcPct val="1150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5. Information Technology (IT)</a:t>
            </a:r>
            <a:endParaRPr lang="en-US" sz="1250" dirty="0"/>
          </a:p>
        </p:txBody>
      </p:sp>
      <p:sp>
        <p:nvSpPr>
          <p:cNvPr id="6" name="Shape 4"/>
          <p:cNvSpPr/>
          <p:nvPr/>
        </p:nvSpPr>
        <p:spPr>
          <a:xfrm>
            <a:off x="6537960" y="1645920"/>
            <a:ext cx="0" cy="4480560"/>
          </a:xfrm>
          <a:prstGeom prst="line">
            <a:avLst/>
          </a:prstGeom>
          <a:noFill/>
          <a:ln w="15875">
            <a:solidFill>
              <a:srgbClr val="2B4A72"/>
            </a:solidFill>
            <a:prstDash val="solid"/>
          </a:ln>
        </p:spPr>
      </p:sp>
      <p:sp>
        <p:nvSpPr>
          <p:cNvPr id="7" name="Text 5"/>
          <p:cNvSpPr/>
          <p:nvPr/>
        </p:nvSpPr>
        <p:spPr>
          <a:xfrm>
            <a:off x="6858000" y="1554480"/>
            <a:ext cx="4572000" cy="274320"/>
          </a:xfrm>
          <a:prstGeom prst="rect">
            <a:avLst/>
          </a:prstGeom>
          <a:noFill/>
          <a:ln/>
        </p:spPr>
        <p:txBody>
          <a:bodyPr wrap="square" lIns="0" tIns="0" rIns="0" bIns="0" rtlCol="0" anchor="ctr"/>
          <a:lstStyle/>
          <a:p>
            <a:pPr indent="0" marL="0">
              <a:buNone/>
            </a:pPr>
            <a:r>
              <a:rPr lang="en-US" sz="1200" b="1" spc="150" kern="0" dirty="0">
                <a:solidFill>
                  <a:srgbClr val="E7A335"/>
                </a:solidFill>
                <a:latin typeface="Calibri" pitchFamily="34" charset="0"/>
                <a:ea typeface="Calibri" pitchFamily="34" charset="-122"/>
                <a:cs typeface="Calibri" pitchFamily="34" charset="-120"/>
              </a:rPr>
              <a:t>TRUE OR FALSE</a:t>
            </a:r>
            <a:endParaRPr lang="en-US" sz="1200" dirty="0"/>
          </a:p>
        </p:txBody>
      </p:sp>
      <p:sp>
        <p:nvSpPr>
          <p:cNvPr id="8" name="Text 6"/>
          <p:cNvSpPr/>
          <p:nvPr/>
        </p:nvSpPr>
        <p:spPr>
          <a:xfrm>
            <a:off x="6858000" y="1920240"/>
            <a:ext cx="3657600" cy="68580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1. IT means creating, managing, storing &amp; exchanging information.</a:t>
            </a:r>
            <a:endParaRPr lang="en-US" sz="1200" dirty="0"/>
          </a:p>
        </p:txBody>
      </p:sp>
      <p:sp>
        <p:nvSpPr>
          <p:cNvPr id="9" name="Shape 7"/>
          <p:cNvSpPr/>
          <p:nvPr/>
        </p:nvSpPr>
        <p:spPr>
          <a:xfrm>
            <a:off x="10561320" y="1965960"/>
            <a:ext cx="960120" cy="457200"/>
          </a:xfrm>
          <a:prstGeom prst="roundRect">
            <a:avLst>
              <a:gd name="adj" fmla="val 50000"/>
            </a:avLst>
          </a:prstGeom>
          <a:solidFill>
            <a:srgbClr val="0E7C86"/>
          </a:solidFill>
          <a:ln/>
        </p:spPr>
      </p:sp>
      <p:sp>
        <p:nvSpPr>
          <p:cNvPr id="10" name="Text 8"/>
          <p:cNvSpPr/>
          <p:nvPr/>
        </p:nvSpPr>
        <p:spPr>
          <a:xfrm>
            <a:off x="10561320" y="1965960"/>
            <a:ext cx="9601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TRUE</a:t>
            </a:r>
            <a:endParaRPr lang="en-US" sz="1100" dirty="0"/>
          </a:p>
        </p:txBody>
      </p:sp>
      <p:sp>
        <p:nvSpPr>
          <p:cNvPr id="11" name="Text 9"/>
          <p:cNvSpPr/>
          <p:nvPr/>
        </p:nvSpPr>
        <p:spPr>
          <a:xfrm>
            <a:off x="6858000" y="2788920"/>
            <a:ext cx="3657600" cy="68580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2. ICT stands for Information Communication and Technology.</a:t>
            </a:r>
            <a:endParaRPr lang="en-US" sz="1200" dirty="0"/>
          </a:p>
        </p:txBody>
      </p:sp>
      <p:sp>
        <p:nvSpPr>
          <p:cNvPr id="12" name="Shape 10"/>
          <p:cNvSpPr/>
          <p:nvPr/>
        </p:nvSpPr>
        <p:spPr>
          <a:xfrm>
            <a:off x="10561320" y="2834640"/>
            <a:ext cx="960120" cy="457200"/>
          </a:xfrm>
          <a:prstGeom prst="roundRect">
            <a:avLst>
              <a:gd name="adj" fmla="val 50000"/>
            </a:avLst>
          </a:prstGeom>
          <a:solidFill>
            <a:srgbClr val="0E7C86"/>
          </a:solidFill>
          <a:ln/>
        </p:spPr>
      </p:sp>
      <p:sp>
        <p:nvSpPr>
          <p:cNvPr id="13" name="Text 11"/>
          <p:cNvSpPr/>
          <p:nvPr/>
        </p:nvSpPr>
        <p:spPr>
          <a:xfrm>
            <a:off x="10561320" y="2834640"/>
            <a:ext cx="9601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TRUE</a:t>
            </a:r>
            <a:endParaRPr lang="en-US" sz="1100" dirty="0"/>
          </a:p>
        </p:txBody>
      </p:sp>
      <p:sp>
        <p:nvSpPr>
          <p:cNvPr id="14" name="Text 12"/>
          <p:cNvSpPr/>
          <p:nvPr/>
        </p:nvSpPr>
        <p:spPr>
          <a:xfrm>
            <a:off x="6858000" y="3657600"/>
            <a:ext cx="3657600" cy="68580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Calibri" pitchFamily="34" charset="0"/>
                <a:ea typeface="Calibri" pitchFamily="34" charset="-122"/>
                <a:cs typeface="Calibri" pitchFamily="34" charset="-120"/>
              </a:rPr>
              <a:t>3. Information Technology is not a subset of ICT.</a:t>
            </a:r>
            <a:endParaRPr lang="en-US" sz="1200" dirty="0"/>
          </a:p>
        </p:txBody>
      </p:sp>
      <p:sp>
        <p:nvSpPr>
          <p:cNvPr id="15" name="Shape 13"/>
          <p:cNvSpPr/>
          <p:nvPr/>
        </p:nvSpPr>
        <p:spPr>
          <a:xfrm>
            <a:off x="10561320" y="3703320"/>
            <a:ext cx="960120" cy="457200"/>
          </a:xfrm>
          <a:prstGeom prst="roundRect">
            <a:avLst>
              <a:gd name="adj" fmla="val 50000"/>
            </a:avLst>
          </a:prstGeom>
          <a:solidFill>
            <a:srgbClr val="E7A335"/>
          </a:solidFill>
          <a:ln/>
        </p:spPr>
      </p:sp>
      <p:sp>
        <p:nvSpPr>
          <p:cNvPr id="16" name="Text 14"/>
          <p:cNvSpPr/>
          <p:nvPr/>
        </p:nvSpPr>
        <p:spPr>
          <a:xfrm>
            <a:off x="10561320" y="3703320"/>
            <a:ext cx="960120"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FALSE</a:t>
            </a:r>
            <a:endParaRPr lang="en-US" sz="110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18" name="Text 1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SKILL SHEET KEY · SECTION D (1/2)</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Answer Key — Short Answers</a:t>
            </a:r>
            <a:endParaRPr lang="en-US" sz="3200" dirty="0"/>
          </a:p>
        </p:txBody>
      </p:sp>
      <p:sp>
        <p:nvSpPr>
          <p:cNvPr id="4" name="Shape 2"/>
          <p:cNvSpPr/>
          <p:nvPr/>
        </p:nvSpPr>
        <p:spPr>
          <a:xfrm>
            <a:off x="640080" y="1645920"/>
            <a:ext cx="10881360" cy="1691640"/>
          </a:xfrm>
          <a:prstGeom prst="roundRect">
            <a:avLst>
              <a:gd name="adj" fmla="val 4324"/>
            </a:avLst>
          </a:prstGeom>
          <a:solidFill>
            <a:srgbClr val="E6F4F3"/>
          </a:solidFill>
          <a:ln/>
          <a:effectLst>
            <a:outerShdw sx="100000" sy="100000" kx="0" ky="0" algn="bl" rotWithShape="0" blurRad="101600" dist="38100" dir="2700000">
              <a:srgbClr val="0B2545">
                <a:alpha val="15000"/>
              </a:srgbClr>
            </a:outerShdw>
          </a:effectLst>
        </p:spPr>
      </p:sp>
      <p:sp>
        <p:nvSpPr>
          <p:cNvPr id="5" name="Text 3"/>
          <p:cNvSpPr/>
          <p:nvPr/>
        </p:nvSpPr>
        <p:spPr>
          <a:xfrm>
            <a:off x="868680" y="1810512"/>
            <a:ext cx="10332720" cy="36576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Q1.  What is ITeS?</a:t>
            </a:r>
            <a:endParaRPr lang="en-US" sz="1450" dirty="0"/>
          </a:p>
        </p:txBody>
      </p:sp>
      <p:sp>
        <p:nvSpPr>
          <p:cNvPr id="6" name="Text 4"/>
          <p:cNvSpPr/>
          <p:nvPr/>
        </p:nvSpPr>
        <p:spPr>
          <a:xfrm>
            <a:off x="868680" y="2212848"/>
            <a:ext cx="10332720" cy="1051560"/>
          </a:xfrm>
          <a:prstGeom prst="rect">
            <a:avLst/>
          </a:prstGeom>
          <a:noFill/>
          <a:ln/>
        </p:spPr>
        <p:txBody>
          <a:bodyPr wrap="square" lIns="0" tIns="0" rIns="0" bIns="0" rtlCol="0" anchor="ctr"/>
          <a:lstStyle/>
          <a:p>
            <a:pPr indent="0" marL="0">
              <a:lnSpc>
                <a:spcPct val="120000"/>
              </a:lnSpc>
              <a:buNone/>
            </a:pPr>
            <a:r>
              <a:rPr lang="en-US" sz="1250" dirty="0">
                <a:solidFill>
                  <a:srgbClr val="1E293B"/>
                </a:solidFill>
                <a:latin typeface="Calibri" pitchFamily="34" charset="0"/>
                <a:ea typeface="Calibri" pitchFamily="34" charset="-122"/>
                <a:cs typeface="Calibri" pitchFamily="34" charset="-120"/>
              </a:rPr>
              <a:t>Information Technology enabled Services (ITeS) refer to the application of Information Technology to deliver services that support business processes and operations. These services are usually delivered remotely using technology and play a significant role in today's globalized economy.</a:t>
            </a:r>
            <a:endParaRPr lang="en-US" sz="1250" dirty="0"/>
          </a:p>
        </p:txBody>
      </p:sp>
      <p:sp>
        <p:nvSpPr>
          <p:cNvPr id="7" name="Shape 5"/>
          <p:cNvSpPr/>
          <p:nvPr/>
        </p:nvSpPr>
        <p:spPr>
          <a:xfrm>
            <a:off x="640080" y="3520440"/>
            <a:ext cx="10881360" cy="2468880"/>
          </a:xfrm>
          <a:prstGeom prst="roundRect">
            <a:avLst>
              <a:gd name="adj" fmla="val 2963"/>
            </a:avLst>
          </a:prstGeom>
          <a:solidFill>
            <a:srgbClr val="E6F4F3"/>
          </a:solidFill>
          <a:ln/>
          <a:effectLst>
            <a:outerShdw sx="100000" sy="100000" kx="0" ky="0" algn="bl" rotWithShape="0" blurRad="101600" dist="38100" dir="2700000">
              <a:srgbClr val="0B2545">
                <a:alpha val="15000"/>
              </a:srgbClr>
            </a:outerShdw>
          </a:effectLst>
        </p:spPr>
      </p:sp>
      <p:sp>
        <p:nvSpPr>
          <p:cNvPr id="8" name="Text 6"/>
          <p:cNvSpPr/>
          <p:nvPr/>
        </p:nvSpPr>
        <p:spPr>
          <a:xfrm>
            <a:off x="868680" y="3685032"/>
            <a:ext cx="10332720" cy="365760"/>
          </a:xfrm>
          <a:prstGeom prst="rect">
            <a:avLst/>
          </a:prstGeom>
          <a:noFill/>
          <a:ln/>
        </p:spPr>
        <p:txBody>
          <a:bodyPr wrap="square" lIns="0" tIns="0" rIns="0" bIns="0" rtlCol="0" anchor="ctr"/>
          <a:lstStyle/>
          <a:p>
            <a:pPr indent="0" marL="0">
              <a:buNone/>
            </a:pPr>
            <a:r>
              <a:rPr lang="en-US" sz="1450" b="1" dirty="0">
                <a:solidFill>
                  <a:srgbClr val="0B2545"/>
                </a:solidFill>
                <a:latin typeface="Cambria" pitchFamily="34" charset="0"/>
                <a:ea typeface="Cambria" pitchFamily="34" charset="-122"/>
                <a:cs typeface="Cambria" pitchFamily="34" charset="-120"/>
              </a:rPr>
              <a:t>Q2.  List some applications of IT.</a:t>
            </a:r>
            <a:endParaRPr lang="en-US" sz="1450" dirty="0"/>
          </a:p>
        </p:txBody>
      </p:sp>
      <p:sp>
        <p:nvSpPr>
          <p:cNvPr id="9" name="Shape 7"/>
          <p:cNvSpPr/>
          <p:nvPr/>
        </p:nvSpPr>
        <p:spPr>
          <a:xfrm>
            <a:off x="868680" y="4114800"/>
            <a:ext cx="2854757" cy="365760"/>
          </a:xfrm>
          <a:prstGeom prst="roundRect">
            <a:avLst>
              <a:gd name="adj" fmla="val 50000"/>
            </a:avLst>
          </a:prstGeom>
          <a:solidFill>
            <a:srgbClr val="FFFFFF"/>
          </a:solidFill>
          <a:ln w="9525">
            <a:solidFill>
              <a:srgbClr val="0E7C86"/>
            </a:solidFill>
            <a:prstDash val="solid"/>
          </a:ln>
        </p:spPr>
      </p:sp>
      <p:sp>
        <p:nvSpPr>
          <p:cNvPr id="10" name="Text 8"/>
          <p:cNvSpPr/>
          <p:nvPr/>
        </p:nvSpPr>
        <p:spPr>
          <a:xfrm>
            <a:off x="868680" y="4114800"/>
            <a:ext cx="2854757"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Business &amp; Enterprise Systems</a:t>
            </a:r>
            <a:endParaRPr lang="en-US" sz="1050" dirty="0"/>
          </a:p>
        </p:txBody>
      </p:sp>
      <p:sp>
        <p:nvSpPr>
          <p:cNvPr id="11" name="Shape 9"/>
          <p:cNvSpPr/>
          <p:nvPr/>
        </p:nvSpPr>
        <p:spPr>
          <a:xfrm>
            <a:off x="3851453" y="4114800"/>
            <a:ext cx="2854757" cy="365760"/>
          </a:xfrm>
          <a:prstGeom prst="roundRect">
            <a:avLst>
              <a:gd name="adj" fmla="val 50000"/>
            </a:avLst>
          </a:prstGeom>
          <a:solidFill>
            <a:srgbClr val="FFFFFF"/>
          </a:solidFill>
          <a:ln w="9525">
            <a:solidFill>
              <a:srgbClr val="0E7C86"/>
            </a:solidFill>
            <a:prstDash val="solid"/>
          </a:ln>
        </p:spPr>
      </p:sp>
      <p:sp>
        <p:nvSpPr>
          <p:cNvPr id="12" name="Text 10"/>
          <p:cNvSpPr/>
          <p:nvPr/>
        </p:nvSpPr>
        <p:spPr>
          <a:xfrm>
            <a:off x="3851453" y="4114800"/>
            <a:ext cx="2854757"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Communication &amp; Collaboration</a:t>
            </a:r>
            <a:endParaRPr lang="en-US" sz="1050" dirty="0"/>
          </a:p>
        </p:txBody>
      </p:sp>
      <p:sp>
        <p:nvSpPr>
          <p:cNvPr id="13" name="Shape 11"/>
          <p:cNvSpPr/>
          <p:nvPr/>
        </p:nvSpPr>
        <p:spPr>
          <a:xfrm>
            <a:off x="6834226" y="4114800"/>
            <a:ext cx="2675534" cy="365760"/>
          </a:xfrm>
          <a:prstGeom prst="roundRect">
            <a:avLst>
              <a:gd name="adj" fmla="val 50000"/>
            </a:avLst>
          </a:prstGeom>
          <a:solidFill>
            <a:srgbClr val="FFFFFF"/>
          </a:solidFill>
          <a:ln w="9525">
            <a:solidFill>
              <a:srgbClr val="0E7C86"/>
            </a:solidFill>
            <a:prstDash val="solid"/>
          </a:ln>
        </p:spPr>
      </p:sp>
      <p:sp>
        <p:nvSpPr>
          <p:cNvPr id="14" name="Text 12"/>
          <p:cNvSpPr/>
          <p:nvPr/>
        </p:nvSpPr>
        <p:spPr>
          <a:xfrm>
            <a:off x="6834226" y="4114800"/>
            <a:ext cx="2675534"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Data Management &amp; Analytics</a:t>
            </a:r>
            <a:endParaRPr lang="en-US" sz="1050" dirty="0"/>
          </a:p>
        </p:txBody>
      </p:sp>
      <p:sp>
        <p:nvSpPr>
          <p:cNvPr id="15" name="Shape 13"/>
          <p:cNvSpPr/>
          <p:nvPr/>
        </p:nvSpPr>
        <p:spPr>
          <a:xfrm>
            <a:off x="9637776" y="4114800"/>
            <a:ext cx="1152144" cy="365760"/>
          </a:xfrm>
          <a:prstGeom prst="roundRect">
            <a:avLst>
              <a:gd name="adj" fmla="val 50000"/>
            </a:avLst>
          </a:prstGeom>
          <a:solidFill>
            <a:srgbClr val="FFFFFF"/>
          </a:solidFill>
          <a:ln w="9525">
            <a:solidFill>
              <a:srgbClr val="0E7C86"/>
            </a:solidFill>
            <a:prstDash val="solid"/>
          </a:ln>
        </p:spPr>
      </p:sp>
      <p:sp>
        <p:nvSpPr>
          <p:cNvPr id="16" name="Text 14"/>
          <p:cNvSpPr/>
          <p:nvPr/>
        </p:nvSpPr>
        <p:spPr>
          <a:xfrm>
            <a:off x="9637776" y="4114800"/>
            <a:ext cx="1152144"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E-Commerce</a:t>
            </a:r>
            <a:endParaRPr lang="en-US" sz="1050" dirty="0"/>
          </a:p>
        </p:txBody>
      </p:sp>
      <p:sp>
        <p:nvSpPr>
          <p:cNvPr id="17" name="Shape 15"/>
          <p:cNvSpPr/>
          <p:nvPr/>
        </p:nvSpPr>
        <p:spPr>
          <a:xfrm>
            <a:off x="868680" y="4553712"/>
            <a:ext cx="2227478" cy="365760"/>
          </a:xfrm>
          <a:prstGeom prst="roundRect">
            <a:avLst>
              <a:gd name="adj" fmla="val 50000"/>
            </a:avLst>
          </a:prstGeom>
          <a:solidFill>
            <a:srgbClr val="FFFFFF"/>
          </a:solidFill>
          <a:ln w="9525">
            <a:solidFill>
              <a:srgbClr val="0E7C86"/>
            </a:solidFill>
            <a:prstDash val="solid"/>
          </a:ln>
        </p:spPr>
      </p:sp>
      <p:sp>
        <p:nvSpPr>
          <p:cNvPr id="18" name="Text 16"/>
          <p:cNvSpPr/>
          <p:nvPr/>
        </p:nvSpPr>
        <p:spPr>
          <a:xfrm>
            <a:off x="868680" y="4553712"/>
            <a:ext cx="2227478"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Healthcare Informatics</a:t>
            </a:r>
            <a:endParaRPr lang="en-US" sz="1050" dirty="0"/>
          </a:p>
        </p:txBody>
      </p:sp>
      <p:sp>
        <p:nvSpPr>
          <p:cNvPr id="19" name="Shape 17"/>
          <p:cNvSpPr/>
          <p:nvPr/>
        </p:nvSpPr>
        <p:spPr>
          <a:xfrm>
            <a:off x="3224174" y="4553712"/>
            <a:ext cx="2048256" cy="365760"/>
          </a:xfrm>
          <a:prstGeom prst="roundRect">
            <a:avLst>
              <a:gd name="adj" fmla="val 50000"/>
            </a:avLst>
          </a:prstGeom>
          <a:solidFill>
            <a:srgbClr val="FFFFFF"/>
          </a:solidFill>
          <a:ln w="9525">
            <a:solidFill>
              <a:srgbClr val="0E7C86"/>
            </a:solidFill>
            <a:prstDash val="solid"/>
          </a:ln>
        </p:spPr>
      </p:sp>
      <p:sp>
        <p:nvSpPr>
          <p:cNvPr id="20" name="Text 18"/>
          <p:cNvSpPr/>
          <p:nvPr/>
        </p:nvSpPr>
        <p:spPr>
          <a:xfrm>
            <a:off x="3224174" y="4553712"/>
            <a:ext cx="2048256"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Education Technology</a:t>
            </a:r>
            <a:endParaRPr lang="en-US" sz="1050" dirty="0"/>
          </a:p>
        </p:txBody>
      </p:sp>
      <p:sp>
        <p:nvSpPr>
          <p:cNvPr id="21" name="Shape 19"/>
          <p:cNvSpPr/>
          <p:nvPr/>
        </p:nvSpPr>
        <p:spPr>
          <a:xfrm>
            <a:off x="5400446" y="4553712"/>
            <a:ext cx="2944368" cy="365760"/>
          </a:xfrm>
          <a:prstGeom prst="roundRect">
            <a:avLst>
              <a:gd name="adj" fmla="val 50000"/>
            </a:avLst>
          </a:prstGeom>
          <a:solidFill>
            <a:srgbClr val="FFFFFF"/>
          </a:solidFill>
          <a:ln w="9525">
            <a:solidFill>
              <a:srgbClr val="0E7C86"/>
            </a:solidFill>
            <a:prstDash val="solid"/>
          </a:ln>
        </p:spPr>
      </p:sp>
      <p:sp>
        <p:nvSpPr>
          <p:cNvPr id="22" name="Text 20"/>
          <p:cNvSpPr/>
          <p:nvPr/>
        </p:nvSpPr>
        <p:spPr>
          <a:xfrm>
            <a:off x="5400446" y="4553712"/>
            <a:ext cx="2944368"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Financial Technology (FinTech)</a:t>
            </a:r>
            <a:endParaRPr lang="en-US" sz="1050" dirty="0"/>
          </a:p>
        </p:txBody>
      </p:sp>
      <p:sp>
        <p:nvSpPr>
          <p:cNvPr id="23" name="Shape 21"/>
          <p:cNvSpPr/>
          <p:nvPr/>
        </p:nvSpPr>
        <p:spPr>
          <a:xfrm>
            <a:off x="8472830" y="4553712"/>
            <a:ext cx="2765146" cy="365760"/>
          </a:xfrm>
          <a:prstGeom prst="roundRect">
            <a:avLst>
              <a:gd name="adj" fmla="val 50000"/>
            </a:avLst>
          </a:prstGeom>
          <a:solidFill>
            <a:srgbClr val="FFFFFF"/>
          </a:solidFill>
          <a:ln w="9525">
            <a:solidFill>
              <a:srgbClr val="0E7C86"/>
            </a:solidFill>
            <a:prstDash val="solid"/>
          </a:ln>
        </p:spPr>
      </p:sp>
      <p:sp>
        <p:nvSpPr>
          <p:cNvPr id="24" name="Text 22"/>
          <p:cNvSpPr/>
          <p:nvPr/>
        </p:nvSpPr>
        <p:spPr>
          <a:xfrm>
            <a:off x="8472830" y="4553712"/>
            <a:ext cx="2765146"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Government &amp; Public Services</a:t>
            </a:r>
            <a:endParaRPr lang="en-US" sz="1050" dirty="0"/>
          </a:p>
        </p:txBody>
      </p:sp>
      <p:sp>
        <p:nvSpPr>
          <p:cNvPr id="25" name="Shape 23"/>
          <p:cNvSpPr/>
          <p:nvPr/>
        </p:nvSpPr>
        <p:spPr>
          <a:xfrm>
            <a:off x="868680" y="4992624"/>
            <a:ext cx="2137867" cy="365760"/>
          </a:xfrm>
          <a:prstGeom prst="roundRect">
            <a:avLst>
              <a:gd name="adj" fmla="val 50000"/>
            </a:avLst>
          </a:prstGeom>
          <a:solidFill>
            <a:srgbClr val="FFFFFF"/>
          </a:solidFill>
          <a:ln w="9525">
            <a:solidFill>
              <a:srgbClr val="0E7C86"/>
            </a:solidFill>
            <a:prstDash val="solid"/>
          </a:ln>
        </p:spPr>
      </p:sp>
      <p:sp>
        <p:nvSpPr>
          <p:cNvPr id="26" name="Text 24"/>
          <p:cNvSpPr/>
          <p:nvPr/>
        </p:nvSpPr>
        <p:spPr>
          <a:xfrm>
            <a:off x="868680" y="4992624"/>
            <a:ext cx="2137867"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Entertainment &amp; Media</a:t>
            </a:r>
            <a:endParaRPr lang="en-US" sz="1050" dirty="0"/>
          </a:p>
        </p:txBody>
      </p:sp>
      <p:sp>
        <p:nvSpPr>
          <p:cNvPr id="27" name="Shape 25"/>
          <p:cNvSpPr/>
          <p:nvPr/>
        </p:nvSpPr>
        <p:spPr>
          <a:xfrm>
            <a:off x="3134563" y="4992624"/>
            <a:ext cx="1420978" cy="365760"/>
          </a:xfrm>
          <a:prstGeom prst="roundRect">
            <a:avLst>
              <a:gd name="adj" fmla="val 50000"/>
            </a:avLst>
          </a:prstGeom>
          <a:solidFill>
            <a:srgbClr val="FFFFFF"/>
          </a:solidFill>
          <a:ln w="9525">
            <a:solidFill>
              <a:srgbClr val="0E7C86"/>
            </a:solidFill>
            <a:prstDash val="solid"/>
          </a:ln>
        </p:spPr>
      </p:sp>
      <p:sp>
        <p:nvSpPr>
          <p:cNvPr id="28" name="Text 26"/>
          <p:cNvSpPr/>
          <p:nvPr/>
        </p:nvSpPr>
        <p:spPr>
          <a:xfrm>
            <a:off x="3134563" y="4992624"/>
            <a:ext cx="1420978"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Cybersecurity</a:t>
            </a:r>
            <a:endParaRPr lang="en-US" sz="1050" dirty="0"/>
          </a:p>
        </p:txBody>
      </p:sp>
      <p:sp>
        <p:nvSpPr>
          <p:cNvPr id="29" name="Shape 27"/>
          <p:cNvSpPr/>
          <p:nvPr/>
        </p:nvSpPr>
        <p:spPr>
          <a:xfrm>
            <a:off x="4683557" y="4992624"/>
            <a:ext cx="2048256" cy="365760"/>
          </a:xfrm>
          <a:prstGeom prst="roundRect">
            <a:avLst>
              <a:gd name="adj" fmla="val 50000"/>
            </a:avLst>
          </a:prstGeom>
          <a:solidFill>
            <a:srgbClr val="FFFFFF"/>
          </a:solidFill>
          <a:ln w="9525">
            <a:solidFill>
              <a:srgbClr val="0E7C86"/>
            </a:solidFill>
            <a:prstDash val="solid"/>
          </a:ln>
        </p:spPr>
      </p:sp>
      <p:sp>
        <p:nvSpPr>
          <p:cNvPr id="30" name="Text 28"/>
          <p:cNvSpPr/>
          <p:nvPr/>
        </p:nvSpPr>
        <p:spPr>
          <a:xfrm>
            <a:off x="4683557" y="4992624"/>
            <a:ext cx="2048256" cy="365760"/>
          </a:xfrm>
          <a:prstGeom prst="rect">
            <a:avLst/>
          </a:prstGeom>
          <a:noFill/>
          <a:ln/>
        </p:spPr>
        <p:txBody>
          <a:bodyPr wrap="square" lIns="0" tIns="0" rIns="0" bIns="0" rtlCol="0" anchor="ctr"/>
          <a:lstStyle/>
          <a:p>
            <a:pPr algn="ctr" indent="0" marL="0">
              <a:buNone/>
            </a:pPr>
            <a:r>
              <a:rPr lang="en-US" sz="1050" dirty="0">
                <a:solidFill>
                  <a:srgbClr val="0B2545"/>
                </a:solidFill>
                <a:latin typeface="Calibri" pitchFamily="34" charset="0"/>
                <a:ea typeface="Calibri" pitchFamily="34" charset="-122"/>
                <a:cs typeface="Calibri" pitchFamily="34" charset="-120"/>
              </a:rPr>
              <a:t>Robotics &amp; Animation</a:t>
            </a:r>
            <a:endParaRPr lang="en-US" sz="1050" dirty="0"/>
          </a:p>
        </p:txBody>
      </p:sp>
      <p:sp>
        <p:nvSpPr>
          <p:cNvPr id="31" name="Text 29"/>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32" name="Text 30"/>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250" b="1" spc="200" kern="0" dirty="0">
                <a:solidFill>
                  <a:srgbClr val="0E7C86"/>
                </a:solidFill>
                <a:latin typeface="Calibri" pitchFamily="34" charset="0"/>
                <a:ea typeface="Calibri" pitchFamily="34" charset="-122"/>
                <a:cs typeface="Calibri" pitchFamily="34" charset="-120"/>
              </a:rPr>
              <a:t>SKILL SHEET KEY · SECTION D (2/2)</a:t>
            </a:r>
            <a:endParaRPr lang="en-US" sz="1250" dirty="0"/>
          </a:p>
        </p:txBody>
      </p:sp>
      <p:sp>
        <p:nvSpPr>
          <p:cNvPr id="3" name="Text 1"/>
          <p:cNvSpPr/>
          <p:nvPr/>
        </p:nvSpPr>
        <p:spPr>
          <a:xfrm>
            <a:off x="640080" y="658368"/>
            <a:ext cx="10789920" cy="68580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Answer Key — Short Answers</a:t>
            </a:r>
            <a:endParaRPr lang="en-US" sz="3200" dirty="0"/>
          </a:p>
        </p:txBody>
      </p:sp>
      <p:sp>
        <p:nvSpPr>
          <p:cNvPr id="4" name="Shape 2"/>
          <p:cNvSpPr/>
          <p:nvPr/>
        </p:nvSpPr>
        <p:spPr>
          <a:xfrm>
            <a:off x="640080" y="1645920"/>
            <a:ext cx="10881360" cy="1490472"/>
          </a:xfrm>
          <a:prstGeom prst="roundRect">
            <a:avLst>
              <a:gd name="adj" fmla="val 4908"/>
            </a:avLst>
          </a:prstGeom>
          <a:solidFill>
            <a:srgbClr val="E6F4F3"/>
          </a:solidFill>
          <a:ln/>
          <a:effectLst>
            <a:outerShdw sx="100000" sy="100000" kx="0" ky="0" algn="bl" rotWithShape="0" blurRad="101600" dist="38100" dir="2700000">
              <a:srgbClr val="0B2545">
                <a:alpha val="15000"/>
              </a:srgbClr>
            </a:outerShdw>
          </a:effectLst>
        </p:spPr>
      </p:sp>
      <p:sp>
        <p:nvSpPr>
          <p:cNvPr id="5" name="Text 3"/>
          <p:cNvSpPr/>
          <p:nvPr/>
        </p:nvSpPr>
        <p:spPr>
          <a:xfrm>
            <a:off x="868680" y="1783080"/>
            <a:ext cx="10332720" cy="3657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Q3.  How is IT useful in home computing?</a:t>
            </a:r>
            <a:endParaRPr lang="en-US" sz="1400" dirty="0"/>
          </a:p>
        </p:txBody>
      </p:sp>
      <p:sp>
        <p:nvSpPr>
          <p:cNvPr id="6" name="Text 4"/>
          <p:cNvSpPr/>
          <p:nvPr/>
        </p:nvSpPr>
        <p:spPr>
          <a:xfrm>
            <a:off x="868680" y="2176272"/>
            <a:ext cx="10332720" cy="8686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IT provides more powerful and user-friendly devices, better connectivity options, and a wide range of applications and services suited to different needs. Smart technologies and cloud computing further enhance the overall home computing experience.</a:t>
            </a:r>
            <a:endParaRPr lang="en-US" sz="1200" dirty="0"/>
          </a:p>
        </p:txBody>
      </p:sp>
      <p:sp>
        <p:nvSpPr>
          <p:cNvPr id="7" name="Shape 5"/>
          <p:cNvSpPr/>
          <p:nvPr/>
        </p:nvSpPr>
        <p:spPr>
          <a:xfrm>
            <a:off x="640080" y="3273552"/>
            <a:ext cx="10881360" cy="1490472"/>
          </a:xfrm>
          <a:prstGeom prst="roundRect">
            <a:avLst>
              <a:gd name="adj" fmla="val 4908"/>
            </a:avLst>
          </a:prstGeom>
          <a:solidFill>
            <a:srgbClr val="E6F4F3"/>
          </a:solidFill>
          <a:ln/>
          <a:effectLst>
            <a:outerShdw sx="100000" sy="100000" kx="0" ky="0" algn="bl" rotWithShape="0" blurRad="101600" dist="38100" dir="2700000">
              <a:srgbClr val="0B2545">
                <a:alpha val="15000"/>
              </a:srgbClr>
            </a:outerShdw>
          </a:effectLst>
        </p:spPr>
      </p:sp>
      <p:sp>
        <p:nvSpPr>
          <p:cNvPr id="8" name="Text 6"/>
          <p:cNvSpPr/>
          <p:nvPr/>
        </p:nvSpPr>
        <p:spPr>
          <a:xfrm>
            <a:off x="868680" y="3410712"/>
            <a:ext cx="10332720" cy="3657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Q4.  What is the role of ITeS in business?</a:t>
            </a:r>
            <a:endParaRPr lang="en-US" sz="1400" dirty="0"/>
          </a:p>
        </p:txBody>
      </p:sp>
      <p:sp>
        <p:nvSpPr>
          <p:cNvPr id="9" name="Text 7"/>
          <p:cNvSpPr/>
          <p:nvPr/>
        </p:nvSpPr>
        <p:spPr>
          <a:xfrm>
            <a:off x="868680" y="3803904"/>
            <a:ext cx="10332720" cy="8686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ITeS improves efficiency by letting companies outsource non-core functions and focus on core competencies, delivers cost savings, and supports globalization by giving businesses access to a global talent pool to operate at scale.</a:t>
            </a:r>
            <a:endParaRPr lang="en-US" sz="1200" dirty="0"/>
          </a:p>
        </p:txBody>
      </p:sp>
      <p:sp>
        <p:nvSpPr>
          <p:cNvPr id="10" name="Shape 8"/>
          <p:cNvSpPr/>
          <p:nvPr/>
        </p:nvSpPr>
        <p:spPr>
          <a:xfrm>
            <a:off x="640080" y="4901184"/>
            <a:ext cx="10881360" cy="1490472"/>
          </a:xfrm>
          <a:prstGeom prst="roundRect">
            <a:avLst>
              <a:gd name="adj" fmla="val 4908"/>
            </a:avLst>
          </a:prstGeom>
          <a:solidFill>
            <a:srgbClr val="E6F4F3"/>
          </a:solidFill>
          <a:ln/>
          <a:effectLst>
            <a:outerShdw sx="100000" sy="100000" kx="0" ky="0" algn="bl" rotWithShape="0" blurRad="101600" dist="38100" dir="2700000">
              <a:srgbClr val="0B2545">
                <a:alpha val="15000"/>
              </a:srgbClr>
            </a:outerShdw>
          </a:effectLst>
        </p:spPr>
      </p:sp>
      <p:sp>
        <p:nvSpPr>
          <p:cNvPr id="11" name="Text 9"/>
          <p:cNvSpPr/>
          <p:nvPr/>
        </p:nvSpPr>
        <p:spPr>
          <a:xfrm>
            <a:off x="868680" y="5038344"/>
            <a:ext cx="10332720" cy="3657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Q5.  How are IT and ITeS interrelated?</a:t>
            </a:r>
            <a:endParaRPr lang="en-US" sz="1400" dirty="0"/>
          </a:p>
        </p:txBody>
      </p:sp>
      <p:sp>
        <p:nvSpPr>
          <p:cNvPr id="12" name="Text 10"/>
          <p:cNvSpPr/>
          <p:nvPr/>
        </p:nvSpPr>
        <p:spPr>
          <a:xfrm>
            <a:off x="868680" y="5431536"/>
            <a:ext cx="10332720" cy="868680"/>
          </a:xfrm>
          <a:prstGeom prst="rect">
            <a:avLst/>
          </a:prstGeom>
          <a:noFill/>
          <a:ln/>
        </p:spPr>
        <p:txBody>
          <a:bodyPr wrap="square" lIns="0" tIns="0" rIns="0" bIns="0" rtlCol="0" anchor="ctr"/>
          <a:lstStyle/>
          <a:p>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IT (hardware, software, networks &amp; databases) forms the technology backbone, while ITeS is the application of that IT infrastructure to deliver actual business services remotely — in short, ITeS is built on top of, and depends on, IT.</a:t>
            </a:r>
            <a:endParaRPr lang="en-US" sz="120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5B6B7C"/>
                </a:solidFill>
                <a:latin typeface="Calibri" pitchFamily="34" charset="0"/>
                <a:ea typeface="Calibri" pitchFamily="34" charset="-122"/>
                <a:cs typeface="Calibri" pitchFamily="34" charset="-120"/>
              </a:rPr>
              <a:t>Unit 1  |  Introduction to IT-ITeS Industry</a:t>
            </a:r>
            <a:endParaRPr lang="en-US" sz="900" dirty="0"/>
          </a:p>
        </p:txBody>
      </p:sp>
      <p:sp>
        <p:nvSpPr>
          <p:cNvPr id="14" name="Text 1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5B6B7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13315C"/>
          </a:solidFill>
          <a:ln/>
        </p:spPr>
      </p:sp>
      <p:sp>
        <p:nvSpPr>
          <p:cNvPr id="3" name="Shape 1"/>
          <p:cNvSpPr/>
          <p:nvPr/>
        </p:nvSpPr>
        <p:spPr>
          <a:xfrm>
            <a:off x="-1463040" y="4206240"/>
            <a:ext cx="3840480" cy="3840480"/>
          </a:xfrm>
          <a:prstGeom prst="ellipse">
            <a:avLst/>
          </a:prstGeom>
          <a:solidFill>
            <a:srgbClr val="13315C"/>
          </a:solidFill>
          <a:ln/>
        </p:spPr>
      </p:sp>
      <p:sp>
        <p:nvSpPr>
          <p:cNvPr id="4" name="Shape 2"/>
          <p:cNvSpPr/>
          <p:nvPr/>
        </p:nvSpPr>
        <p:spPr>
          <a:xfrm>
            <a:off x="5486400" y="2194560"/>
            <a:ext cx="1188720" cy="1188720"/>
          </a:xfrm>
          <a:prstGeom prst="ellipse">
            <a:avLst/>
          </a:prstGeom>
          <a:solidFill>
            <a:srgbClr val="0E7C86"/>
          </a:solidFill>
          <a:ln/>
        </p:spPr>
      </p:sp>
      <p:pic>
        <p:nvPicPr>
          <p:cNvPr id="5" name="Image 0" descr="preencoded.png">    </p:cNvPr>
          <p:cNvPicPr>
            <a:picLocks noChangeAspect="1"/>
          </p:cNvPicPr>
          <p:nvPr/>
        </p:nvPicPr>
        <p:blipFill>
          <a:blip r:embed="rId1"/>
          <a:stretch>
            <a:fillRect/>
          </a:stretch>
        </p:blipFill>
        <p:spPr>
          <a:xfrm>
            <a:off x="5640934" y="2349094"/>
            <a:ext cx="879653" cy="879653"/>
          </a:xfrm>
          <a:prstGeom prst="rect">
            <a:avLst/>
          </a:prstGeom>
        </p:spPr>
      </p:pic>
      <p:sp>
        <p:nvSpPr>
          <p:cNvPr id="6" name="Text 3"/>
          <p:cNvSpPr/>
          <p:nvPr/>
        </p:nvSpPr>
        <p:spPr>
          <a:xfrm>
            <a:off x="0" y="3657600"/>
            <a:ext cx="12161520"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4"/>
          <p:cNvSpPr/>
          <p:nvPr/>
        </p:nvSpPr>
        <p:spPr>
          <a:xfrm>
            <a:off x="0" y="4526280"/>
            <a:ext cx="12161520" cy="45720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Unit 1  |  Introduction to IT-ITeS Industry  |  Grade 10 · IT 402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IT-ITeS Industry</dc:title>
  <dc:subject>PptxGenJS Presentation</dc:subject>
  <dc:creator>Learn With Omii IT</dc:creator>
  <cp:lastModifiedBy>Learn With Omii IT</cp:lastModifiedBy>
  <cp:revision>1</cp:revision>
  <dcterms:created xsi:type="dcterms:W3CDTF">2026-07-08T11:02:36Z</dcterms:created>
  <dcterms:modified xsi:type="dcterms:W3CDTF">2026-07-08T11:02:36Z</dcterms:modified>
</cp:coreProperties>
</file>