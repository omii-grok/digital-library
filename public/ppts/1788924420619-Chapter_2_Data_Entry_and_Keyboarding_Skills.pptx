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731520"/>
            <a:ext cx="2377440" cy="5303520"/>
          </a:xfrm>
          <a:prstGeom prst="round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1234440"/>
            <a:ext cx="1554480" cy="320040"/>
          </a:xfrm>
          <a:prstGeom prst="rect">
            <a:avLst/>
          </a:prstGeom>
          <a:solidFill>
            <a:srgbClr val="F8B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72600" y="182880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29800" y="182880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182880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44200" y="182880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45752" y="233172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02952" y="233172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60152" y="233172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17352" y="233172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18904" y="283464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76104" y="283464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33304" y="283464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90504" y="283464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92056" y="333756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49256" y="333756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06456" y="333756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63656" y="333756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143000"/>
            <a:ext cx="795527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DATA ENTRY AND</a:t>
            </a:r>
            <a:br/>
            <a:r>
              <a:t>KEYBOARDING SKILLS</a:t>
            </a:r>
          </a:p>
          <a:p>
            <a:pPr>
              <a:defRPr sz="2100">
                <a:solidFill>
                  <a:srgbClr val="F8B036"/>
                </a:solidFill>
                <a:latin typeface="Aptos"/>
              </a:defRPr>
            </a:pPr>
            <a:r>
              <a:t>Easy-to-understand classroom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Chapter 2 • Standard QWERTY Keyboard • Typing • Ergonomics • Typing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Chapter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73152" cy="1874519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28930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5D91"/>
                </a:solidFill>
                <a:latin typeface="Aptos Display"/>
              </a:defRPr>
            </a:pPr>
            <a:r>
              <a:t>1. Standard QWERTY Keyboard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09928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Understand the common keyboard layout and its main sections.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43000"/>
            <a:ext cx="73152" cy="1874519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28930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7E20"/>
                </a:solidFill>
                <a:latin typeface="Aptos Display"/>
              </a:defRPr>
            </a:pPr>
            <a:r>
              <a:t>2. Data Entry &amp; Keyboarding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09928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Understand why keyboard skills are important for efficient and accurate computer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430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73152" cy="1874519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8930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F825A"/>
                </a:solidFill>
                <a:latin typeface="Aptos Display"/>
              </a:defRPr>
            </a:pPr>
            <a:r>
              <a:t>3. Typing Ergonomics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09928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Learn correct posture, hand position and comfortable working habits.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3832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383280"/>
            <a:ext cx="73152" cy="1874519"/>
          </a:xfrm>
          <a:prstGeom prst="rect">
            <a:avLst/>
          </a:prstGeom>
          <a:solidFill>
            <a:srgbClr val="6C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352958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C4C91"/>
                </a:solidFill>
                <a:latin typeface="Aptos Display"/>
              </a:defRPr>
            </a:pPr>
            <a:r>
              <a:t>4. Touch Typing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950208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Learn home-row finger placement and the role of different rows.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832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383280"/>
            <a:ext cx="73152" cy="1874519"/>
          </a:xfrm>
          <a:prstGeom prst="rect">
            <a:avLst/>
          </a:prstGeom>
          <a:solidFill>
            <a:srgbClr val="F8B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52958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036"/>
                </a:solidFill>
                <a:latin typeface="Aptos Display"/>
              </a:defRPr>
            </a:pPr>
            <a:r>
              <a:t>5. Using Typing 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50208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Understand the basic features and steps for starting typing practice.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What is QWERTY?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KEYBOARD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47548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73152" cy="429768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289304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D91"/>
                </a:solidFill>
                <a:latin typeface="Aptos Display"/>
              </a:defRPr>
            </a:pPr>
            <a:r>
              <a:t>Simple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09928"/>
            <a:ext cx="44348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D37"/>
                </a:solidFill>
                <a:latin typeface="Aptos"/>
              </a:defRPr>
            </a:pPr>
            <a:r>
              <a:t>QWERTY is the most common keyboard layout for computers and typewriters using the Latin alphabet.</a:t>
            </a:r>
            <a:br/>
            <a:br/>
            <a:r>
              <a:t>The name “QWERTY” comes from the first six letters on the uppermost alphabet row of the keyboard.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234440"/>
            <a:ext cx="57607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0760" y="1828800"/>
            <a:ext cx="411480" cy="502920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828800"/>
            <a:ext cx="411480" cy="502920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50024" y="1828800"/>
            <a:ext cx="411480" cy="502920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4656" y="1828800"/>
            <a:ext cx="411480" cy="502920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828800"/>
            <a:ext cx="411480" cy="502920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828800"/>
            <a:ext cx="411480" cy="502920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1828800"/>
            <a:ext cx="411480" cy="502920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3184" y="1828800"/>
            <a:ext cx="411480" cy="502920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7816" y="1828800"/>
            <a:ext cx="411480" cy="502920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42448" y="1828800"/>
            <a:ext cx="411480" cy="502920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2542032"/>
            <a:ext cx="411480" cy="502920"/>
          </a:xfrm>
          <a:prstGeom prst="roundRect">
            <a:avLst/>
          </a:prstGeom>
          <a:solidFill>
            <a:srgbClr val="DCE6EF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9984" y="2542032"/>
            <a:ext cx="411480" cy="502920"/>
          </a:xfrm>
          <a:prstGeom prst="roundRect">
            <a:avLst/>
          </a:prstGeom>
          <a:solidFill>
            <a:srgbClr val="DCE6EF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2542032"/>
            <a:ext cx="411480" cy="502920"/>
          </a:xfrm>
          <a:prstGeom prst="roundRect">
            <a:avLst/>
          </a:prstGeom>
          <a:solidFill>
            <a:srgbClr val="DCE6EF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99248" y="2542032"/>
            <a:ext cx="411480" cy="502920"/>
          </a:xfrm>
          <a:prstGeom prst="roundRect">
            <a:avLst/>
          </a:prstGeom>
          <a:solidFill>
            <a:srgbClr val="DCE6EF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2542032"/>
            <a:ext cx="411480" cy="502920"/>
          </a:xfrm>
          <a:prstGeom prst="roundRect">
            <a:avLst/>
          </a:prstGeom>
          <a:solidFill>
            <a:srgbClr val="DCE6EF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68512" y="2542032"/>
            <a:ext cx="411480" cy="502920"/>
          </a:xfrm>
          <a:prstGeom prst="roundRect">
            <a:avLst/>
          </a:prstGeom>
          <a:solidFill>
            <a:srgbClr val="DCE6EF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2542032"/>
            <a:ext cx="411480" cy="502920"/>
          </a:xfrm>
          <a:prstGeom prst="roundRect">
            <a:avLst/>
          </a:prstGeom>
          <a:solidFill>
            <a:srgbClr val="DCE6EF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J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37776" y="2542032"/>
            <a:ext cx="411480" cy="502920"/>
          </a:xfrm>
          <a:prstGeom prst="roundRect">
            <a:avLst/>
          </a:prstGeom>
          <a:solidFill>
            <a:srgbClr val="DCE6EF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22408" y="2542032"/>
            <a:ext cx="411480" cy="502920"/>
          </a:xfrm>
          <a:prstGeom prst="roundRect">
            <a:avLst/>
          </a:prstGeom>
          <a:solidFill>
            <a:srgbClr val="DCE6EF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9944" y="3255264"/>
            <a:ext cx="411480" cy="502920"/>
          </a:xfrm>
          <a:prstGeom prst="roundRect">
            <a:avLst/>
          </a:prstGeom>
          <a:solidFill>
            <a:srgbClr val="E8EFF5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4576" y="3255264"/>
            <a:ext cx="411480" cy="502920"/>
          </a:xfrm>
          <a:prstGeom prst="roundRect">
            <a:avLst/>
          </a:prstGeom>
          <a:solidFill>
            <a:srgbClr val="E8EFF5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79208" y="3255264"/>
            <a:ext cx="411480" cy="502920"/>
          </a:xfrm>
          <a:prstGeom prst="roundRect">
            <a:avLst/>
          </a:prstGeom>
          <a:solidFill>
            <a:srgbClr val="E8EFF5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3255264"/>
            <a:ext cx="411480" cy="502920"/>
          </a:xfrm>
          <a:prstGeom prst="roundRect">
            <a:avLst/>
          </a:prstGeom>
          <a:solidFill>
            <a:srgbClr val="E8EFF5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8471" y="3255264"/>
            <a:ext cx="411480" cy="502920"/>
          </a:xfrm>
          <a:prstGeom prst="roundRect">
            <a:avLst/>
          </a:prstGeom>
          <a:solidFill>
            <a:srgbClr val="E8EFF5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33104" y="3255264"/>
            <a:ext cx="411480" cy="502920"/>
          </a:xfrm>
          <a:prstGeom prst="roundRect">
            <a:avLst/>
          </a:prstGeom>
          <a:solidFill>
            <a:srgbClr val="E8EFF5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17736" y="3255264"/>
            <a:ext cx="411480" cy="502920"/>
          </a:xfrm>
          <a:prstGeom prst="roundRect">
            <a:avLst/>
          </a:prstGeom>
          <a:solidFill>
            <a:srgbClr val="E8EFF5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B46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5D91"/>
                </a:solidFill>
                <a:latin typeface="Aptos"/>
              </a:defRPr>
            </a:pPr>
            <a:r>
              <a:t>First six letters: Q • W • E • R • T • 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Standard QWERTY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KEYBOARD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51560"/>
            <a:ext cx="73152" cy="1261872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97863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65D91"/>
                </a:solidFill>
                <a:latin typeface="Aptos Display"/>
              </a:defRPr>
            </a:pPr>
            <a:r>
              <a:t>Alphanumeric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475488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Letters, numbers and common punctuation 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5156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51560"/>
            <a:ext cx="73152" cy="1261872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97863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7E20"/>
                </a:solidFill>
                <a:latin typeface="Aptos Display"/>
              </a:defRPr>
            </a:pPr>
            <a:r>
              <a:t>Function Keys (F1–F12)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18488"/>
            <a:ext cx="475488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At the top; provide shortcuts and actions that differ between applications and operating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24328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624328"/>
            <a:ext cx="73152" cy="1261872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F825A"/>
                </a:solidFill>
                <a:latin typeface="Aptos Display"/>
              </a:defRPr>
            </a:pPr>
            <a:r>
              <a:t>Navigation Keys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91256"/>
            <a:ext cx="475488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Arrow keys plus Home, End, Page Up and Page Down for moving/scrolling.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624328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624328"/>
            <a:ext cx="73152" cy="1261872"/>
          </a:xfrm>
          <a:prstGeom prst="rect">
            <a:avLst/>
          </a:prstGeom>
          <a:solidFill>
            <a:srgbClr val="6C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77063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C4C91"/>
                </a:solidFill>
                <a:latin typeface="Aptos Display"/>
              </a:defRPr>
            </a:pPr>
            <a:r>
              <a:t>Numeric Keypad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91256"/>
            <a:ext cx="475488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Calculator-like layout for efficient number entry.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97096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197096"/>
            <a:ext cx="73152" cy="1261872"/>
          </a:xfrm>
          <a:prstGeom prst="rect">
            <a:avLst/>
          </a:prstGeom>
          <a:solidFill>
            <a:srgbClr val="F8B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B036"/>
                </a:solidFill>
                <a:latin typeface="Aptos Display"/>
              </a:defRPr>
            </a:pPr>
            <a:r>
              <a:t>Modifier Keys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64024"/>
            <a:ext cx="475488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Keys such as Shift, Ctrl (Control) and Alt.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 Entry and Keyboarding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97280"/>
            <a:ext cx="73152" cy="448056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4358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D91"/>
                </a:solidFill>
                <a:latin typeface="Aptos Display"/>
              </a:defRPr>
            </a:pPr>
            <a:r>
              <a:t>Why are these skills important?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64207"/>
            <a:ext cx="50292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• Data entry and keyboard skills are fundamental for various professional roles.</a:t>
            </a:r>
            <a:br/>
            <a:r>
              <a:t>• They help when entering data into spreadsheets, creating documents and communicating through emails.</a:t>
            </a:r>
            <a:br/>
            <a:r>
              <a:t>• Strong skills help people handle the demands of the modern workplace.</a:t>
            </a:r>
            <a:br/>
            <a:r>
              <a:t>• Continuous practice and staying updated on the latest technology can enhance these skills.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73152" cy="4480560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4358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27E20"/>
                </a:solidFill>
                <a:latin typeface="Aptos Display"/>
              </a:defRPr>
            </a:pPr>
            <a:r>
              <a:t>Keyboard skills mean…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64207"/>
            <a:ext cx="49377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The ability to operate a computer keyboard efficiently and accurately.</a:t>
            </a:r>
            <a:br/>
            <a:br/>
            <a:r>
              <a:t>They are vital for work involving data entry, content creation, programming or digital communication.</a:t>
            </a:r>
            <a:br/>
            <a:br/>
            <a:r>
              <a:t>Typing without looking at the keyboard significantly improves speed and accuracy.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Touch 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TYPING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73152" cy="429768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8930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65D91"/>
                </a:solidFill>
                <a:latin typeface="Aptos Display"/>
              </a:defRPr>
            </a:pPr>
            <a:r>
              <a:t>What is touch typing?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48463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D37"/>
                </a:solidFill>
                <a:latin typeface="Aptos"/>
              </a:defRPr>
            </a:pPr>
            <a:r>
              <a:t>Touch typing means typing without looking at the keyboard.</a:t>
            </a:r>
            <a:br/>
            <a:br/>
            <a:r>
              <a:t>It involves using all fingers and placing them on the home row keys.</a:t>
            </a:r>
            <a:br/>
            <a:br/>
            <a:r>
              <a:t>Regular practice helps you learn touch typing and improves speed and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4300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65D91"/>
                </a:solidFill>
                <a:latin typeface="Aptos Display"/>
              </a:defRPr>
            </a:pPr>
            <a:r>
              <a:t>Home Row = starting 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48840"/>
            <a:ext cx="429768" cy="566928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B46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148840"/>
            <a:ext cx="429768" cy="566928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B46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148840"/>
            <a:ext cx="429768" cy="566928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B46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2148840"/>
            <a:ext cx="429768" cy="566928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B46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148840"/>
            <a:ext cx="429768" cy="566928"/>
          </a:xfrm>
          <a:prstGeom prst="roundRect">
            <a:avLst/>
          </a:prstGeom>
          <a:solidFill>
            <a:srgbClr val="DCE6EF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B46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148840"/>
            <a:ext cx="429768" cy="566928"/>
          </a:xfrm>
          <a:prstGeom prst="roundRect">
            <a:avLst/>
          </a:prstGeom>
          <a:solidFill>
            <a:srgbClr val="DCE6EF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B46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148840"/>
            <a:ext cx="429768" cy="566928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B46"/>
                </a:solidFill>
                <a:latin typeface="Aptos"/>
              </a:defRPr>
            </a:pPr>
            <a:r>
              <a:t>J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2148840"/>
            <a:ext cx="429768" cy="566928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B46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24160" y="2148840"/>
            <a:ext cx="429768" cy="566928"/>
          </a:xfrm>
          <a:prstGeom prst="roundRect">
            <a:avLst/>
          </a:prstGeom>
          <a:solidFill>
            <a:srgbClr val="F8B036"/>
          </a:solidFill>
          <a:ln>
            <a:solidFill>
              <a:srgbClr val="26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B46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63240"/>
            <a:ext cx="4480560" cy="1645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Left hand: A, S, D, F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Right hand: J, K, L, ;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Thumb: spacebar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Finger Allocation &amp; Keyboard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TOUCH TYPING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53492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480060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97863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D91"/>
                </a:solidFill>
                <a:latin typeface="Aptos Display"/>
              </a:defRPr>
            </a:pPr>
            <a:r>
              <a:t>Home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The home row is the baseline where your fingers should naturally rest when not typing.</a:t>
            </a:r>
            <a:br/>
            <a:br/>
            <a:r>
              <a:t>Left hand: fingers rest on A, S, D, F.</a:t>
            </a:r>
            <a:br/>
            <a:r>
              <a:t>Right hand: fingers rest on J, K, L and ;.</a:t>
            </a:r>
            <a:br/>
            <a:r>
              <a:t>Thumb is used for the spacebar.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5156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73152" cy="1417320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97863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7E20"/>
                </a:solidFill>
                <a:latin typeface="Aptos Display"/>
              </a:defRPr>
            </a:pPr>
            <a:r>
              <a:t>Top 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1848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Q, W, E, R, T, Y and U, I, O, P are reached using the index and middle fingers as the fingers move upward.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697480"/>
            <a:ext cx="73152" cy="1417320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4378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F825A"/>
                </a:solidFill>
                <a:latin typeface="Aptos Display"/>
              </a:defRPr>
            </a:pPr>
            <a:r>
              <a:t>Bottom 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6440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Z, X, C, V and B are reached by extending the fingers diagonally downward.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3434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4343400"/>
            <a:ext cx="73152" cy="1417320"/>
          </a:xfrm>
          <a:prstGeom prst="rect">
            <a:avLst/>
          </a:prstGeom>
          <a:solidFill>
            <a:srgbClr val="6C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48970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C4C91"/>
                </a:solidFill>
                <a:latin typeface="Aptos Display"/>
              </a:defRPr>
            </a:pPr>
            <a:r>
              <a:t>Number 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1032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Numbers 1 through 4 are typically reached using the index and middle fingers.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Vertical Reach &amp; Shift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TOUCH TYPING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97280"/>
            <a:ext cx="73152" cy="448056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4358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D91"/>
                </a:solidFill>
                <a:latin typeface="Aptos Display"/>
              </a:defRPr>
            </a:pPr>
            <a:r>
              <a:t>Vertical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64207"/>
            <a:ext cx="49377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The index fingers move up and down to reach G and H on the home row.</a:t>
            </a:r>
            <a:br/>
            <a:br/>
            <a:r>
              <a:t>This helps fingers reach keys in the top and bottom rows while maintaining the home-row 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9728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097280"/>
            <a:ext cx="73152" cy="4480560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4358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27E20"/>
                </a:solidFill>
                <a:latin typeface="Aptos Display"/>
              </a:defRPr>
            </a:pPr>
            <a:r>
              <a:t>Shift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64207"/>
            <a:ext cx="49377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Use the pinky finger of the opposite hand to press the Shift key when needed.</a:t>
            </a:r>
            <a:br/>
            <a:br/>
            <a:r>
              <a:t>This supports typing when a key requires Shift.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Typing Ergonomics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COMFORT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182880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978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5D91"/>
                </a:solidFill>
                <a:latin typeface="Aptos Display"/>
              </a:defRPr>
            </a:pPr>
            <a:r>
              <a:t>Correct Seating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Sit up straight in the chair with your back against the backrest.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73152" cy="1828800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978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F825A"/>
                </a:solidFill>
                <a:latin typeface="Aptos Display"/>
              </a:defRPr>
            </a:pPr>
            <a:r>
              <a:t>Feet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1848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Keep your feet flat on the floor or on a footrest.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0515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051560"/>
            <a:ext cx="73152" cy="1828800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1978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7E20"/>
                </a:solidFill>
                <a:latin typeface="Aptos Display"/>
              </a:defRPr>
            </a:pPr>
            <a:r>
              <a:t>Desk &amp; Monitor Height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61848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The desk should allow a comfortable level and a 90-degree angle while typing.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2918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291840"/>
            <a:ext cx="73152" cy="1828800"/>
          </a:xfrm>
          <a:prstGeom prst="rect">
            <a:avLst/>
          </a:prstGeom>
          <a:solidFill>
            <a:srgbClr val="6C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34381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C4C91"/>
                </a:solidFill>
                <a:latin typeface="Aptos Display"/>
              </a:defRPr>
            </a:pPr>
            <a:r>
              <a:t>Monitor &amp; Eyes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85876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Position the monitor at eye level to reduce strain on your neck.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918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291840"/>
            <a:ext cx="73152" cy="1828800"/>
          </a:xfrm>
          <a:prstGeom prst="rect">
            <a:avLst/>
          </a:prstGeom>
          <a:solidFill>
            <a:srgbClr val="F8B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4381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036"/>
                </a:solidFill>
                <a:latin typeface="Aptos Display"/>
              </a:defRPr>
            </a:pPr>
            <a:r>
              <a:t>Keyboard Placement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85876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Place the keyboard directly in front of you, allowing your shoulders to relax.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Hand, Wrist &amp; Mouse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ERGONOMICS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196596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97863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5D91"/>
                </a:solidFill>
                <a:latin typeface="Aptos Display"/>
              </a:defRPr>
            </a:pPr>
            <a:r>
              <a:t>Hand and Wrist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Keep your wrists in a neutral position, not angled up or down.</a:t>
            </a:r>
            <a:br/>
            <a:r>
              <a:t>Avoid resting your wrists on the desk or keyboard while typing.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9184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91840"/>
            <a:ext cx="73152" cy="1965960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3814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F825A"/>
                </a:solidFill>
                <a:latin typeface="Aptos Display"/>
              </a:defRPr>
            </a:pPr>
            <a:r>
              <a:t>Finger 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58768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Use the home row keys for proper finger placement.</a:t>
            </a:r>
            <a:br/>
            <a:r>
              <a:t>Keep the left hand fingers on A, S, D, F and the right hand fingers on J, K, L and ;.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515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73152" cy="1965960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197863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7E20"/>
                </a:solidFill>
                <a:latin typeface="Aptos Display"/>
              </a:defRPr>
            </a:pPr>
            <a:r>
              <a:t>Adjust Keyboard and Chair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18488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Customize your chair and keyboard height to suit your body size and type comfortably.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9184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73152" cy="1965960"/>
          </a:xfrm>
          <a:prstGeom prst="rect">
            <a:avLst/>
          </a:prstGeom>
          <a:solidFill>
            <a:srgbClr val="6C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43814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C4C91"/>
                </a:solidFill>
                <a:latin typeface="Aptos Display"/>
              </a:defRPr>
            </a:pPr>
            <a:r>
              <a:t>Use a Properly Sized Mouse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58768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Choose a mouse that fits your hand comfortably to reduce strain.</a:t>
            </a:r>
            <a:br/>
            <a:r>
              <a:t>Position the mouse within easy reach to avoid overextension.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Posture Awareness, Breaks &amp; Eye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ERGONOMICS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452628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978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D91"/>
                </a:solidFill>
                <a:latin typeface="Aptos Display"/>
              </a:defRPr>
            </a:pPr>
            <a:r>
              <a:t>Posture 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Be mindful of your posture while typing.</a:t>
            </a:r>
            <a:br/>
            <a:br/>
            <a:r>
              <a:t>Avoid slouching or leaning forward.</a:t>
            </a:r>
            <a:br/>
            <a:br/>
            <a:r>
              <a:t>Take short breaks to stretch and relax your muscles.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73152" cy="4526280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978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F825A"/>
                </a:solidFill>
                <a:latin typeface="Aptos Display"/>
              </a:defRPr>
            </a:pPr>
            <a:r>
              <a:t>Regular 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18488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Take breaks every 20–30 minutes to prevent eye strain and muscle fatigue.</a:t>
            </a:r>
            <a:br/>
            <a:br/>
            <a:r>
              <a:t>Stretch your fingers, wrists and shoulders during breaks.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05156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051560"/>
            <a:ext cx="73152" cy="4526280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1978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27E20"/>
                </a:solidFill>
                <a:latin typeface="Aptos Display"/>
              </a:defRPr>
            </a:pPr>
            <a:r>
              <a:t>20-20-20 Eye 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618488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Every 20 minutes, look at something 20 feet away for at least 20 seconds.</a:t>
            </a:r>
            <a:br/>
            <a:br/>
            <a:r>
              <a:t>Blink frequently to moisten your eyes and reduce dryness.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Learn Keyboard Shortcuts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192024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97863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D91"/>
                </a:solidFill>
                <a:latin typeface="Aptos Display"/>
              </a:defRPr>
            </a:pPr>
            <a:r>
              <a:t>What are keyboard shortcuts?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Familiarize yourself with common keyboard shortcuts to minimize mouse usage and improve efficiency.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46120"/>
            <a:ext cx="73152" cy="1920240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9242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27E20"/>
                </a:solidFill>
                <a:latin typeface="Aptos Display"/>
              </a:defRPr>
            </a:pPr>
            <a:r>
              <a:t>Why use them?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13048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Maintain a clean and organized workspace and create a productive environment for learning and typing.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5156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73152" cy="1920240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197863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F825A"/>
                </a:solidFill>
                <a:latin typeface="Aptos Display"/>
              </a:defRPr>
            </a:pPr>
            <a:r>
              <a:t>Examples of key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18488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Modifier keys: Shift, Ctrl (Control), Alt.</a:t>
            </a:r>
            <a:br/>
            <a:r>
              <a:t>Function keys: F1–F12.</a:t>
            </a:r>
            <a:br/>
            <a:r>
              <a:t>Navigation keys: arrows, Home, End, Page Up, Page Down.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46120"/>
            <a:ext cx="73152" cy="1920240"/>
          </a:xfrm>
          <a:prstGeom prst="rect">
            <a:avLst/>
          </a:prstGeom>
          <a:solidFill>
            <a:srgbClr val="6C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9242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C4C91"/>
                </a:solidFill>
                <a:latin typeface="Aptos Display"/>
              </a:defRPr>
            </a:pPr>
            <a:r>
              <a:t>Main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13048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Keyboard shortcuts reduce mouse usage and help improve efficiency.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Pointing Devices &amp; Mouse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MOUSE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452628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97863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D91"/>
                </a:solidFill>
                <a:latin typeface="Aptos Display"/>
              </a:defRPr>
            </a:pPr>
            <a:r>
              <a:t>Pointing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A mouse is a pointing device used to point at a particular object and perform actions.</a:t>
            </a:r>
            <a:br/>
            <a:br/>
            <a:r>
              <a:t>The three main components of a mouse are its buttons (left and right), handling the mouse and the rolling object.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960120"/>
            <a:ext cx="24231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960120"/>
            <a:ext cx="73152" cy="1261872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0642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7E20"/>
                </a:solidFill>
                <a:latin typeface="Aptos Display"/>
              </a:defRPr>
            </a:pPr>
            <a:r>
              <a:t>Left 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27048"/>
            <a:ext cx="210312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Select an item.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960120"/>
            <a:ext cx="24231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960120"/>
            <a:ext cx="73152" cy="1261872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59" y="110642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F825A"/>
                </a:solidFill>
                <a:latin typeface="Aptos Display"/>
              </a:defRPr>
            </a:pPr>
            <a:r>
              <a:t>Right Click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1527048"/>
            <a:ext cx="210312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Display a set of commands and available options.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32888"/>
            <a:ext cx="24231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32888"/>
            <a:ext cx="73152" cy="1261872"/>
          </a:xfrm>
          <a:prstGeom prst="rect">
            <a:avLst/>
          </a:prstGeom>
          <a:solidFill>
            <a:srgbClr val="6C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7919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4C91"/>
                </a:solidFill>
                <a:latin typeface="Aptos Display"/>
              </a:defRPr>
            </a:pPr>
            <a:r>
              <a:t>Double Click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99816"/>
            <a:ext cx="210312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Start a program or open a file or trigger an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2532888"/>
            <a:ext cx="24231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2532888"/>
            <a:ext cx="73152" cy="1261872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67919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D91"/>
                </a:solidFill>
                <a:latin typeface="Aptos Display"/>
              </a:defRPr>
            </a:pPr>
            <a:r>
              <a:t>Drag and Drop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3099816"/>
            <a:ext cx="210312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Select and move an item from one location to another.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05656"/>
            <a:ext cx="24231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105656"/>
            <a:ext cx="73152" cy="1261872"/>
          </a:xfrm>
          <a:prstGeom prst="rect">
            <a:avLst/>
          </a:prstGeom>
          <a:solidFill>
            <a:srgbClr val="F8B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2519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B036"/>
                </a:solidFill>
                <a:latin typeface="Aptos Display"/>
              </a:defRPr>
            </a:pPr>
            <a:r>
              <a:t>Scroll Wheel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72584"/>
            <a:ext cx="210312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Move the page on the screen up and down.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4105656"/>
            <a:ext cx="24231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69680" y="4105656"/>
            <a:ext cx="73152" cy="1261872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59" y="42519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7E20"/>
                </a:solidFill>
                <a:latin typeface="Aptos Display"/>
              </a:defRPr>
            </a:pPr>
            <a:r>
              <a:t>Blocking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4672584"/>
            <a:ext cx="210312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Select text that needs to be edited or formatted.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Using Typing Software – Tipp10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452628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97863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D91"/>
                </a:solidFill>
                <a:latin typeface="Aptos Display"/>
              </a:defRPr>
            </a:pPr>
            <a:r>
              <a:t>Tipp10 Typing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Tipp10 is a free 10-finger touch typing tutor.</a:t>
            </a:r>
            <a:br/>
            <a:br/>
            <a:r>
              <a:t>It is easy to use and features a clear user interface.</a:t>
            </a:r>
            <a:br/>
            <a:br/>
            <a:r>
              <a:t>Beginners and children can start practicing right away without a hitch.</a:t>
            </a:r>
            <a:br/>
            <a:br/>
            <a:r>
              <a:t>It includes useful functions, extensive progress tracking and lessons that can be expanded with open lessons.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73152" cy="1920240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97863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27E20"/>
                </a:solidFill>
                <a:latin typeface="Aptos Display"/>
              </a:defRPr>
            </a:pPr>
            <a:r>
              <a:t>Benefits of Touch Typing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18488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D37"/>
                </a:solidFill>
                <a:latin typeface="Aptos"/>
              </a:defRPr>
            </a:pPr>
            <a:r>
              <a:t>Speed • Accuracy • Efficiency • Reduced Strain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46120"/>
            <a:ext cx="52578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246120"/>
            <a:ext cx="73152" cy="2331720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39242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F825A"/>
                </a:solidFill>
                <a:latin typeface="Aptos Display"/>
              </a:defRPr>
            </a:pPr>
            <a:r>
              <a:t>Basic Steps to Open Tipp10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13048"/>
            <a:ext cx="49377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1. Click on the Start button.</a:t>
            </a:r>
            <a:br/>
            <a:r>
              <a:t>2. Click on the Tipp10 folder.</a:t>
            </a:r>
            <a:br/>
            <a:r>
              <a:t>3. Click on Tipp10.</a:t>
            </a:r>
            <a:br/>
            <a:r>
              <a:t>4. The Tipp10 Welcome screen appears on the desktop.</a:t>
            </a:r>
            <a:br/>
            <a:r>
              <a:t>5. Select the Lesson from the Training Lessons tab.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Tipp10 Training &amp; Chapter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05840"/>
            <a:ext cx="73152" cy="196596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5214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5D91"/>
                </a:solidFill>
                <a:latin typeface="Aptos Display"/>
              </a:defRPr>
            </a:pPr>
            <a:r>
              <a:t>Training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From the Training Lessons tab, select a lesson and specify the lesson length and typing parameters.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46120"/>
            <a:ext cx="73152" cy="1965960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9242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7E20"/>
                </a:solidFill>
                <a:latin typeface="Aptos Display"/>
              </a:defRPr>
            </a:pPr>
            <a:r>
              <a:t>Time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13048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You can select the lesson length and specify the time limit, character limit and click on Start Training.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5257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05840"/>
            <a:ext cx="73152" cy="4206240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15214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F825A"/>
                </a:solidFill>
                <a:latin typeface="Aptos Display"/>
              </a:defRPr>
            </a:pPr>
            <a:r>
              <a:t>Remember These 6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72768"/>
            <a:ext cx="493776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1. QWERTY is the common keyboard layout.</a:t>
            </a:r>
            <a:br/>
            <a:r>
              <a:t>2. Keyboard sections include alphanumeric, function, navigation, numeric keypad and modifier keys.</a:t>
            </a:r>
            <a:br/>
            <a:r>
              <a:t>3. Touch typing uses all fingers with fingers starting on the home row.</a:t>
            </a:r>
            <a:br/>
            <a:r>
              <a:t>4. Good ergonomics supports comfortable and efficient typing.</a:t>
            </a:r>
            <a:br/>
            <a:r>
              <a:t>5. Mouse operations include click, right click, double click, drag and drop and scroll.</a:t>
            </a:r>
            <a:br/>
            <a:r>
              <a:t>6. Typing software such as Tipp10 supports practice and progress tracking.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8B036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051560"/>
            <a:ext cx="106070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51560"/>
            <a:ext cx="73152" cy="5166360"/>
          </a:xfrm>
          <a:prstGeom prst="rect">
            <a:avLst/>
          </a:prstGeom>
          <a:solidFill>
            <a:srgbClr val="26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97863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65D91"/>
                </a:solidFill>
                <a:latin typeface="Aptos Display"/>
              </a:defRPr>
            </a:pPr>
            <a:r>
              <a:t>Answer in your own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18488"/>
            <a:ext cx="10287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D37"/>
                </a:solidFill>
                <a:latin typeface="Aptos"/>
              </a:defRPr>
            </a:pPr>
            <a:r>
              <a:t>1. What does QWERTY mean?</a:t>
            </a:r>
            <a:br/>
            <a:r>
              <a:t>2. Name the five main sections of a typical QWERTY keyboard.</a:t>
            </a:r>
            <a:br/>
            <a:r>
              <a:t>3. Which keys form the home row?</a:t>
            </a:r>
            <a:br/>
            <a:r>
              <a:t>4. What is touch typing?</a:t>
            </a:r>
            <a:br/>
            <a:r>
              <a:t>5. State two typing-ergonomics rules.</a:t>
            </a:r>
            <a:br/>
            <a:r>
              <a:t>6. Name four common mouse actions.</a:t>
            </a:r>
            <a:br/>
            <a:r>
              <a:t>7. What is Tipp10?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65D91"/>
                </a:solidFill>
                <a:latin typeface="Aptos"/>
              </a:defRPr>
            </a:pPr>
            <a:r>
              <a:t>Chapter 2 • Data Entry and Keyboarding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5D91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