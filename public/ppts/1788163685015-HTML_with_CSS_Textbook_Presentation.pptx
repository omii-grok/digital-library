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3048"/>
        </a:solidFill>
        <a:effectLst/>
      </p:bgPr>
    </p:bg>
    <p:spTree>
      <p:nvGrpSpPr>
        <p:cNvPr id="1" name=""/>
        <p:cNvGrpSpPr/>
        <p:nvPr/>
      </p:nvGrpSpPr>
      <p:grpSpPr/>
      <p:sp>
        <p:nvSpPr>
          <p:cNvPr id="2" name="Rectangle 1"/>
          <p:cNvSpPr/>
          <p:nvPr/>
        </p:nvSpPr>
        <p:spPr>
          <a:xfrm>
            <a:off x="0" y="0"/>
            <a:ext cx="2743200" cy="146304"/>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875520" y="0"/>
            <a:ext cx="2313432" cy="146304"/>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25880"/>
            <a:ext cx="10698480" cy="1463040"/>
          </a:xfrm>
          <a:prstGeom prst="rect">
            <a:avLst/>
          </a:prstGeom>
          <a:noFill/>
        </p:spPr>
        <p:txBody>
          <a:bodyPr wrap="none">
            <a:spAutoFit/>
          </a:bodyPr>
          <a:lstStyle/>
          <a:p>
            <a:pPr algn="ctr"/>
            <a:r>
              <a:rPr sz="4600" b="1">
                <a:solidFill>
                  <a:srgbClr val="FFFFFF"/>
                </a:solidFill>
                <a:latin typeface="Aptos Display"/>
              </a:rPr>
              <a:t>HTML with CSS</a:t>
            </a:r>
          </a:p>
        </p:txBody>
      </p:sp>
      <p:sp>
        <p:nvSpPr>
          <p:cNvPr id="5" name="TextBox 4"/>
          <p:cNvSpPr txBox="1"/>
          <p:nvPr/>
        </p:nvSpPr>
        <p:spPr>
          <a:xfrm>
            <a:off x="1828800" y="2834640"/>
            <a:ext cx="8503920" cy="731520"/>
          </a:xfrm>
          <a:prstGeom prst="rect">
            <a:avLst/>
          </a:prstGeom>
          <a:noFill/>
        </p:spPr>
        <p:txBody>
          <a:bodyPr wrap="none">
            <a:spAutoFit/>
          </a:bodyPr>
          <a:lstStyle/>
          <a:p>
            <a:pPr algn="ctr"/>
            <a:r>
              <a:rPr sz="2000">
                <a:solidFill>
                  <a:srgbClr val="DCE4EE"/>
                </a:solidFill>
                <a:latin typeface="Aptos"/>
              </a:rPr>
              <a:t>Chapter 4 • Beginner-friendly textbook presentation</a:t>
            </a:r>
          </a:p>
        </p:txBody>
      </p:sp>
      <p:sp>
        <p:nvSpPr>
          <p:cNvPr id="6" name="TextBox 5"/>
          <p:cNvSpPr txBox="1"/>
          <p:nvPr/>
        </p:nvSpPr>
        <p:spPr>
          <a:xfrm>
            <a:off x="2011680" y="3886200"/>
            <a:ext cx="8138160" cy="1188720"/>
          </a:xfrm>
          <a:prstGeom prst="rect">
            <a:avLst/>
          </a:prstGeom>
          <a:noFill/>
        </p:spPr>
        <p:txBody>
          <a:bodyPr wrap="square">
            <a:spAutoFit/>
          </a:bodyPr>
          <a:lstStyle/>
          <a:p>
            <a:pPr algn="ctr"/>
            <a:r>
              <a:rPr sz="1600">
                <a:solidFill>
                  <a:srgbClr val="FFFFFF"/>
                </a:solidFill>
                <a:latin typeface="Aptos"/>
              </a:rPr>
              <a:t>Recap on HTML  •  Introduction to CSS  •  Advantages  •  Styles  •  Syntax  •  Common CSS styles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1. Recap on HTML</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Key HTML concepts covered before CSS</a:t>
            </a:r>
          </a:p>
        </p:txBody>
      </p:sp>
      <p:sp>
        <p:nvSpPr>
          <p:cNvPr id="5" name="Rounded Rectangle 4"/>
          <p:cNvSpPr/>
          <p:nvPr/>
        </p:nvSpPr>
        <p:spPr>
          <a:xfrm>
            <a:off x="502920" y="1234440"/>
            <a:ext cx="5394960" cy="196596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196596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53312"/>
            <a:ext cx="5074920" cy="365760"/>
          </a:xfrm>
          <a:prstGeom prst="rect">
            <a:avLst/>
          </a:prstGeom>
          <a:noFill/>
        </p:spPr>
        <p:txBody>
          <a:bodyPr wrap="none">
            <a:spAutoFit/>
          </a:bodyPr>
          <a:lstStyle/>
          <a:p>
            <a:r>
              <a:rPr b="1" sz="1800">
                <a:solidFill>
                  <a:srgbClr val="203048"/>
                </a:solidFill>
                <a:latin typeface="Aptos"/>
              </a:rPr>
              <a:t>HTML basics</a:t>
            </a:r>
          </a:p>
        </p:txBody>
      </p:sp>
      <p:sp>
        <p:nvSpPr>
          <p:cNvPr id="8" name="TextBox 7"/>
          <p:cNvSpPr txBox="1"/>
          <p:nvPr/>
        </p:nvSpPr>
        <p:spPr>
          <a:xfrm>
            <a:off x="704088" y="1764792"/>
            <a:ext cx="5074920" cy="1344167"/>
          </a:xfrm>
          <a:prstGeom prst="rect">
            <a:avLst/>
          </a:prstGeom>
          <a:noFill/>
        </p:spPr>
        <p:txBody>
          <a:bodyPr wrap="square">
            <a:spAutoFit/>
          </a:bodyPr>
          <a:lstStyle/>
          <a:p>
            <a:r>
              <a:rPr sz="1400">
                <a:solidFill>
                  <a:srgbClr val="2D323A"/>
                </a:solidFill>
                <a:latin typeface="Aptos"/>
              </a:rPr>
              <a:t>HTML = Hyper text markup language. It is made of elements/tags that instruct the browser what should appear on a web page and how. HTML was developed by Tim Berners-Lee.</a:t>
            </a:r>
          </a:p>
        </p:txBody>
      </p:sp>
      <p:sp>
        <p:nvSpPr>
          <p:cNvPr id="9" name="Rounded Rectangle 8"/>
          <p:cNvSpPr/>
          <p:nvPr/>
        </p:nvSpPr>
        <p:spPr>
          <a:xfrm>
            <a:off x="6126480" y="1234440"/>
            <a:ext cx="5532120" cy="196596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234440"/>
            <a:ext cx="73152" cy="196596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1353312"/>
            <a:ext cx="5212080" cy="365760"/>
          </a:xfrm>
          <a:prstGeom prst="rect">
            <a:avLst/>
          </a:prstGeom>
          <a:noFill/>
        </p:spPr>
        <p:txBody>
          <a:bodyPr wrap="none">
            <a:spAutoFit/>
          </a:bodyPr>
          <a:lstStyle/>
          <a:p>
            <a:r>
              <a:rPr b="1" sz="1800">
                <a:solidFill>
                  <a:srgbClr val="203048"/>
                </a:solidFill>
                <a:latin typeface="Aptos"/>
              </a:rPr>
              <a:t>Document &amp; elements</a:t>
            </a:r>
          </a:p>
        </p:txBody>
      </p:sp>
      <p:sp>
        <p:nvSpPr>
          <p:cNvPr id="12" name="TextBox 11"/>
          <p:cNvSpPr txBox="1"/>
          <p:nvPr/>
        </p:nvSpPr>
        <p:spPr>
          <a:xfrm>
            <a:off x="6327648" y="1764792"/>
            <a:ext cx="5212080" cy="1344167"/>
          </a:xfrm>
          <a:prstGeom prst="rect">
            <a:avLst/>
          </a:prstGeom>
          <a:noFill/>
        </p:spPr>
        <p:txBody>
          <a:bodyPr wrap="square">
            <a:spAutoFit/>
          </a:bodyPr>
          <a:lstStyle/>
          <a:p>
            <a:r>
              <a:rPr sz="1400">
                <a:solidFill>
                  <a:srgbClr val="2D323A"/>
                </a:solidFill>
                <a:latin typeface="Aptos"/>
              </a:rPr>
              <a:t>• HTML documents are text files with HTML tags.
• &lt;HEAD&gt; is for the document head; &lt;BODY&gt; forms the document body.
• Container elements have start and end tags; empty elements have only a start tag.</a:t>
            </a:r>
          </a:p>
        </p:txBody>
      </p:sp>
      <p:sp>
        <p:nvSpPr>
          <p:cNvPr id="13" name="Rounded Rectangle 12"/>
          <p:cNvSpPr/>
          <p:nvPr/>
        </p:nvSpPr>
        <p:spPr>
          <a:xfrm>
            <a:off x="502920" y="3429000"/>
            <a:ext cx="5394960" cy="233172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3429000"/>
            <a:ext cx="73152" cy="233172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 y="3547872"/>
            <a:ext cx="5074920" cy="365760"/>
          </a:xfrm>
          <a:prstGeom prst="rect">
            <a:avLst/>
          </a:prstGeom>
          <a:noFill/>
        </p:spPr>
        <p:txBody>
          <a:bodyPr wrap="none">
            <a:spAutoFit/>
          </a:bodyPr>
          <a:lstStyle/>
          <a:p>
            <a:r>
              <a:rPr b="1" sz="1800">
                <a:solidFill>
                  <a:srgbClr val="203048"/>
                </a:solidFill>
                <a:latin typeface="Aptos"/>
              </a:rPr>
              <a:t>Important HTML terms</a:t>
            </a:r>
          </a:p>
        </p:txBody>
      </p:sp>
      <p:sp>
        <p:nvSpPr>
          <p:cNvPr id="16" name="TextBox 15"/>
          <p:cNvSpPr txBox="1"/>
          <p:nvPr/>
        </p:nvSpPr>
        <p:spPr>
          <a:xfrm>
            <a:off x="704088" y="3959352"/>
            <a:ext cx="5074920" cy="1709927"/>
          </a:xfrm>
          <a:prstGeom prst="rect">
            <a:avLst/>
          </a:prstGeom>
          <a:noFill/>
        </p:spPr>
        <p:txBody>
          <a:bodyPr wrap="square">
            <a:spAutoFit/>
          </a:bodyPr>
          <a:lstStyle/>
          <a:p>
            <a:r>
              <a:rPr sz="1400">
                <a:solidFill>
                  <a:srgbClr val="2D323A"/>
                </a:solidFill>
                <a:latin typeface="Aptos"/>
              </a:rPr>
              <a:t>• HTML editor — used to create and save the document.
• Web browser — used to view the HTML document.
• Attributes describe an element and have Name + Value.
• HTML tags mark the start and end of HTML.</a:t>
            </a:r>
          </a:p>
        </p:txBody>
      </p:sp>
      <p:sp>
        <p:nvSpPr>
          <p:cNvPr id="17" name="Rounded Rectangle 16"/>
          <p:cNvSpPr/>
          <p:nvPr/>
        </p:nvSpPr>
        <p:spPr>
          <a:xfrm>
            <a:off x="6126480" y="3429000"/>
            <a:ext cx="5532120" cy="233172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3429000"/>
            <a:ext cx="73152" cy="233172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3547872"/>
            <a:ext cx="5212080" cy="365760"/>
          </a:xfrm>
          <a:prstGeom prst="rect">
            <a:avLst/>
          </a:prstGeom>
          <a:noFill/>
        </p:spPr>
        <p:txBody>
          <a:bodyPr wrap="none">
            <a:spAutoFit/>
          </a:bodyPr>
          <a:lstStyle/>
          <a:p>
            <a:r>
              <a:rPr b="1" sz="1800">
                <a:solidFill>
                  <a:srgbClr val="203048"/>
                </a:solidFill>
                <a:latin typeface="Aptos"/>
              </a:rPr>
              <a:t>Common tags / elements</a:t>
            </a:r>
          </a:p>
        </p:txBody>
      </p:sp>
      <p:sp>
        <p:nvSpPr>
          <p:cNvPr id="20" name="TextBox 19"/>
          <p:cNvSpPr txBox="1"/>
          <p:nvPr/>
        </p:nvSpPr>
        <p:spPr>
          <a:xfrm>
            <a:off x="6327648" y="3959352"/>
            <a:ext cx="5212080" cy="1709927"/>
          </a:xfrm>
          <a:prstGeom prst="rect">
            <a:avLst/>
          </a:prstGeom>
          <a:noFill/>
        </p:spPr>
        <p:txBody>
          <a:bodyPr wrap="square">
            <a:spAutoFit/>
          </a:bodyPr>
          <a:lstStyle/>
          <a:p>
            <a:r>
              <a:rPr sz="1300">
                <a:solidFill>
                  <a:srgbClr val="2D323A"/>
                </a:solidFill>
                <a:latin typeface="Aptos"/>
              </a:rPr>
              <a:t>• Heading: &lt;h1&gt; to &lt;h6&gt;; &lt;h1&gt; is biggest and &lt;h6&gt; smallest.
• Paragraph: &lt;p&gt; … &lt;/p&gt;
• Line break: &lt;br&gt; (empty element)
• Superscript: text half above normal line
• Subscript: text below the base line</a:t>
            </a:r>
          </a:p>
        </p:txBody>
      </p:sp>
      <p:sp>
        <p:nvSpPr>
          <p:cNvPr id="21" name="TextBox 20"/>
          <p:cNvSpPr txBox="1"/>
          <p:nvPr/>
        </p:nvSpPr>
        <p:spPr>
          <a:xfrm>
            <a:off x="11201400" y="6473952"/>
            <a:ext cx="502920" cy="228600"/>
          </a:xfrm>
          <a:prstGeom prst="rect">
            <a:avLst/>
          </a:prstGeom>
          <a:noFill/>
        </p:spPr>
        <p:txBody>
          <a:bodyPr wrap="none">
            <a:spAutoFit/>
          </a:bodyPr>
          <a:lstStyle/>
          <a:p>
            <a:pPr algn="r"/>
            <a:r>
              <a:rPr sz="900">
                <a:solidFill>
                  <a:srgbClr val="787D87"/>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2. From HTML to CSS</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Remaining HTML recap and the idea of Cascading Style Sheets</a:t>
            </a:r>
          </a:p>
        </p:txBody>
      </p:sp>
      <p:sp>
        <p:nvSpPr>
          <p:cNvPr id="5" name="Rounded Rectangle 4"/>
          <p:cNvSpPr/>
          <p:nvPr/>
        </p:nvSpPr>
        <p:spPr>
          <a:xfrm>
            <a:off x="502920" y="1234440"/>
            <a:ext cx="5257800" cy="448056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448056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53312"/>
            <a:ext cx="4937760" cy="365760"/>
          </a:xfrm>
          <a:prstGeom prst="rect">
            <a:avLst/>
          </a:prstGeom>
          <a:noFill/>
        </p:spPr>
        <p:txBody>
          <a:bodyPr wrap="none">
            <a:spAutoFit/>
          </a:bodyPr>
          <a:lstStyle/>
          <a:p>
            <a:r>
              <a:rPr b="1" sz="1800">
                <a:solidFill>
                  <a:srgbClr val="203048"/>
                </a:solidFill>
                <a:latin typeface="Aptos"/>
              </a:rPr>
              <a:t>More HTML recap</a:t>
            </a:r>
          </a:p>
        </p:txBody>
      </p:sp>
      <p:sp>
        <p:nvSpPr>
          <p:cNvPr id="8" name="TextBox 7"/>
          <p:cNvSpPr txBox="1"/>
          <p:nvPr/>
        </p:nvSpPr>
        <p:spPr>
          <a:xfrm>
            <a:off x="704088" y="1764792"/>
            <a:ext cx="4937760" cy="3858768"/>
          </a:xfrm>
          <a:prstGeom prst="rect">
            <a:avLst/>
          </a:prstGeom>
          <a:noFill/>
        </p:spPr>
        <p:txBody>
          <a:bodyPr wrap="square">
            <a:spAutoFit/>
          </a:bodyPr>
          <a:lstStyle/>
          <a:p>
            <a:r>
              <a:rPr sz="1400">
                <a:solidFill>
                  <a:srgbClr val="2D323A"/>
                </a:solidFill>
                <a:latin typeface="Aptos"/>
              </a:rPr>
              <a:t>• Marquee tag — scrolls text horizontally or vertically depending on settings.
• HTML comments — ignored by the browser, but can be viewed in source code.
• Unordered list — bulleted list.
• Ordered list — numbered list; start attribute sets the first list-item value.
• Nested list — a list within a list.
• Scrollable list box — used when multiple answers are selected from a list.
• Image tag &lt;img&gt; — browser supports various image formats.</a:t>
            </a:r>
          </a:p>
        </p:txBody>
      </p:sp>
      <p:sp>
        <p:nvSpPr>
          <p:cNvPr id="9" name="Rounded Rectangle 8"/>
          <p:cNvSpPr/>
          <p:nvPr/>
        </p:nvSpPr>
        <p:spPr>
          <a:xfrm>
            <a:off x="5989320" y="1234440"/>
            <a:ext cx="5669280" cy="448056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89320" y="1234440"/>
            <a:ext cx="73152" cy="448056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0488" y="1353312"/>
            <a:ext cx="5349240" cy="365760"/>
          </a:xfrm>
          <a:prstGeom prst="rect">
            <a:avLst/>
          </a:prstGeom>
          <a:noFill/>
        </p:spPr>
        <p:txBody>
          <a:bodyPr wrap="none">
            <a:spAutoFit/>
          </a:bodyPr>
          <a:lstStyle/>
          <a:p>
            <a:r>
              <a:rPr b="1" sz="1800">
                <a:solidFill>
                  <a:srgbClr val="203048"/>
                </a:solidFill>
                <a:latin typeface="Aptos"/>
              </a:rPr>
              <a:t>Introduction to CSS</a:t>
            </a:r>
          </a:p>
        </p:txBody>
      </p:sp>
      <p:sp>
        <p:nvSpPr>
          <p:cNvPr id="12" name="TextBox 11"/>
          <p:cNvSpPr txBox="1"/>
          <p:nvPr/>
        </p:nvSpPr>
        <p:spPr>
          <a:xfrm>
            <a:off x="6190488" y="1764792"/>
            <a:ext cx="5349240" cy="3858768"/>
          </a:xfrm>
          <a:prstGeom prst="rect">
            <a:avLst/>
          </a:prstGeom>
          <a:noFill/>
        </p:spPr>
        <p:txBody>
          <a:bodyPr wrap="square">
            <a:spAutoFit/>
          </a:bodyPr>
          <a:lstStyle/>
          <a:p>
            <a:r>
              <a:rPr sz="1400">
                <a:solidFill>
                  <a:srgbClr val="2D323A"/>
                </a:solidFill>
                <a:latin typeface="Aptos"/>
              </a:rPr>
              <a:t>• CSS = Cascading Style Sheet.
• It is a commonly used presentation technology for designing HTML web content in a more sophisticated way.
• CSS makes website content more attractive through fonts, layouts, spacing and colors, giving it a more professional look.
• “Cascading” describes a mechanism that defines specific styles applied to different tags or repeated tags in a document.</a:t>
            </a:r>
          </a:p>
        </p:txBody>
      </p:sp>
      <p:sp>
        <p:nvSpPr>
          <p:cNvPr id="13" name="TextBox 12"/>
          <p:cNvSpPr txBox="1"/>
          <p:nvPr/>
        </p:nvSpPr>
        <p:spPr>
          <a:xfrm>
            <a:off x="11201400" y="6473952"/>
            <a:ext cx="502920" cy="228600"/>
          </a:xfrm>
          <a:prstGeom prst="rect">
            <a:avLst/>
          </a:prstGeom>
          <a:noFill/>
        </p:spPr>
        <p:txBody>
          <a:bodyPr wrap="none">
            <a:spAutoFit/>
          </a:bodyPr>
          <a:lstStyle/>
          <a:p>
            <a:pPr algn="r"/>
            <a:r>
              <a:rPr sz="900">
                <a:solidFill>
                  <a:srgbClr val="787D87"/>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3. Advantages of CSS &amp; Ways to Insert Styles</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CSS reduces repeated formatting work and supports reusable styling</a:t>
            </a:r>
          </a:p>
        </p:txBody>
      </p:sp>
      <p:sp>
        <p:nvSpPr>
          <p:cNvPr id="5" name="Rounded Rectangle 4"/>
          <p:cNvSpPr/>
          <p:nvPr/>
        </p:nvSpPr>
        <p:spPr>
          <a:xfrm>
            <a:off x="502920" y="1234440"/>
            <a:ext cx="5486400" cy="452628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452628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53312"/>
            <a:ext cx="5166360" cy="365760"/>
          </a:xfrm>
          <a:prstGeom prst="rect">
            <a:avLst/>
          </a:prstGeom>
          <a:noFill/>
        </p:spPr>
        <p:txBody>
          <a:bodyPr wrap="none">
            <a:spAutoFit/>
          </a:bodyPr>
          <a:lstStyle/>
          <a:p>
            <a:r>
              <a:rPr b="1" sz="1800">
                <a:solidFill>
                  <a:srgbClr val="203048"/>
                </a:solidFill>
                <a:latin typeface="Aptos"/>
              </a:rPr>
              <a:t>Advantages of CSS</a:t>
            </a:r>
          </a:p>
        </p:txBody>
      </p:sp>
      <p:sp>
        <p:nvSpPr>
          <p:cNvPr id="8" name="TextBox 7"/>
          <p:cNvSpPr txBox="1"/>
          <p:nvPr/>
        </p:nvSpPr>
        <p:spPr>
          <a:xfrm>
            <a:off x="704088" y="1764792"/>
            <a:ext cx="5166360" cy="3904488"/>
          </a:xfrm>
          <a:prstGeom prst="rect">
            <a:avLst/>
          </a:prstGeom>
          <a:noFill/>
        </p:spPr>
        <p:txBody>
          <a:bodyPr wrap="square">
            <a:spAutoFit/>
          </a:bodyPr>
          <a:lstStyle/>
          <a:p>
            <a:r>
              <a:rPr sz="1400">
                <a:solidFill>
                  <a:srgbClr val="2D323A"/>
                </a:solidFill>
                <a:latin typeface="Aptos"/>
              </a:rPr>
              <a:t>1. A CSS document can be written once and reused in multiple HTML pages.
2. Modification is easy: change the CSS file and the entire website changes automatically.
3. The same style can be applied to multiple occurrences, so less code is written and the page loads faster.
4. CSS can store web applications offline, so websites can be viewed offline too.</a:t>
            </a:r>
          </a:p>
        </p:txBody>
      </p:sp>
      <p:sp>
        <p:nvSpPr>
          <p:cNvPr id="9" name="Rounded Rectangle 8"/>
          <p:cNvSpPr/>
          <p:nvPr/>
        </p:nvSpPr>
        <p:spPr>
          <a:xfrm>
            <a:off x="6217920" y="1234440"/>
            <a:ext cx="5440680" cy="452628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34440"/>
            <a:ext cx="73152" cy="452628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353312"/>
            <a:ext cx="5120640" cy="365760"/>
          </a:xfrm>
          <a:prstGeom prst="rect">
            <a:avLst/>
          </a:prstGeom>
          <a:noFill/>
        </p:spPr>
        <p:txBody>
          <a:bodyPr wrap="none">
            <a:spAutoFit/>
          </a:bodyPr>
          <a:lstStyle/>
          <a:p>
            <a:r>
              <a:rPr b="1" sz="1800">
                <a:solidFill>
                  <a:srgbClr val="203048"/>
                </a:solidFill>
                <a:latin typeface="Aptos"/>
              </a:rPr>
              <a:t>Three ways to insert styles</a:t>
            </a:r>
          </a:p>
        </p:txBody>
      </p:sp>
      <p:sp>
        <p:nvSpPr>
          <p:cNvPr id="12" name="TextBox 11"/>
          <p:cNvSpPr txBox="1"/>
          <p:nvPr/>
        </p:nvSpPr>
        <p:spPr>
          <a:xfrm>
            <a:off x="6419088" y="1764792"/>
            <a:ext cx="5120640" cy="3904488"/>
          </a:xfrm>
          <a:prstGeom prst="rect">
            <a:avLst/>
          </a:prstGeom>
          <a:noFill/>
        </p:spPr>
        <p:txBody>
          <a:bodyPr wrap="square">
            <a:spAutoFit/>
          </a:bodyPr>
          <a:lstStyle/>
          <a:p>
            <a:r>
              <a:rPr sz="1400">
                <a:solidFill>
                  <a:srgbClr val="2D323A"/>
                </a:solidFill>
                <a:latin typeface="Aptos"/>
              </a:rPr>
              <a:t>1. Inline — styles are added with HTML tags as attributes.
2. Internal — styles are added in the beginning of the document within the &lt;head&gt; tag.
3. External — styles are added in a separate file and linked to the HTML document.</a:t>
            </a:r>
          </a:p>
        </p:txBody>
      </p:sp>
      <p:sp>
        <p:nvSpPr>
          <p:cNvPr id="13" name="TextBox 12"/>
          <p:cNvSpPr txBox="1"/>
          <p:nvPr/>
        </p:nvSpPr>
        <p:spPr>
          <a:xfrm>
            <a:off x="11201400" y="6473952"/>
            <a:ext cx="502920" cy="228600"/>
          </a:xfrm>
          <a:prstGeom prst="rect">
            <a:avLst/>
          </a:prstGeom>
          <a:noFill/>
        </p:spPr>
        <p:txBody>
          <a:bodyPr wrap="none">
            <a:spAutoFit/>
          </a:bodyPr>
          <a:lstStyle/>
          <a:p>
            <a:pPr algn="r"/>
            <a:r>
              <a:rPr sz="900">
                <a:solidFill>
                  <a:srgbClr val="787D87"/>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4. Syntax of a CSS Style</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A CSS style is made up of three parts</a:t>
            </a:r>
          </a:p>
        </p:txBody>
      </p:sp>
      <p:sp>
        <p:nvSpPr>
          <p:cNvPr id="5" name="Rounded Rectangle 4"/>
          <p:cNvSpPr/>
          <p:nvPr/>
        </p:nvSpPr>
        <p:spPr>
          <a:xfrm>
            <a:off x="502920" y="1234440"/>
            <a:ext cx="347472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182880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53312"/>
            <a:ext cx="3154679" cy="365760"/>
          </a:xfrm>
          <a:prstGeom prst="rect">
            <a:avLst/>
          </a:prstGeom>
          <a:noFill/>
        </p:spPr>
        <p:txBody>
          <a:bodyPr wrap="none">
            <a:spAutoFit/>
          </a:bodyPr>
          <a:lstStyle/>
          <a:p>
            <a:r>
              <a:rPr b="1" sz="1800">
                <a:solidFill>
                  <a:srgbClr val="203048"/>
                </a:solidFill>
                <a:latin typeface="Aptos"/>
              </a:rPr>
              <a:t>Selector</a:t>
            </a:r>
          </a:p>
        </p:txBody>
      </p:sp>
      <p:sp>
        <p:nvSpPr>
          <p:cNvPr id="8" name="TextBox 7"/>
          <p:cNvSpPr txBox="1"/>
          <p:nvPr/>
        </p:nvSpPr>
        <p:spPr>
          <a:xfrm>
            <a:off x="704088" y="1764792"/>
            <a:ext cx="3154679" cy="1207007"/>
          </a:xfrm>
          <a:prstGeom prst="rect">
            <a:avLst/>
          </a:prstGeom>
          <a:noFill/>
        </p:spPr>
        <p:txBody>
          <a:bodyPr wrap="square">
            <a:spAutoFit/>
          </a:bodyPr>
          <a:lstStyle/>
          <a:p>
            <a:r>
              <a:rPr sz="1500">
                <a:solidFill>
                  <a:srgbClr val="2D323A"/>
                </a:solidFill>
                <a:latin typeface="Aptos"/>
              </a:rPr>
              <a:t>The HTML tag on which a style will be applied.
Example: &lt;p&gt;, &lt;U&gt;</a:t>
            </a:r>
          </a:p>
        </p:txBody>
      </p:sp>
      <p:sp>
        <p:nvSpPr>
          <p:cNvPr id="9" name="Rounded Rectangle 8"/>
          <p:cNvSpPr/>
          <p:nvPr/>
        </p:nvSpPr>
        <p:spPr>
          <a:xfrm>
            <a:off x="4343400" y="1234440"/>
            <a:ext cx="347472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34440"/>
            <a:ext cx="73152" cy="182880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353312"/>
            <a:ext cx="3154679" cy="365760"/>
          </a:xfrm>
          <a:prstGeom prst="rect">
            <a:avLst/>
          </a:prstGeom>
          <a:noFill/>
        </p:spPr>
        <p:txBody>
          <a:bodyPr wrap="none">
            <a:spAutoFit/>
          </a:bodyPr>
          <a:lstStyle/>
          <a:p>
            <a:r>
              <a:rPr b="1" sz="1800">
                <a:solidFill>
                  <a:srgbClr val="203048"/>
                </a:solidFill>
                <a:latin typeface="Aptos"/>
              </a:rPr>
              <a:t>Property</a:t>
            </a:r>
          </a:p>
        </p:txBody>
      </p:sp>
      <p:sp>
        <p:nvSpPr>
          <p:cNvPr id="12" name="TextBox 11"/>
          <p:cNvSpPr txBox="1"/>
          <p:nvPr/>
        </p:nvSpPr>
        <p:spPr>
          <a:xfrm>
            <a:off x="4544568" y="1764792"/>
            <a:ext cx="3154679" cy="1207007"/>
          </a:xfrm>
          <a:prstGeom prst="rect">
            <a:avLst/>
          </a:prstGeom>
          <a:noFill/>
        </p:spPr>
        <p:txBody>
          <a:bodyPr wrap="square">
            <a:spAutoFit/>
          </a:bodyPr>
          <a:lstStyle/>
          <a:p>
            <a:r>
              <a:rPr sz="1500">
                <a:solidFill>
                  <a:srgbClr val="2D323A"/>
                </a:solidFill>
                <a:latin typeface="Aptos"/>
              </a:rPr>
              <a:t>The type of CSS style applied to the text associated with the HTML tag.</a:t>
            </a:r>
          </a:p>
        </p:txBody>
      </p:sp>
      <p:sp>
        <p:nvSpPr>
          <p:cNvPr id="13" name="Rounded Rectangle 12"/>
          <p:cNvSpPr/>
          <p:nvPr/>
        </p:nvSpPr>
        <p:spPr>
          <a:xfrm>
            <a:off x="8183879" y="1234440"/>
            <a:ext cx="347472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79" y="1234440"/>
            <a:ext cx="73152" cy="182880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85048" y="1353312"/>
            <a:ext cx="3154679" cy="365760"/>
          </a:xfrm>
          <a:prstGeom prst="rect">
            <a:avLst/>
          </a:prstGeom>
          <a:noFill/>
        </p:spPr>
        <p:txBody>
          <a:bodyPr wrap="none">
            <a:spAutoFit/>
          </a:bodyPr>
          <a:lstStyle/>
          <a:p>
            <a:r>
              <a:rPr b="1" sz="1800">
                <a:solidFill>
                  <a:srgbClr val="203048"/>
                </a:solidFill>
                <a:latin typeface="Aptos"/>
              </a:rPr>
              <a:t>Value</a:t>
            </a:r>
          </a:p>
        </p:txBody>
      </p:sp>
      <p:sp>
        <p:nvSpPr>
          <p:cNvPr id="16" name="TextBox 15"/>
          <p:cNvSpPr txBox="1"/>
          <p:nvPr/>
        </p:nvSpPr>
        <p:spPr>
          <a:xfrm>
            <a:off x="8385048" y="1764792"/>
            <a:ext cx="3154679" cy="1207007"/>
          </a:xfrm>
          <a:prstGeom prst="rect">
            <a:avLst/>
          </a:prstGeom>
          <a:noFill/>
        </p:spPr>
        <p:txBody>
          <a:bodyPr wrap="square">
            <a:spAutoFit/>
          </a:bodyPr>
          <a:lstStyle/>
          <a:p>
            <a:r>
              <a:rPr sz="1500">
                <a:solidFill>
                  <a:srgbClr val="2D323A"/>
                </a:solidFill>
                <a:latin typeface="Aptos"/>
              </a:rPr>
              <a:t>The value assigned to a property.
Example: Color property → red.</a:t>
            </a:r>
          </a:p>
        </p:txBody>
      </p:sp>
      <p:sp>
        <p:nvSpPr>
          <p:cNvPr id="17" name="Rounded Rectangle 16"/>
          <p:cNvSpPr/>
          <p:nvPr/>
        </p:nvSpPr>
        <p:spPr>
          <a:xfrm>
            <a:off x="1143000" y="3429000"/>
            <a:ext cx="9921240" cy="82296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07592" y="3538728"/>
            <a:ext cx="9592056" cy="640080"/>
          </a:xfrm>
          <a:prstGeom prst="rect">
            <a:avLst/>
          </a:prstGeom>
          <a:noFill/>
        </p:spPr>
        <p:txBody>
          <a:bodyPr wrap="square">
            <a:spAutoFit/>
          </a:bodyPr>
          <a:lstStyle/>
          <a:p>
            <a:r>
              <a:rPr sz="2000">
                <a:solidFill>
                  <a:srgbClr val="FFFFFF"/>
                </a:solidFill>
                <a:latin typeface="Consolas"/>
              </a:rPr>
              <a:t>H1 { color: green; }</a:t>
            </a:r>
          </a:p>
        </p:txBody>
      </p:sp>
      <p:sp>
        <p:nvSpPr>
          <p:cNvPr id="19" name="TextBox 18"/>
          <p:cNvSpPr txBox="1"/>
          <p:nvPr/>
        </p:nvSpPr>
        <p:spPr>
          <a:xfrm>
            <a:off x="1508760" y="4315968"/>
            <a:ext cx="1828800" cy="365760"/>
          </a:xfrm>
          <a:prstGeom prst="rect">
            <a:avLst/>
          </a:prstGeom>
          <a:noFill/>
        </p:spPr>
        <p:txBody>
          <a:bodyPr wrap="none">
            <a:spAutoFit/>
          </a:bodyPr>
          <a:lstStyle/>
          <a:p>
            <a:pPr algn="ctr"/>
            <a:r>
              <a:rPr b="1" sz="1400">
                <a:solidFill>
                  <a:srgbClr val="664C8C"/>
                </a:solidFill>
              </a:rPr>
              <a:t>Selector</a:t>
            </a:r>
          </a:p>
        </p:txBody>
      </p:sp>
      <p:sp>
        <p:nvSpPr>
          <p:cNvPr id="20" name="TextBox 19"/>
          <p:cNvSpPr txBox="1"/>
          <p:nvPr/>
        </p:nvSpPr>
        <p:spPr>
          <a:xfrm>
            <a:off x="4983480" y="4315968"/>
            <a:ext cx="1828800" cy="365760"/>
          </a:xfrm>
          <a:prstGeom prst="rect">
            <a:avLst/>
          </a:prstGeom>
          <a:noFill/>
        </p:spPr>
        <p:txBody>
          <a:bodyPr wrap="none">
            <a:spAutoFit/>
          </a:bodyPr>
          <a:lstStyle/>
          <a:p>
            <a:pPr algn="ctr"/>
            <a:r>
              <a:rPr b="1" sz="1400">
                <a:solidFill>
                  <a:srgbClr val="1F8484"/>
                </a:solidFill>
              </a:rPr>
              <a:t>Property</a:t>
            </a:r>
          </a:p>
        </p:txBody>
      </p:sp>
      <p:sp>
        <p:nvSpPr>
          <p:cNvPr id="21" name="TextBox 20"/>
          <p:cNvSpPr txBox="1"/>
          <p:nvPr/>
        </p:nvSpPr>
        <p:spPr>
          <a:xfrm>
            <a:off x="8001000" y="4315968"/>
            <a:ext cx="1828800" cy="365760"/>
          </a:xfrm>
          <a:prstGeom prst="rect">
            <a:avLst/>
          </a:prstGeom>
          <a:noFill/>
        </p:spPr>
        <p:txBody>
          <a:bodyPr wrap="none">
            <a:spAutoFit/>
          </a:bodyPr>
          <a:lstStyle/>
          <a:p>
            <a:pPr algn="ctr"/>
            <a:r>
              <a:rPr b="1" sz="1400">
                <a:solidFill>
                  <a:srgbClr val="EC8B1B"/>
                </a:solidFill>
              </a:rPr>
              <a:t>Value</a:t>
            </a:r>
          </a:p>
        </p:txBody>
      </p:sp>
      <p:sp>
        <p:nvSpPr>
          <p:cNvPr id="22" name="Rounded Rectangle 21"/>
          <p:cNvSpPr/>
          <p:nvPr/>
        </p:nvSpPr>
        <p:spPr>
          <a:xfrm>
            <a:off x="914400" y="4800600"/>
            <a:ext cx="10332720" cy="105156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800600"/>
            <a:ext cx="73152" cy="1051560"/>
          </a:xfrm>
          <a:prstGeom prst="rect">
            <a:avLst/>
          </a:prstGeom>
          <a:solidFill>
            <a:srgbClr val="20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4919472"/>
            <a:ext cx="10012680" cy="365760"/>
          </a:xfrm>
          <a:prstGeom prst="rect">
            <a:avLst/>
          </a:prstGeom>
          <a:noFill/>
        </p:spPr>
        <p:txBody>
          <a:bodyPr wrap="none">
            <a:spAutoFit/>
          </a:bodyPr>
          <a:lstStyle/>
          <a:p>
            <a:r>
              <a:rPr b="1" sz="1600">
                <a:solidFill>
                  <a:srgbClr val="203048"/>
                </a:solidFill>
                <a:latin typeface="Aptos"/>
              </a:rPr>
              <a:t>Pattern</a:t>
            </a:r>
          </a:p>
        </p:txBody>
      </p:sp>
      <p:sp>
        <p:nvSpPr>
          <p:cNvPr id="25" name="TextBox 24"/>
          <p:cNvSpPr txBox="1"/>
          <p:nvPr/>
        </p:nvSpPr>
        <p:spPr>
          <a:xfrm>
            <a:off x="1115568" y="5330952"/>
            <a:ext cx="10012680" cy="429767"/>
          </a:xfrm>
          <a:prstGeom prst="rect">
            <a:avLst/>
          </a:prstGeom>
          <a:noFill/>
        </p:spPr>
        <p:txBody>
          <a:bodyPr wrap="square">
            <a:spAutoFit/>
          </a:bodyPr>
          <a:lstStyle/>
          <a:p>
            <a:r>
              <a:rPr sz="1600">
                <a:solidFill>
                  <a:srgbClr val="2D323A"/>
                </a:solidFill>
                <a:latin typeface="Aptos"/>
              </a:rPr>
              <a:t>Selector { property: value }</a:t>
            </a:r>
          </a:p>
        </p:txBody>
      </p:sp>
      <p:sp>
        <p:nvSpPr>
          <p:cNvPr id="26" name="TextBox 25"/>
          <p:cNvSpPr txBox="1"/>
          <p:nvPr/>
        </p:nvSpPr>
        <p:spPr>
          <a:xfrm>
            <a:off x="11201400" y="6473952"/>
            <a:ext cx="502920" cy="228600"/>
          </a:xfrm>
          <a:prstGeom prst="rect">
            <a:avLst/>
          </a:prstGeom>
          <a:noFill/>
        </p:spPr>
        <p:txBody>
          <a:bodyPr wrap="none">
            <a:spAutoFit/>
          </a:bodyPr>
          <a:lstStyle/>
          <a:p>
            <a:pPr algn="r"/>
            <a:r>
              <a:rPr sz="900">
                <a:solidFill>
                  <a:srgbClr val="787D87"/>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5. Commonly Used CSS Styles</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Examples and purposes from the textbook</a:t>
            </a:r>
          </a:p>
        </p:txBody>
      </p:sp>
      <p:graphicFrame>
        <p:nvGraphicFramePr>
          <p:cNvPr id="5" name="Table 4"/>
          <p:cNvGraphicFramePr>
            <a:graphicFrameLocks noGrp="1"/>
          </p:cNvGraphicFramePr>
          <p:nvPr/>
        </p:nvGraphicFramePr>
        <p:xfrm>
          <a:off x="411480" y="1234440"/>
          <a:ext cx="11338560" cy="5074920"/>
        </p:xfrm>
        <a:graphic>
          <a:graphicData uri="http://schemas.openxmlformats.org/drawingml/2006/table">
            <a:tbl>
              <a:tblPr firstRow="1" bandRow="1">
                <a:tableStyleId>{5C22544A-7EE6-4342-B048-85BDC9FD1C3A}</a:tableStyleId>
              </a:tblPr>
              <a:tblGrid>
                <a:gridCol w="2011680"/>
                <a:gridCol w="5623560"/>
                <a:gridCol w="3703320"/>
              </a:tblGrid>
              <a:tr h="724988">
                <a:tc>
                  <a:txBody>
                    <a:bodyPr/>
                    <a:lstStyle/>
                    <a:p>
                      <a:r>
                        <a:rPr b="1" sz="1400">
                          <a:solidFill>
                            <a:srgbClr val="FFFFFF"/>
                          </a:solidFill>
                        </a:rPr>
                        <a:t>Style</a:t>
                      </a:r>
                    </a:p>
                  </a:txBody>
                  <a:tcPr>
                    <a:solidFill>
                      <a:srgbClr val="203048"/>
                    </a:solidFill>
                  </a:tcPr>
                </a:tc>
                <a:tc>
                  <a:txBody>
                    <a:bodyPr/>
                    <a:lstStyle/>
                    <a:p>
                      <a:r>
                        <a:rPr b="1" sz="1400">
                          <a:solidFill>
                            <a:srgbClr val="FFFFFF"/>
                          </a:solidFill>
                        </a:rPr>
                        <a:t>Description</a:t>
                      </a:r>
                    </a:p>
                  </a:txBody>
                  <a:tcPr>
                    <a:solidFill>
                      <a:srgbClr val="203048"/>
                    </a:solidFill>
                  </a:tcPr>
                </a:tc>
                <a:tc>
                  <a:txBody>
                    <a:bodyPr/>
                    <a:lstStyle/>
                    <a:p>
                      <a:r>
                        <a:rPr b="1" sz="1400">
                          <a:solidFill>
                            <a:srgbClr val="FFFFFF"/>
                          </a:solidFill>
                        </a:rPr>
                        <a:t>Example</a:t>
                      </a:r>
                    </a:p>
                  </a:txBody>
                  <a:tcPr>
                    <a:solidFill>
                      <a:srgbClr val="203048"/>
                    </a:solidFill>
                  </a:tcPr>
                </a:tc>
              </a:tr>
              <a:tr h="724988">
                <a:tc>
                  <a:txBody>
                    <a:bodyPr wrap="square"/>
                    <a:lstStyle/>
                    <a:p>
                      <a:r>
                        <a:rPr sz="1050" b="1">
                          <a:solidFill>
                            <a:srgbClr val="1F8484"/>
                          </a:solidFill>
                          <a:latin typeface="Aptos"/>
                        </a:rPr>
                        <a:t>Background-color</a:t>
                      </a:r>
                    </a:p>
                  </a:txBody>
                  <a:tcPr>
                    <a:solidFill>
                      <a:srgbClr val="FFFFFF"/>
                    </a:solidFill>
                  </a:tcPr>
                </a:tc>
                <a:tc>
                  <a:txBody>
                    <a:bodyPr wrap="square"/>
                    <a:lstStyle/>
                    <a:p>
                      <a:r>
                        <a:rPr sz="1050">
                          <a:solidFill>
                            <a:srgbClr val="2D323A"/>
                          </a:solidFill>
                          <a:latin typeface="Aptos"/>
                        </a:rPr>
                        <a:t>Sets the background color of the text.</a:t>
                      </a:r>
                    </a:p>
                  </a:txBody>
                  <a:tcPr>
                    <a:solidFill>
                      <a:srgbClr val="FFFFFF"/>
                    </a:solidFill>
                  </a:tcPr>
                </a:tc>
                <a:tc>
                  <a:txBody>
                    <a:bodyPr wrap="square"/>
                    <a:lstStyle/>
                    <a:p>
                      <a:r>
                        <a:rPr sz="1050">
                          <a:solidFill>
                            <a:srgbClr val="2D323A"/>
                          </a:solidFill>
                          <a:latin typeface="Aptos"/>
                        </a:rPr>
                        <a:t>background-color: blue;</a:t>
                      </a:r>
                    </a:p>
                  </a:txBody>
                  <a:tcPr>
                    <a:solidFill>
                      <a:srgbClr val="FFFFFF"/>
                    </a:solidFill>
                  </a:tcPr>
                </a:tc>
              </a:tr>
              <a:tr h="724988">
                <a:tc>
                  <a:txBody>
                    <a:bodyPr wrap="square"/>
                    <a:lstStyle/>
                    <a:p>
                      <a:r>
                        <a:rPr sz="1050" b="1">
                          <a:solidFill>
                            <a:srgbClr val="1F8484"/>
                          </a:solidFill>
                          <a:latin typeface="Aptos"/>
                        </a:rPr>
                        <a:t>Color</a:t>
                      </a:r>
                    </a:p>
                  </a:txBody>
                  <a:tcPr>
                    <a:solidFill>
                      <a:srgbClr val="EFF4F8"/>
                    </a:solidFill>
                  </a:tcPr>
                </a:tc>
                <a:tc>
                  <a:txBody>
                    <a:bodyPr wrap="square"/>
                    <a:lstStyle/>
                    <a:p>
                      <a:r>
                        <a:rPr sz="1050">
                          <a:solidFill>
                            <a:srgbClr val="2D323A"/>
                          </a:solidFill>
                          <a:latin typeface="Aptos"/>
                        </a:rPr>
                        <a:t>Specifies the color of the text.</a:t>
                      </a:r>
                    </a:p>
                  </a:txBody>
                  <a:tcPr>
                    <a:solidFill>
                      <a:srgbClr val="EFF4F8"/>
                    </a:solidFill>
                  </a:tcPr>
                </a:tc>
                <a:tc>
                  <a:txBody>
                    <a:bodyPr wrap="square"/>
                    <a:lstStyle/>
                    <a:p>
                      <a:r>
                        <a:rPr sz="1050">
                          <a:solidFill>
                            <a:srgbClr val="2D323A"/>
                          </a:solidFill>
                          <a:latin typeface="Aptos"/>
                        </a:rPr>
                        <a:t>color: green;</a:t>
                      </a:r>
                    </a:p>
                  </a:txBody>
                  <a:tcPr>
                    <a:solidFill>
                      <a:srgbClr val="EFF4F8"/>
                    </a:solidFill>
                  </a:tcPr>
                </a:tc>
              </a:tr>
              <a:tr h="724988">
                <a:tc>
                  <a:txBody>
                    <a:bodyPr wrap="square"/>
                    <a:lstStyle/>
                    <a:p>
                      <a:r>
                        <a:rPr sz="1050" b="1">
                          <a:solidFill>
                            <a:srgbClr val="1F8484"/>
                          </a:solidFill>
                          <a:latin typeface="Aptos"/>
                        </a:rPr>
                        <a:t>Font-family</a:t>
                      </a:r>
                    </a:p>
                  </a:txBody>
                  <a:tcPr>
                    <a:solidFill>
                      <a:srgbClr val="FFFFFF"/>
                    </a:solidFill>
                  </a:tcPr>
                </a:tc>
                <a:tc>
                  <a:txBody>
                    <a:bodyPr wrap="square"/>
                    <a:lstStyle/>
                    <a:p>
                      <a:r>
                        <a:rPr sz="1050">
                          <a:solidFill>
                            <a:srgbClr val="2D323A"/>
                          </a:solidFill>
                          <a:latin typeface="Aptos"/>
                        </a:rPr>
                        <a:t>Specifies the type/face of font, e.g. Verdana, Times New Roman, Algerian.</a:t>
                      </a:r>
                    </a:p>
                  </a:txBody>
                  <a:tcPr>
                    <a:solidFill>
                      <a:srgbClr val="FFFFFF"/>
                    </a:solidFill>
                  </a:tcPr>
                </a:tc>
                <a:tc>
                  <a:txBody>
                    <a:bodyPr wrap="square"/>
                    <a:lstStyle/>
                    <a:p>
                      <a:r>
                        <a:rPr sz="1050">
                          <a:solidFill>
                            <a:srgbClr val="2D323A"/>
                          </a:solidFill>
                          <a:latin typeface="Aptos"/>
                        </a:rPr>
                        <a:t>font-family: Calibri</a:t>
                      </a:r>
                    </a:p>
                  </a:txBody>
                  <a:tcPr>
                    <a:solidFill>
                      <a:srgbClr val="FFFFFF"/>
                    </a:solidFill>
                  </a:tcPr>
                </a:tc>
              </a:tr>
              <a:tr h="724988">
                <a:tc>
                  <a:txBody>
                    <a:bodyPr wrap="square"/>
                    <a:lstStyle/>
                    <a:p>
                      <a:r>
                        <a:rPr sz="1050" b="1">
                          <a:solidFill>
                            <a:srgbClr val="1F8484"/>
                          </a:solidFill>
                          <a:latin typeface="Aptos"/>
                        </a:rPr>
                        <a:t>Font-size</a:t>
                      </a:r>
                    </a:p>
                  </a:txBody>
                  <a:tcPr>
                    <a:solidFill>
                      <a:srgbClr val="EFF4F8"/>
                    </a:solidFill>
                  </a:tcPr>
                </a:tc>
                <a:tc>
                  <a:txBody>
                    <a:bodyPr wrap="square"/>
                    <a:lstStyle/>
                    <a:p>
                      <a:r>
                        <a:rPr sz="1050">
                          <a:solidFill>
                            <a:srgbClr val="2D323A"/>
                          </a:solidFill>
                          <a:latin typeface="Aptos"/>
                        </a:rPr>
                        <a:t>Sets text size using px, cm, pt, in or %. Values such as xx-small to xx-large are also possible.</a:t>
                      </a:r>
                    </a:p>
                  </a:txBody>
                  <a:tcPr>
                    <a:solidFill>
                      <a:srgbClr val="EFF4F8"/>
                    </a:solidFill>
                  </a:tcPr>
                </a:tc>
                <a:tc>
                  <a:txBody>
                    <a:bodyPr wrap="square"/>
                    <a:lstStyle/>
                    <a:p>
                      <a:r>
                        <a:rPr sz="1050">
                          <a:solidFill>
                            <a:srgbClr val="2D323A"/>
                          </a:solidFill>
                          <a:latin typeface="Aptos"/>
                        </a:rPr>
                        <a:t>font-size: 5px;</a:t>
                      </a:r>
                    </a:p>
                  </a:txBody>
                  <a:tcPr>
                    <a:solidFill>
                      <a:srgbClr val="EFF4F8"/>
                    </a:solidFill>
                  </a:tcPr>
                </a:tc>
              </a:tr>
              <a:tr h="724988">
                <a:tc>
                  <a:txBody>
                    <a:bodyPr wrap="square"/>
                    <a:lstStyle/>
                    <a:p>
                      <a:r>
                        <a:rPr sz="1050" b="1">
                          <a:solidFill>
                            <a:srgbClr val="1F8484"/>
                          </a:solidFill>
                          <a:latin typeface="Aptos"/>
                        </a:rPr>
                        <a:t>Border-style</a:t>
                      </a:r>
                    </a:p>
                  </a:txBody>
                  <a:tcPr>
                    <a:solidFill>
                      <a:srgbClr val="FFFFFF"/>
                    </a:solidFill>
                  </a:tcPr>
                </a:tc>
                <a:tc>
                  <a:txBody>
                    <a:bodyPr wrap="square"/>
                    <a:lstStyle/>
                    <a:p>
                      <a:r>
                        <a:rPr sz="1050">
                          <a:solidFill>
                            <a:srgbClr val="2D323A"/>
                          </a:solidFill>
                          <a:latin typeface="Aptos"/>
                        </a:rPr>
                        <a:t>Sets the border type: none, dotted, dashed, solid, double, groove, ridge, inset, outset.</a:t>
                      </a:r>
                    </a:p>
                  </a:txBody>
                  <a:tcPr>
                    <a:solidFill>
                      <a:srgbClr val="FFFFFF"/>
                    </a:solidFill>
                  </a:tcPr>
                </a:tc>
                <a:tc>
                  <a:txBody>
                    <a:bodyPr wrap="square"/>
                    <a:lstStyle/>
                    <a:p>
                      <a:r>
                        <a:rPr sz="1050">
                          <a:solidFill>
                            <a:srgbClr val="2D323A"/>
                          </a:solidFill>
                          <a:latin typeface="Aptos"/>
                        </a:rPr>
                        <a:t>border-style: dashed;</a:t>
                      </a:r>
                    </a:p>
                  </a:txBody>
                  <a:tcPr>
                    <a:solidFill>
                      <a:srgbClr val="FFFFFF"/>
                    </a:solidFill>
                  </a:tcPr>
                </a:tc>
              </a:tr>
              <a:tr h="724992">
                <a:tc>
                  <a:txBody>
                    <a:bodyPr wrap="square"/>
                    <a:lstStyle/>
                    <a:p>
                      <a:r>
                        <a:rPr sz="1050" b="1">
                          <a:solidFill>
                            <a:srgbClr val="1F8484"/>
                          </a:solidFill>
                          <a:latin typeface="Aptos"/>
                        </a:rPr>
                        <a:t>Margin / Padding</a:t>
                      </a:r>
                    </a:p>
                  </a:txBody>
                  <a:tcPr>
                    <a:solidFill>
                      <a:srgbClr val="EFF4F8"/>
                    </a:solidFill>
                  </a:tcPr>
                </a:tc>
                <a:tc>
                  <a:txBody>
                    <a:bodyPr wrap="square"/>
                    <a:lstStyle/>
                    <a:p>
                      <a:r>
                        <a:rPr sz="1050">
                          <a:solidFill>
                            <a:srgbClr val="2D323A"/>
                          </a:solidFill>
                          <a:latin typeface="Aptos"/>
                        </a:rPr>
                        <a:t>Margin adjusts space around the border; padding adjusts space between border and content. Four values run top → right → bottom → left.</a:t>
                      </a:r>
                    </a:p>
                  </a:txBody>
                  <a:tcPr>
                    <a:solidFill>
                      <a:srgbClr val="EFF4F8"/>
                    </a:solidFill>
                  </a:tcPr>
                </a:tc>
                <a:tc>
                  <a:txBody>
                    <a:bodyPr wrap="square"/>
                    <a:lstStyle/>
                    <a:p>
                      <a:r>
                        <a:rPr sz="1050">
                          <a:solidFill>
                            <a:srgbClr val="2D323A"/>
                          </a:solidFill>
                          <a:latin typeface="Aptos"/>
                        </a:rPr>
                        <a:t>margin:20px 50px 25px 40px;</a:t>
                      </a:r>
                    </a:p>
                    <a:p>
                      <a:r>
                        <a:rPr sz="1050">
                          <a:solidFill>
                            <a:srgbClr val="2D323A"/>
                          </a:solidFill>
                          <a:latin typeface="Aptos"/>
                        </a:rPr>
                        <a:t>padding:20px 50px 25px 40px;</a:t>
                      </a:r>
                    </a:p>
                  </a:txBody>
                  <a:tcPr>
                    <a:solidFill>
                      <a:srgbClr val="EFF4F8"/>
                    </a:solidFill>
                  </a:tcPr>
                </a:tc>
              </a:tr>
            </a:tbl>
          </a:graphicData>
        </a:graphic>
      </p:graphicFrame>
      <p:sp>
        <p:nvSpPr>
          <p:cNvPr id="6" name="TextBox 5"/>
          <p:cNvSpPr txBox="1"/>
          <p:nvPr/>
        </p:nvSpPr>
        <p:spPr>
          <a:xfrm>
            <a:off x="11201400" y="6473952"/>
            <a:ext cx="502920" cy="228600"/>
          </a:xfrm>
          <a:prstGeom prst="rect">
            <a:avLst/>
          </a:prstGeom>
          <a:noFill/>
        </p:spPr>
        <p:txBody>
          <a:bodyPr wrap="none">
            <a:spAutoFit/>
          </a:bodyPr>
          <a:lstStyle/>
          <a:p>
            <a:pPr algn="r"/>
            <a:r>
              <a:rPr sz="900">
                <a:solidFill>
                  <a:srgbClr val="787D87"/>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6. Inline, Internal CSS, &lt;DIV&gt; and &lt;SPAN&gt;</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How styles are placed inside an HTML document</a:t>
            </a:r>
          </a:p>
        </p:txBody>
      </p:sp>
      <p:sp>
        <p:nvSpPr>
          <p:cNvPr id="5" name="Rounded Rectangle 4"/>
          <p:cNvSpPr/>
          <p:nvPr/>
        </p:nvSpPr>
        <p:spPr>
          <a:xfrm>
            <a:off x="502920" y="1188720"/>
            <a:ext cx="361188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88720"/>
            <a:ext cx="73152" cy="182880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07592"/>
            <a:ext cx="3291840" cy="365760"/>
          </a:xfrm>
          <a:prstGeom prst="rect">
            <a:avLst/>
          </a:prstGeom>
          <a:noFill/>
        </p:spPr>
        <p:txBody>
          <a:bodyPr wrap="none">
            <a:spAutoFit/>
          </a:bodyPr>
          <a:lstStyle/>
          <a:p>
            <a:r>
              <a:rPr b="1" sz="1700">
                <a:solidFill>
                  <a:srgbClr val="203048"/>
                </a:solidFill>
                <a:latin typeface="Aptos"/>
              </a:rPr>
              <a:t>Inline CSS</a:t>
            </a:r>
          </a:p>
        </p:txBody>
      </p:sp>
      <p:sp>
        <p:nvSpPr>
          <p:cNvPr id="8" name="TextBox 7"/>
          <p:cNvSpPr txBox="1"/>
          <p:nvPr/>
        </p:nvSpPr>
        <p:spPr>
          <a:xfrm>
            <a:off x="704088" y="1719072"/>
            <a:ext cx="3291840" cy="1207007"/>
          </a:xfrm>
          <a:prstGeom prst="rect">
            <a:avLst/>
          </a:prstGeom>
          <a:noFill/>
        </p:spPr>
        <p:txBody>
          <a:bodyPr wrap="square">
            <a:spAutoFit/>
          </a:bodyPr>
          <a:lstStyle/>
          <a:p>
            <a:r>
              <a:rPr sz="1300">
                <a:solidFill>
                  <a:srgbClr val="2D323A"/>
                </a:solidFill>
                <a:latin typeface="Aptos"/>
              </a:rPr>
              <a:t>CSS is embedded in line with HTML elements. The style is added to the tag as an attribute.</a:t>
            </a:r>
          </a:p>
        </p:txBody>
      </p:sp>
      <p:sp>
        <p:nvSpPr>
          <p:cNvPr id="9" name="Rounded Rectangle 8"/>
          <p:cNvSpPr/>
          <p:nvPr/>
        </p:nvSpPr>
        <p:spPr>
          <a:xfrm>
            <a:off x="685800" y="3154680"/>
            <a:ext cx="3246120" cy="141732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3264408"/>
            <a:ext cx="2916936" cy="1234440"/>
          </a:xfrm>
          <a:prstGeom prst="rect">
            <a:avLst/>
          </a:prstGeom>
          <a:noFill/>
        </p:spPr>
        <p:txBody>
          <a:bodyPr wrap="square">
            <a:spAutoFit/>
          </a:bodyPr>
          <a:lstStyle/>
          <a:p>
            <a:r>
              <a:rPr sz="1100">
                <a:solidFill>
                  <a:srgbClr val="FFFFFF"/>
                </a:solidFill>
                <a:latin typeface="Consolas"/>
              </a:rPr>
              <a:t>&lt;p style="color:blue"&gt;\n  Introduction to CSS\n&lt;/p&gt;</a:t>
            </a:r>
          </a:p>
        </p:txBody>
      </p:sp>
      <p:sp>
        <p:nvSpPr>
          <p:cNvPr id="11" name="Rounded Rectangle 10"/>
          <p:cNvSpPr/>
          <p:nvPr/>
        </p:nvSpPr>
        <p:spPr>
          <a:xfrm>
            <a:off x="4297680" y="1188720"/>
            <a:ext cx="361188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188720"/>
            <a:ext cx="73152" cy="182880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307592"/>
            <a:ext cx="3291840" cy="365760"/>
          </a:xfrm>
          <a:prstGeom prst="rect">
            <a:avLst/>
          </a:prstGeom>
          <a:noFill/>
        </p:spPr>
        <p:txBody>
          <a:bodyPr wrap="none">
            <a:spAutoFit/>
          </a:bodyPr>
          <a:lstStyle/>
          <a:p>
            <a:r>
              <a:rPr b="1" sz="1700">
                <a:solidFill>
                  <a:srgbClr val="203048"/>
                </a:solidFill>
                <a:latin typeface="Aptos"/>
              </a:rPr>
              <a:t>Internal CSS</a:t>
            </a:r>
          </a:p>
        </p:txBody>
      </p:sp>
      <p:sp>
        <p:nvSpPr>
          <p:cNvPr id="14" name="TextBox 13"/>
          <p:cNvSpPr txBox="1"/>
          <p:nvPr/>
        </p:nvSpPr>
        <p:spPr>
          <a:xfrm>
            <a:off x="4498848" y="1719072"/>
            <a:ext cx="3291840" cy="1207007"/>
          </a:xfrm>
          <a:prstGeom prst="rect">
            <a:avLst/>
          </a:prstGeom>
          <a:noFill/>
        </p:spPr>
        <p:txBody>
          <a:bodyPr wrap="square">
            <a:spAutoFit/>
          </a:bodyPr>
          <a:lstStyle/>
          <a:p>
            <a:r>
              <a:rPr sz="1300">
                <a:solidFill>
                  <a:srgbClr val="2D323A"/>
                </a:solidFill>
                <a:latin typeface="Aptos"/>
              </a:rPr>
              <a:t>Used to add a unique style for a single document. It is defined in the &lt;head&gt; section inside the &lt;style&gt; tag.</a:t>
            </a:r>
          </a:p>
        </p:txBody>
      </p:sp>
      <p:sp>
        <p:nvSpPr>
          <p:cNvPr id="15" name="Rounded Rectangle 14"/>
          <p:cNvSpPr/>
          <p:nvPr/>
        </p:nvSpPr>
        <p:spPr>
          <a:xfrm>
            <a:off x="4480560" y="3154680"/>
            <a:ext cx="3246120" cy="141732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3264408"/>
            <a:ext cx="2916936" cy="1234440"/>
          </a:xfrm>
          <a:prstGeom prst="rect">
            <a:avLst/>
          </a:prstGeom>
          <a:noFill/>
        </p:spPr>
        <p:txBody>
          <a:bodyPr wrap="square">
            <a:spAutoFit/>
          </a:bodyPr>
          <a:lstStyle/>
          <a:p>
            <a:r>
              <a:rPr sz="950">
                <a:solidFill>
                  <a:srgbClr val="FFFFFF"/>
                </a:solidFill>
                <a:latin typeface="Consolas"/>
              </a:rPr>
              <a:t>&lt;style type="text/css"&gt;\n  body {background-color: Orange;}\n  h1 {color: white;}\n  p {color: blue;}\n&lt;/style&gt;</a:t>
            </a:r>
          </a:p>
        </p:txBody>
      </p:sp>
      <p:sp>
        <p:nvSpPr>
          <p:cNvPr id="17" name="Rounded Rectangle 16"/>
          <p:cNvSpPr/>
          <p:nvPr/>
        </p:nvSpPr>
        <p:spPr>
          <a:xfrm>
            <a:off x="8092440" y="1188720"/>
            <a:ext cx="356616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188720"/>
            <a:ext cx="73152" cy="182880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1307592"/>
            <a:ext cx="3246120" cy="365760"/>
          </a:xfrm>
          <a:prstGeom prst="rect">
            <a:avLst/>
          </a:prstGeom>
          <a:noFill/>
        </p:spPr>
        <p:txBody>
          <a:bodyPr wrap="none">
            <a:spAutoFit/>
          </a:bodyPr>
          <a:lstStyle/>
          <a:p>
            <a:r>
              <a:rPr b="1" sz="1700">
                <a:solidFill>
                  <a:srgbClr val="203048"/>
                </a:solidFill>
                <a:latin typeface="Aptos"/>
              </a:rPr>
              <a:t>&lt;DIV&gt; and &lt;SPAN&gt;</a:t>
            </a:r>
          </a:p>
        </p:txBody>
      </p:sp>
      <p:sp>
        <p:nvSpPr>
          <p:cNvPr id="20" name="TextBox 19"/>
          <p:cNvSpPr txBox="1"/>
          <p:nvPr/>
        </p:nvSpPr>
        <p:spPr>
          <a:xfrm>
            <a:off x="8293608" y="1719072"/>
            <a:ext cx="3246120" cy="1207007"/>
          </a:xfrm>
          <a:prstGeom prst="rect">
            <a:avLst/>
          </a:prstGeom>
          <a:noFill/>
        </p:spPr>
        <p:txBody>
          <a:bodyPr wrap="square">
            <a:spAutoFit/>
          </a:bodyPr>
          <a:lstStyle/>
          <a:p>
            <a:r>
              <a:rPr sz="1250">
                <a:solidFill>
                  <a:srgbClr val="2D323A"/>
                </a:solidFill>
                <a:latin typeface="Aptos"/>
              </a:rPr>
              <a:t>&lt;DIV&gt; styles a particular portion/block of text and can contain other HTML tags. &lt;SPAN&gt; delimits an arbitrary piece of text and applies style to that part.</a:t>
            </a:r>
          </a:p>
        </p:txBody>
      </p:sp>
      <p:sp>
        <p:nvSpPr>
          <p:cNvPr id="21" name="Rounded Rectangle 20"/>
          <p:cNvSpPr/>
          <p:nvPr/>
        </p:nvSpPr>
        <p:spPr>
          <a:xfrm>
            <a:off x="8275320" y="3154680"/>
            <a:ext cx="3200400" cy="182880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3264408"/>
            <a:ext cx="2871216" cy="1645920"/>
          </a:xfrm>
          <a:prstGeom prst="rect">
            <a:avLst/>
          </a:prstGeom>
          <a:noFill/>
        </p:spPr>
        <p:txBody>
          <a:bodyPr wrap="square">
            <a:spAutoFit/>
          </a:bodyPr>
          <a:lstStyle/>
          <a:p>
            <a:r>
              <a:rPr sz="919">
                <a:solidFill>
                  <a:srgbClr val="FFFFFF"/>
                </a:solidFill>
                <a:latin typeface="Consolas"/>
              </a:rPr>
              <a:t>&lt;div style="color:blue;border:double;\nbackground:orange"&gt;\n  ...text...\n&lt;/div&gt;\n\n&lt;span style="color:orange"&gt;text&lt;/span&gt;</a:t>
            </a:r>
          </a:p>
        </p:txBody>
      </p:sp>
      <p:sp>
        <p:nvSpPr>
          <p:cNvPr id="23" name="TextBox 22"/>
          <p:cNvSpPr txBox="1"/>
          <p:nvPr/>
        </p:nvSpPr>
        <p:spPr>
          <a:xfrm>
            <a:off x="11201400" y="6473952"/>
            <a:ext cx="502920" cy="228600"/>
          </a:xfrm>
          <a:prstGeom prst="rect">
            <a:avLst/>
          </a:prstGeom>
          <a:noFill/>
        </p:spPr>
        <p:txBody>
          <a:bodyPr wrap="none">
            <a:spAutoFit/>
          </a:bodyPr>
          <a:lstStyle/>
          <a:p>
            <a:pPr algn="r"/>
            <a:r>
              <a:rPr sz="900">
                <a:solidFill>
                  <a:srgbClr val="787D87"/>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7. External CSS &amp; CSS Classes</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Reusable styles for multiple pages and different occurrences of the same tag</a:t>
            </a:r>
          </a:p>
        </p:txBody>
      </p:sp>
      <p:sp>
        <p:nvSpPr>
          <p:cNvPr id="5" name="Rounded Rectangle 4"/>
          <p:cNvSpPr/>
          <p:nvPr/>
        </p:nvSpPr>
        <p:spPr>
          <a:xfrm>
            <a:off x="502920" y="1188720"/>
            <a:ext cx="548640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88720"/>
            <a:ext cx="73152" cy="182880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07592"/>
            <a:ext cx="5166360" cy="365760"/>
          </a:xfrm>
          <a:prstGeom prst="rect">
            <a:avLst/>
          </a:prstGeom>
          <a:noFill/>
        </p:spPr>
        <p:txBody>
          <a:bodyPr wrap="none">
            <a:spAutoFit/>
          </a:bodyPr>
          <a:lstStyle/>
          <a:p>
            <a:r>
              <a:rPr b="1" sz="1700">
                <a:solidFill>
                  <a:srgbClr val="203048"/>
                </a:solidFill>
                <a:latin typeface="Aptos"/>
              </a:rPr>
              <a:t>External CSS</a:t>
            </a:r>
          </a:p>
        </p:txBody>
      </p:sp>
      <p:sp>
        <p:nvSpPr>
          <p:cNvPr id="8" name="TextBox 7"/>
          <p:cNvSpPr txBox="1"/>
          <p:nvPr/>
        </p:nvSpPr>
        <p:spPr>
          <a:xfrm>
            <a:off x="704088" y="1719072"/>
            <a:ext cx="5166360" cy="1207007"/>
          </a:xfrm>
          <a:prstGeom prst="rect">
            <a:avLst/>
          </a:prstGeom>
          <a:noFill/>
        </p:spPr>
        <p:txBody>
          <a:bodyPr wrap="square">
            <a:spAutoFit/>
          </a:bodyPr>
          <a:lstStyle/>
          <a:p>
            <a:r>
              <a:rPr sz="1300">
                <a:solidFill>
                  <a:srgbClr val="2D323A"/>
                </a:solidFill>
                <a:latin typeface="Aptos"/>
              </a:rPr>
              <a:t>Ideal when changes are needed on multiple pages. Changing one CSS file can change the look of the entire website. The file uses a .css extension and contains no HTML elements. The &lt;link&gt; tag goes inside &lt;head&gt;.</a:t>
            </a:r>
          </a:p>
        </p:txBody>
      </p:sp>
      <p:sp>
        <p:nvSpPr>
          <p:cNvPr id="9" name="Rounded Rectangle 8"/>
          <p:cNvSpPr/>
          <p:nvPr/>
        </p:nvSpPr>
        <p:spPr>
          <a:xfrm>
            <a:off x="731520" y="3246120"/>
            <a:ext cx="5029200" cy="96012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3355848"/>
            <a:ext cx="4700016" cy="777240"/>
          </a:xfrm>
          <a:prstGeom prst="rect">
            <a:avLst/>
          </a:prstGeom>
          <a:noFill/>
        </p:spPr>
        <p:txBody>
          <a:bodyPr wrap="square">
            <a:spAutoFit/>
          </a:bodyPr>
          <a:lstStyle/>
          <a:p>
            <a:r>
              <a:rPr sz="1200">
                <a:solidFill>
                  <a:srgbClr val="FFFFFF"/>
                </a:solidFill>
                <a:latin typeface="Consolas"/>
              </a:rPr>
              <a:t>&lt;link rel="stylesheet" type="text/css"\nhref="path to stylesheet.css"&gt;</a:t>
            </a:r>
          </a:p>
        </p:txBody>
      </p:sp>
      <p:sp>
        <p:nvSpPr>
          <p:cNvPr id="11" name="Rounded Rectangle 10"/>
          <p:cNvSpPr/>
          <p:nvPr/>
        </p:nvSpPr>
        <p:spPr>
          <a:xfrm>
            <a:off x="502920" y="4480560"/>
            <a:ext cx="5486400" cy="132588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480560"/>
            <a:ext cx="73152" cy="132588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4599432"/>
            <a:ext cx="5166360" cy="365760"/>
          </a:xfrm>
          <a:prstGeom prst="rect">
            <a:avLst/>
          </a:prstGeom>
          <a:noFill/>
        </p:spPr>
        <p:txBody>
          <a:bodyPr wrap="none">
            <a:spAutoFit/>
          </a:bodyPr>
          <a:lstStyle/>
          <a:p>
            <a:r>
              <a:rPr b="1" sz="1600">
                <a:solidFill>
                  <a:srgbClr val="203048"/>
                </a:solidFill>
                <a:latin typeface="Aptos"/>
              </a:rPr>
              <a:t>&lt;link&gt; attributes</a:t>
            </a:r>
          </a:p>
        </p:txBody>
      </p:sp>
      <p:sp>
        <p:nvSpPr>
          <p:cNvPr id="14" name="TextBox 13"/>
          <p:cNvSpPr txBox="1"/>
          <p:nvPr/>
        </p:nvSpPr>
        <p:spPr>
          <a:xfrm>
            <a:off x="704088" y="5010912"/>
            <a:ext cx="5166360" cy="704087"/>
          </a:xfrm>
          <a:prstGeom prst="rect">
            <a:avLst/>
          </a:prstGeom>
          <a:noFill/>
        </p:spPr>
        <p:txBody>
          <a:bodyPr wrap="square">
            <a:spAutoFit/>
          </a:bodyPr>
          <a:lstStyle/>
          <a:p>
            <a:r>
              <a:rPr sz="1200">
                <a:solidFill>
                  <a:srgbClr val="2D323A"/>
                </a:solidFill>
                <a:latin typeface="Aptos"/>
              </a:rPr>
              <a:t>Rel — relation is a style sheet  •  Type — indicates CSS  •  Href — name/path of the CSS file</a:t>
            </a:r>
          </a:p>
        </p:txBody>
      </p:sp>
      <p:sp>
        <p:nvSpPr>
          <p:cNvPr id="15" name="Rounded Rectangle 14"/>
          <p:cNvSpPr/>
          <p:nvPr/>
        </p:nvSpPr>
        <p:spPr>
          <a:xfrm>
            <a:off x="6172200" y="1188720"/>
            <a:ext cx="5486400" cy="182880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1188720"/>
            <a:ext cx="73152" cy="182880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307592"/>
            <a:ext cx="5166360" cy="365760"/>
          </a:xfrm>
          <a:prstGeom prst="rect">
            <a:avLst/>
          </a:prstGeom>
          <a:noFill/>
        </p:spPr>
        <p:txBody>
          <a:bodyPr wrap="none">
            <a:spAutoFit/>
          </a:bodyPr>
          <a:lstStyle/>
          <a:p>
            <a:r>
              <a:rPr b="1" sz="1700">
                <a:solidFill>
                  <a:srgbClr val="203048"/>
                </a:solidFill>
                <a:latin typeface="Aptos"/>
              </a:rPr>
              <a:t>CSS Classes</a:t>
            </a:r>
          </a:p>
        </p:txBody>
      </p:sp>
      <p:sp>
        <p:nvSpPr>
          <p:cNvPr id="18" name="TextBox 17"/>
          <p:cNvSpPr txBox="1"/>
          <p:nvPr/>
        </p:nvSpPr>
        <p:spPr>
          <a:xfrm>
            <a:off x="6373368" y="1719072"/>
            <a:ext cx="5166360" cy="1207007"/>
          </a:xfrm>
          <a:prstGeom prst="rect">
            <a:avLst/>
          </a:prstGeom>
          <a:noFill/>
        </p:spPr>
        <p:txBody>
          <a:bodyPr wrap="square">
            <a:spAutoFit/>
          </a:bodyPr>
          <a:lstStyle/>
          <a:p>
            <a:r>
              <a:rPr sz="1300">
                <a:solidFill>
                  <a:srgbClr val="2D323A"/>
                </a:solidFill>
                <a:latin typeface="Aptos"/>
              </a:rPr>
              <a:t>Used when the same HTML tag appears more than once but different styles are required at different places in the same document.</a:t>
            </a:r>
          </a:p>
        </p:txBody>
      </p:sp>
      <p:sp>
        <p:nvSpPr>
          <p:cNvPr id="19" name="Rounded Rectangle 18"/>
          <p:cNvSpPr/>
          <p:nvPr/>
        </p:nvSpPr>
        <p:spPr>
          <a:xfrm>
            <a:off x="6400800" y="3154680"/>
            <a:ext cx="5029200" cy="2651760"/>
          </a:xfrm>
          <a:prstGeom prst="roundRect">
            <a:avLst/>
          </a:prstGeom>
          <a:solidFill>
            <a:srgbClr val="1F24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65392" y="3264408"/>
            <a:ext cx="4700016" cy="2468879"/>
          </a:xfrm>
          <a:prstGeom prst="rect">
            <a:avLst/>
          </a:prstGeom>
          <a:noFill/>
        </p:spPr>
        <p:txBody>
          <a:bodyPr wrap="square">
            <a:spAutoFit/>
          </a:bodyPr>
          <a:lstStyle/>
          <a:p>
            <a:r>
              <a:rPr sz="1019">
                <a:solidFill>
                  <a:srgbClr val="FFFFFF"/>
                </a:solidFill>
                <a:latin typeface="Consolas"/>
              </a:rPr>
              <a:t>h1.one   {color:blue; border:dotted;}\nh1.two   {color:green; border:double;}\nh1.three {color:orange; border:outset;}\n\n&lt;h1 class="one"&gt;First section&lt;/h1&gt;\n&lt;h1 class="two"&gt;Second section&lt;/h1&gt;\n&lt;h1 class="three"&gt;Third section&lt;/h1&gt;</a:t>
            </a:r>
          </a:p>
        </p:txBody>
      </p:sp>
      <p:sp>
        <p:nvSpPr>
          <p:cNvPr id="21" name="TextBox 20"/>
          <p:cNvSpPr txBox="1"/>
          <p:nvPr/>
        </p:nvSpPr>
        <p:spPr>
          <a:xfrm>
            <a:off x="11201400" y="6473952"/>
            <a:ext cx="502920" cy="228600"/>
          </a:xfrm>
          <a:prstGeom prst="rect">
            <a:avLst/>
          </a:prstGeom>
          <a:noFill/>
        </p:spPr>
        <p:txBody>
          <a:bodyPr wrap="none">
            <a:spAutoFit/>
          </a:bodyPr>
          <a:lstStyle/>
          <a:p>
            <a:pPr algn="r"/>
            <a:r>
              <a:rPr sz="900">
                <a:solidFill>
                  <a:srgbClr val="787D87"/>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1155680" cy="566928"/>
          </a:xfrm>
          <a:prstGeom prst="rect">
            <a:avLst/>
          </a:prstGeom>
          <a:noFill/>
        </p:spPr>
        <p:txBody>
          <a:bodyPr wrap="none">
            <a:spAutoFit/>
          </a:bodyPr>
          <a:lstStyle/>
          <a:p>
            <a:r>
              <a:rPr sz="2800" b="1">
                <a:solidFill>
                  <a:srgbClr val="203048"/>
                </a:solidFill>
                <a:latin typeface="Aptos Display"/>
              </a:rPr>
              <a:t>8. Key Points to Remember</a:t>
            </a:r>
          </a:p>
        </p:txBody>
      </p:sp>
      <p:sp>
        <p:nvSpPr>
          <p:cNvPr id="4" name="TextBox 3"/>
          <p:cNvSpPr txBox="1"/>
          <p:nvPr/>
        </p:nvSpPr>
        <p:spPr>
          <a:xfrm>
            <a:off x="530352" y="841248"/>
            <a:ext cx="10972800" cy="347472"/>
          </a:xfrm>
          <a:prstGeom prst="rect">
            <a:avLst/>
          </a:prstGeom>
          <a:noFill/>
        </p:spPr>
        <p:txBody>
          <a:bodyPr wrap="none">
            <a:spAutoFit/>
          </a:bodyPr>
          <a:lstStyle/>
          <a:p>
            <a:r>
              <a:rPr sz="1200">
                <a:solidFill>
                  <a:srgbClr val="2D323A"/>
                </a:solidFill>
                <a:latin typeface="Aptos"/>
              </a:rPr>
              <a:t>Quick revision from the textbook</a:t>
            </a:r>
          </a:p>
        </p:txBody>
      </p:sp>
      <p:sp>
        <p:nvSpPr>
          <p:cNvPr id="5" name="Rounded Rectangle 4"/>
          <p:cNvSpPr/>
          <p:nvPr/>
        </p:nvSpPr>
        <p:spPr>
          <a:xfrm>
            <a:off x="502920" y="123444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123444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353312"/>
            <a:ext cx="3200400" cy="365760"/>
          </a:xfrm>
          <a:prstGeom prst="rect">
            <a:avLst/>
          </a:prstGeom>
          <a:noFill/>
        </p:spPr>
        <p:txBody>
          <a:bodyPr wrap="none">
            <a:spAutoFit/>
          </a:bodyPr>
          <a:lstStyle/>
          <a:p>
            <a:r>
              <a:rPr b="1" sz="1500">
                <a:solidFill>
                  <a:srgbClr val="203048"/>
                </a:solidFill>
                <a:latin typeface="Aptos"/>
              </a:rPr>
              <a:t>01</a:t>
            </a:r>
          </a:p>
        </p:txBody>
      </p:sp>
      <p:sp>
        <p:nvSpPr>
          <p:cNvPr id="8" name="TextBox 7"/>
          <p:cNvSpPr txBox="1"/>
          <p:nvPr/>
        </p:nvSpPr>
        <p:spPr>
          <a:xfrm>
            <a:off x="704088" y="1764792"/>
            <a:ext cx="3200400" cy="612648"/>
          </a:xfrm>
          <a:prstGeom prst="rect">
            <a:avLst/>
          </a:prstGeom>
          <a:noFill/>
        </p:spPr>
        <p:txBody>
          <a:bodyPr wrap="square">
            <a:spAutoFit/>
          </a:bodyPr>
          <a:lstStyle/>
          <a:p>
            <a:r>
              <a:rPr sz="1200">
                <a:solidFill>
                  <a:srgbClr val="2D323A"/>
                </a:solidFill>
                <a:latin typeface="Aptos"/>
              </a:rPr>
              <a:t>CSS stands for Cascading Style Sheet.</a:t>
            </a:r>
          </a:p>
        </p:txBody>
      </p:sp>
      <p:sp>
        <p:nvSpPr>
          <p:cNvPr id="9" name="Rounded Rectangle 8"/>
          <p:cNvSpPr/>
          <p:nvPr/>
        </p:nvSpPr>
        <p:spPr>
          <a:xfrm>
            <a:off x="4361688" y="123444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234440"/>
            <a:ext cx="73152" cy="123444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1353312"/>
            <a:ext cx="3200400" cy="365760"/>
          </a:xfrm>
          <a:prstGeom prst="rect">
            <a:avLst/>
          </a:prstGeom>
          <a:noFill/>
        </p:spPr>
        <p:txBody>
          <a:bodyPr wrap="none">
            <a:spAutoFit/>
          </a:bodyPr>
          <a:lstStyle/>
          <a:p>
            <a:r>
              <a:rPr b="1" sz="1500">
                <a:solidFill>
                  <a:srgbClr val="203048"/>
                </a:solidFill>
                <a:latin typeface="Aptos"/>
              </a:rPr>
              <a:t>02</a:t>
            </a:r>
          </a:p>
        </p:txBody>
      </p:sp>
      <p:sp>
        <p:nvSpPr>
          <p:cNvPr id="12" name="TextBox 11"/>
          <p:cNvSpPr txBox="1"/>
          <p:nvPr/>
        </p:nvSpPr>
        <p:spPr>
          <a:xfrm>
            <a:off x="4562855" y="1764792"/>
            <a:ext cx="3200400" cy="612648"/>
          </a:xfrm>
          <a:prstGeom prst="rect">
            <a:avLst/>
          </a:prstGeom>
          <a:noFill/>
        </p:spPr>
        <p:txBody>
          <a:bodyPr wrap="square">
            <a:spAutoFit/>
          </a:bodyPr>
          <a:lstStyle/>
          <a:p>
            <a:r>
              <a:rPr sz="1200">
                <a:solidFill>
                  <a:srgbClr val="2D323A"/>
                </a:solidFill>
                <a:latin typeface="Aptos"/>
              </a:rPr>
              <a:t>CSS is used to design HTML web content in a more sophisticated way.</a:t>
            </a:r>
          </a:p>
        </p:txBody>
      </p:sp>
      <p:sp>
        <p:nvSpPr>
          <p:cNvPr id="13" name="Rounded Rectangle 12"/>
          <p:cNvSpPr/>
          <p:nvPr/>
        </p:nvSpPr>
        <p:spPr>
          <a:xfrm>
            <a:off x="8220456" y="123444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0456" y="1234440"/>
            <a:ext cx="73152" cy="123444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21624" y="1353312"/>
            <a:ext cx="3200400" cy="365760"/>
          </a:xfrm>
          <a:prstGeom prst="rect">
            <a:avLst/>
          </a:prstGeom>
          <a:noFill/>
        </p:spPr>
        <p:txBody>
          <a:bodyPr wrap="none">
            <a:spAutoFit/>
          </a:bodyPr>
          <a:lstStyle/>
          <a:p>
            <a:r>
              <a:rPr b="1" sz="1500">
                <a:solidFill>
                  <a:srgbClr val="203048"/>
                </a:solidFill>
                <a:latin typeface="Aptos"/>
              </a:rPr>
              <a:t>03</a:t>
            </a:r>
          </a:p>
        </p:txBody>
      </p:sp>
      <p:sp>
        <p:nvSpPr>
          <p:cNvPr id="16" name="TextBox 15"/>
          <p:cNvSpPr txBox="1"/>
          <p:nvPr/>
        </p:nvSpPr>
        <p:spPr>
          <a:xfrm>
            <a:off x="8421624" y="1764792"/>
            <a:ext cx="3200400" cy="612648"/>
          </a:xfrm>
          <a:prstGeom prst="rect">
            <a:avLst/>
          </a:prstGeom>
          <a:noFill/>
        </p:spPr>
        <p:txBody>
          <a:bodyPr wrap="square">
            <a:spAutoFit/>
          </a:bodyPr>
          <a:lstStyle/>
          <a:p>
            <a:r>
              <a:rPr sz="1200">
                <a:solidFill>
                  <a:srgbClr val="2D323A"/>
                </a:solidFill>
                <a:latin typeface="Aptos"/>
              </a:rPr>
              <a:t>Styles can be inserted in three ways: inline, internal and external. Inline CSS uses the style attribute.</a:t>
            </a:r>
          </a:p>
        </p:txBody>
      </p:sp>
      <p:sp>
        <p:nvSpPr>
          <p:cNvPr id="17" name="Rounded Rectangle 16"/>
          <p:cNvSpPr/>
          <p:nvPr/>
        </p:nvSpPr>
        <p:spPr>
          <a:xfrm>
            <a:off x="502920" y="274320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43200"/>
            <a:ext cx="73152" cy="123444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2862072"/>
            <a:ext cx="3200400" cy="365760"/>
          </a:xfrm>
          <a:prstGeom prst="rect">
            <a:avLst/>
          </a:prstGeom>
          <a:noFill/>
        </p:spPr>
        <p:txBody>
          <a:bodyPr wrap="none">
            <a:spAutoFit/>
          </a:bodyPr>
          <a:lstStyle/>
          <a:p>
            <a:r>
              <a:rPr b="1" sz="1500">
                <a:solidFill>
                  <a:srgbClr val="203048"/>
                </a:solidFill>
                <a:latin typeface="Aptos"/>
              </a:rPr>
              <a:t>04</a:t>
            </a:r>
          </a:p>
        </p:txBody>
      </p:sp>
      <p:sp>
        <p:nvSpPr>
          <p:cNvPr id="20" name="TextBox 19"/>
          <p:cNvSpPr txBox="1"/>
          <p:nvPr/>
        </p:nvSpPr>
        <p:spPr>
          <a:xfrm>
            <a:off x="704088" y="3273552"/>
            <a:ext cx="3200400" cy="612648"/>
          </a:xfrm>
          <a:prstGeom prst="rect">
            <a:avLst/>
          </a:prstGeom>
          <a:noFill/>
        </p:spPr>
        <p:txBody>
          <a:bodyPr wrap="square">
            <a:spAutoFit/>
          </a:bodyPr>
          <a:lstStyle/>
          <a:p>
            <a:r>
              <a:rPr sz="1200">
                <a:solidFill>
                  <a:srgbClr val="2D323A"/>
                </a:solidFill>
                <a:latin typeface="Aptos"/>
              </a:rPr>
              <a:t>&lt;span&gt; is used to delimit an arbitrary piece of text.</a:t>
            </a:r>
          </a:p>
        </p:txBody>
      </p:sp>
      <p:sp>
        <p:nvSpPr>
          <p:cNvPr id="21" name="Rounded Rectangle 20"/>
          <p:cNvSpPr/>
          <p:nvPr/>
        </p:nvSpPr>
        <p:spPr>
          <a:xfrm>
            <a:off x="4361688" y="274320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61688" y="2743200"/>
            <a:ext cx="73152" cy="123444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62855" y="2862072"/>
            <a:ext cx="3200400" cy="365760"/>
          </a:xfrm>
          <a:prstGeom prst="rect">
            <a:avLst/>
          </a:prstGeom>
          <a:noFill/>
        </p:spPr>
        <p:txBody>
          <a:bodyPr wrap="none">
            <a:spAutoFit/>
          </a:bodyPr>
          <a:lstStyle/>
          <a:p>
            <a:r>
              <a:rPr b="1" sz="1500">
                <a:solidFill>
                  <a:srgbClr val="203048"/>
                </a:solidFill>
                <a:latin typeface="Aptos"/>
              </a:rPr>
              <a:t>05</a:t>
            </a:r>
          </a:p>
        </p:txBody>
      </p:sp>
      <p:sp>
        <p:nvSpPr>
          <p:cNvPr id="24" name="TextBox 23"/>
          <p:cNvSpPr txBox="1"/>
          <p:nvPr/>
        </p:nvSpPr>
        <p:spPr>
          <a:xfrm>
            <a:off x="4562855" y="3273552"/>
            <a:ext cx="3200400" cy="612648"/>
          </a:xfrm>
          <a:prstGeom prst="rect">
            <a:avLst/>
          </a:prstGeom>
          <a:noFill/>
        </p:spPr>
        <p:txBody>
          <a:bodyPr wrap="square">
            <a:spAutoFit/>
          </a:bodyPr>
          <a:lstStyle/>
          <a:p>
            <a:r>
              <a:rPr sz="1200">
                <a:solidFill>
                  <a:srgbClr val="2D323A"/>
                </a:solidFill>
                <a:latin typeface="Aptos"/>
              </a:rPr>
              <a:t>A CSS file uses the .css extension.</a:t>
            </a:r>
          </a:p>
        </p:txBody>
      </p:sp>
      <p:sp>
        <p:nvSpPr>
          <p:cNvPr id="25" name="Rounded Rectangle 24"/>
          <p:cNvSpPr/>
          <p:nvPr/>
        </p:nvSpPr>
        <p:spPr>
          <a:xfrm>
            <a:off x="8220456" y="274320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0456" y="2743200"/>
            <a:ext cx="73152" cy="123444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21624" y="2862072"/>
            <a:ext cx="3200400" cy="365760"/>
          </a:xfrm>
          <a:prstGeom prst="rect">
            <a:avLst/>
          </a:prstGeom>
          <a:noFill/>
        </p:spPr>
        <p:txBody>
          <a:bodyPr wrap="none">
            <a:spAutoFit/>
          </a:bodyPr>
          <a:lstStyle/>
          <a:p>
            <a:r>
              <a:rPr b="1" sz="1500">
                <a:solidFill>
                  <a:srgbClr val="203048"/>
                </a:solidFill>
                <a:latin typeface="Aptos"/>
              </a:rPr>
              <a:t>06</a:t>
            </a:r>
          </a:p>
        </p:txBody>
      </p:sp>
      <p:sp>
        <p:nvSpPr>
          <p:cNvPr id="28" name="TextBox 27"/>
          <p:cNvSpPr txBox="1"/>
          <p:nvPr/>
        </p:nvSpPr>
        <p:spPr>
          <a:xfrm>
            <a:off x="8421624" y="3273552"/>
            <a:ext cx="3200400" cy="612648"/>
          </a:xfrm>
          <a:prstGeom prst="rect">
            <a:avLst/>
          </a:prstGeom>
          <a:noFill/>
        </p:spPr>
        <p:txBody>
          <a:bodyPr wrap="square">
            <a:spAutoFit/>
          </a:bodyPr>
          <a:lstStyle/>
          <a:p>
            <a:r>
              <a:rPr sz="1200">
                <a:solidFill>
                  <a:srgbClr val="2D323A"/>
                </a:solidFill>
                <a:latin typeface="Aptos"/>
              </a:rPr>
              <a:t>Internal CSS uses &lt;style&gt;; external CSS uses &lt;link&gt; with rel, type and href.</a:t>
            </a:r>
          </a:p>
        </p:txBody>
      </p:sp>
      <p:sp>
        <p:nvSpPr>
          <p:cNvPr id="29" name="Rounded Rectangle 28"/>
          <p:cNvSpPr/>
          <p:nvPr/>
        </p:nvSpPr>
        <p:spPr>
          <a:xfrm>
            <a:off x="502920" y="425196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4251960"/>
            <a:ext cx="73152" cy="1234440"/>
          </a:xfrm>
          <a:prstGeom prst="rect">
            <a:avLst/>
          </a:prstGeom>
          <a:solidFill>
            <a:srgbClr val="66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4370832"/>
            <a:ext cx="3200400" cy="365760"/>
          </a:xfrm>
          <a:prstGeom prst="rect">
            <a:avLst/>
          </a:prstGeom>
          <a:noFill/>
        </p:spPr>
        <p:txBody>
          <a:bodyPr wrap="none">
            <a:spAutoFit/>
          </a:bodyPr>
          <a:lstStyle/>
          <a:p>
            <a:r>
              <a:rPr b="1" sz="1500">
                <a:solidFill>
                  <a:srgbClr val="203048"/>
                </a:solidFill>
                <a:latin typeface="Aptos"/>
              </a:rPr>
              <a:t>07</a:t>
            </a:r>
          </a:p>
        </p:txBody>
      </p:sp>
      <p:sp>
        <p:nvSpPr>
          <p:cNvPr id="32" name="TextBox 31"/>
          <p:cNvSpPr txBox="1"/>
          <p:nvPr/>
        </p:nvSpPr>
        <p:spPr>
          <a:xfrm>
            <a:off x="704088" y="4782312"/>
            <a:ext cx="3200400" cy="612648"/>
          </a:xfrm>
          <a:prstGeom prst="rect">
            <a:avLst/>
          </a:prstGeom>
          <a:noFill/>
        </p:spPr>
        <p:txBody>
          <a:bodyPr wrap="square">
            <a:spAutoFit/>
          </a:bodyPr>
          <a:lstStyle/>
          <a:p>
            <a:r>
              <a:rPr sz="1200">
                <a:solidFill>
                  <a:srgbClr val="2D323A"/>
                </a:solidFill>
                <a:latin typeface="Aptos"/>
              </a:rPr>
              <a:t>Border-style specifies border types such as solid, dashed, dotted and double.</a:t>
            </a:r>
          </a:p>
        </p:txBody>
      </p:sp>
      <p:sp>
        <p:nvSpPr>
          <p:cNvPr id="33" name="Rounded Rectangle 32"/>
          <p:cNvSpPr/>
          <p:nvPr/>
        </p:nvSpPr>
        <p:spPr>
          <a:xfrm>
            <a:off x="4361688" y="425196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61688" y="4251960"/>
            <a:ext cx="73152" cy="1234440"/>
          </a:xfrm>
          <a:prstGeom prst="rect">
            <a:avLst/>
          </a:prstGeom>
          <a:solidFill>
            <a:srgbClr val="1F84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62855" y="4370832"/>
            <a:ext cx="3200400" cy="365760"/>
          </a:xfrm>
          <a:prstGeom prst="rect">
            <a:avLst/>
          </a:prstGeom>
          <a:noFill/>
        </p:spPr>
        <p:txBody>
          <a:bodyPr wrap="none">
            <a:spAutoFit/>
          </a:bodyPr>
          <a:lstStyle/>
          <a:p>
            <a:r>
              <a:rPr b="1" sz="1500">
                <a:solidFill>
                  <a:srgbClr val="203048"/>
                </a:solidFill>
                <a:latin typeface="Aptos"/>
              </a:rPr>
              <a:t>08</a:t>
            </a:r>
          </a:p>
        </p:txBody>
      </p:sp>
      <p:sp>
        <p:nvSpPr>
          <p:cNvPr id="36" name="TextBox 35"/>
          <p:cNvSpPr txBox="1"/>
          <p:nvPr/>
        </p:nvSpPr>
        <p:spPr>
          <a:xfrm>
            <a:off x="4562855" y="4782312"/>
            <a:ext cx="3200400" cy="612648"/>
          </a:xfrm>
          <a:prstGeom prst="rect">
            <a:avLst/>
          </a:prstGeom>
          <a:noFill/>
        </p:spPr>
        <p:txBody>
          <a:bodyPr wrap="square">
            <a:spAutoFit/>
          </a:bodyPr>
          <a:lstStyle/>
          <a:p>
            <a:r>
              <a:rPr sz="1200">
                <a:solidFill>
                  <a:srgbClr val="2D323A"/>
                </a:solidFill>
                <a:latin typeface="Aptos"/>
              </a:rPr>
              <a:t>Font-family changes the face/type of a font; font-size controls text size.</a:t>
            </a:r>
          </a:p>
        </p:txBody>
      </p:sp>
      <p:sp>
        <p:nvSpPr>
          <p:cNvPr id="37" name="Rounded Rectangle 36"/>
          <p:cNvSpPr/>
          <p:nvPr/>
        </p:nvSpPr>
        <p:spPr>
          <a:xfrm>
            <a:off x="8220456" y="4251960"/>
            <a:ext cx="3520440" cy="1234440"/>
          </a:xfrm>
          <a:prstGeom prst="roundRect">
            <a:avLst/>
          </a:prstGeom>
          <a:solidFill>
            <a:srgbClr val="FFFFFF"/>
          </a:solidFill>
          <a:ln>
            <a:solidFill>
              <a:srgbClr val="E0E6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0456" y="4251960"/>
            <a:ext cx="73152" cy="1234440"/>
          </a:xfrm>
          <a:prstGeom prst="rect">
            <a:avLst/>
          </a:prstGeom>
          <a:solidFill>
            <a:srgbClr val="EC8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21624" y="4370832"/>
            <a:ext cx="3200400" cy="365760"/>
          </a:xfrm>
          <a:prstGeom prst="rect">
            <a:avLst/>
          </a:prstGeom>
          <a:noFill/>
        </p:spPr>
        <p:txBody>
          <a:bodyPr wrap="none">
            <a:spAutoFit/>
          </a:bodyPr>
          <a:lstStyle/>
          <a:p>
            <a:r>
              <a:rPr b="1" sz="1500">
                <a:solidFill>
                  <a:srgbClr val="203048"/>
                </a:solidFill>
                <a:latin typeface="Aptos"/>
              </a:rPr>
              <a:t>09</a:t>
            </a:r>
          </a:p>
        </p:txBody>
      </p:sp>
      <p:sp>
        <p:nvSpPr>
          <p:cNvPr id="40" name="TextBox 39"/>
          <p:cNvSpPr txBox="1"/>
          <p:nvPr/>
        </p:nvSpPr>
        <p:spPr>
          <a:xfrm>
            <a:off x="8421624" y="4782312"/>
            <a:ext cx="3200400" cy="612648"/>
          </a:xfrm>
          <a:prstGeom prst="rect">
            <a:avLst/>
          </a:prstGeom>
          <a:noFill/>
        </p:spPr>
        <p:txBody>
          <a:bodyPr wrap="square">
            <a:spAutoFit/>
          </a:bodyPr>
          <a:lstStyle/>
          <a:p>
            <a:r>
              <a:rPr sz="1200">
                <a:solidFill>
                  <a:srgbClr val="2D323A"/>
                </a:solidFill>
                <a:latin typeface="Aptos"/>
              </a:rPr>
              <a:t>Padding defines the space between an element's border and content.</a:t>
            </a:r>
          </a:p>
        </p:txBody>
      </p:sp>
      <p:sp>
        <p:nvSpPr>
          <p:cNvPr id="41" name="TextBox 40"/>
          <p:cNvSpPr txBox="1"/>
          <p:nvPr/>
        </p:nvSpPr>
        <p:spPr>
          <a:xfrm>
            <a:off x="11201400" y="6473952"/>
            <a:ext cx="502920" cy="228600"/>
          </a:xfrm>
          <a:prstGeom prst="rect">
            <a:avLst/>
          </a:prstGeom>
          <a:noFill/>
        </p:spPr>
        <p:txBody>
          <a:bodyPr wrap="none">
            <a:spAutoFit/>
          </a:bodyPr>
          <a:lstStyle/>
          <a:p>
            <a:pPr algn="r"/>
            <a:r>
              <a:rPr sz="900">
                <a:solidFill>
                  <a:srgbClr val="787D87"/>
                </a:solidFill>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